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95" r:id="rId4"/>
    <p:sldId id="262" r:id="rId5"/>
    <p:sldId id="318" r:id="rId6"/>
    <p:sldId id="263" r:id="rId7"/>
    <p:sldId id="264" r:id="rId8"/>
    <p:sldId id="265" r:id="rId9"/>
    <p:sldId id="296" r:id="rId10"/>
    <p:sldId id="297" r:id="rId11"/>
    <p:sldId id="298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1" r:id="rId23"/>
    <p:sldId id="310" r:id="rId24"/>
    <p:sldId id="313" r:id="rId25"/>
    <p:sldId id="312" r:id="rId26"/>
    <p:sldId id="314" r:id="rId27"/>
    <p:sldId id="315" r:id="rId28"/>
    <p:sldId id="317" r:id="rId29"/>
    <p:sldId id="316" r:id="rId3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76" autoAdjust="0"/>
    <p:restoredTop sz="94660"/>
  </p:normalViewPr>
  <p:slideViewPr>
    <p:cSldViewPr snapToGrid="0">
      <p:cViewPr>
        <p:scale>
          <a:sx n="86" d="100"/>
          <a:sy n="86" d="100"/>
        </p:scale>
        <p:origin x="-174" y="6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2101-3B4D-4A4F-93A4-45C75EF432A9}" type="datetimeFigureOut">
              <a:rPr lang="ru-RU" smtClean="0"/>
              <a:pPr/>
              <a:t>31.08.2026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AB451-9A8B-41B2-B4F2-6C4C59DD9C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263151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2101-3B4D-4A4F-93A4-45C75EF432A9}" type="datetimeFigureOut">
              <a:rPr lang="ru-RU" smtClean="0"/>
              <a:pPr/>
              <a:t>31.08.2026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AB451-9A8B-41B2-B4F2-6C4C59DD9C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093358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2101-3B4D-4A4F-93A4-45C75EF432A9}" type="datetimeFigureOut">
              <a:rPr lang="ru-RU" smtClean="0"/>
              <a:pPr/>
              <a:t>31.08.2026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AB451-9A8B-41B2-B4F2-6C4C59DD9C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795302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2101-3B4D-4A4F-93A4-45C75EF432A9}" type="datetimeFigureOut">
              <a:rPr lang="ru-RU" smtClean="0"/>
              <a:pPr/>
              <a:t>31.08.2026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AB451-9A8B-41B2-B4F2-6C4C59DD9C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951490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2101-3B4D-4A4F-93A4-45C75EF432A9}" type="datetimeFigureOut">
              <a:rPr lang="ru-RU" smtClean="0"/>
              <a:pPr/>
              <a:t>31.08.2026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AB451-9A8B-41B2-B4F2-6C4C59DD9C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722568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2101-3B4D-4A4F-93A4-45C75EF432A9}" type="datetimeFigureOut">
              <a:rPr lang="ru-RU" smtClean="0"/>
              <a:pPr/>
              <a:t>31.08.2026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AB451-9A8B-41B2-B4F2-6C4C59DD9C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551659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2101-3B4D-4A4F-93A4-45C75EF432A9}" type="datetimeFigureOut">
              <a:rPr lang="ru-RU" smtClean="0"/>
              <a:pPr/>
              <a:t>31.08.2026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AB451-9A8B-41B2-B4F2-6C4C59DD9C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976692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2101-3B4D-4A4F-93A4-45C75EF432A9}" type="datetimeFigureOut">
              <a:rPr lang="ru-RU" smtClean="0"/>
              <a:pPr/>
              <a:t>31.08.2026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AB451-9A8B-41B2-B4F2-6C4C59DD9C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846304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2101-3B4D-4A4F-93A4-45C75EF432A9}" type="datetimeFigureOut">
              <a:rPr lang="ru-RU" smtClean="0"/>
              <a:pPr/>
              <a:t>31.08.2026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AB451-9A8B-41B2-B4F2-6C4C59DD9C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144852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2101-3B4D-4A4F-93A4-45C75EF432A9}" type="datetimeFigureOut">
              <a:rPr lang="ru-RU" smtClean="0"/>
              <a:pPr/>
              <a:t>31.08.2026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AB451-9A8B-41B2-B4F2-6C4C59DD9C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238544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2101-3B4D-4A4F-93A4-45C75EF432A9}" type="datetimeFigureOut">
              <a:rPr lang="ru-RU" smtClean="0"/>
              <a:pPr/>
              <a:t>31.08.2026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AB451-9A8B-41B2-B4F2-6C4C59DD9C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660932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522101-3B4D-4A4F-93A4-45C75EF432A9}" type="datetimeFigureOut">
              <a:rPr lang="ru-RU" smtClean="0"/>
              <a:pPr/>
              <a:t>31.08.2026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BAB451-9A8B-41B2-B4F2-6C4C59DD9C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551413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ru/docs/Web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Лабораторная работа 1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Цель работы</a:t>
            </a:r>
          </a:p>
          <a:p>
            <a:r>
              <a:rPr lang="ru-RU" dirty="0"/>
              <a:t>Освоить базовый инструментарий </a:t>
            </a:r>
            <a:r>
              <a:rPr lang="ru-RU" dirty="0" err="1"/>
              <a:t>React</a:t>
            </a:r>
            <a:r>
              <a:rPr lang="ru-RU" dirty="0"/>
              <a:t>-разработчика: создать проект на </a:t>
            </a:r>
            <a:r>
              <a:rPr lang="ru-RU" dirty="0" err="1"/>
              <a:t>Vite</a:t>
            </a:r>
            <a:r>
              <a:rPr lang="ru-RU" dirty="0"/>
              <a:t>, структурировать его с помощью семантической разметки и CSS-модулей, собрать интерфейс из </a:t>
            </a:r>
            <a:r>
              <a:rPr lang="ru-RU" dirty="0" err="1"/>
              <a:t>переиспользуемых</a:t>
            </a:r>
            <a:r>
              <a:rPr lang="ru-RU" dirty="0"/>
              <a:t> JSX-компонентов, подключить данные для карточек статей и сохранить проект в </a:t>
            </a:r>
            <a:r>
              <a:rPr lang="ru-RU" dirty="0" err="1"/>
              <a:t>Git</a:t>
            </a:r>
            <a:endParaRPr lang="ru-RU" dirty="0"/>
          </a:p>
          <a:p>
            <a:pPr lvl="0" algn="l"/>
            <a:endParaRPr lang="ru-RU" sz="2800" dirty="0">
              <a:solidFill>
                <a:prstClr val="black"/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478077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Инструментарий для демонстрации и работы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 smtClean="0"/>
              <a:t>Шаг 1. Установите Node.js</a:t>
            </a:r>
          </a:p>
          <a:p>
            <a:pPr marL="0" indent="0">
              <a:buNone/>
            </a:pPr>
            <a:r>
              <a:rPr lang="ru-RU" dirty="0" smtClean="0"/>
              <a:t>Это основа. Node.js — среда, которая позволяет запускать </a:t>
            </a:r>
            <a:r>
              <a:rPr lang="ru-RU" dirty="0" err="1" smtClean="0"/>
              <a:t>JavaScript</a:t>
            </a:r>
            <a:r>
              <a:rPr lang="ru-RU" dirty="0" smtClean="0"/>
              <a:t>-код вне браузера, а ещё вместе с ней автоматически ставится </a:t>
            </a:r>
            <a:r>
              <a:rPr lang="ru-RU" dirty="0" err="1" smtClean="0"/>
              <a:t>npm</a:t>
            </a:r>
            <a:r>
              <a:rPr lang="ru-RU" dirty="0" smtClean="0"/>
              <a:t> (менеджер пакетов, без него не получится подключить сам </a:t>
            </a:r>
            <a:r>
              <a:rPr lang="ru-RU" dirty="0" err="1" smtClean="0"/>
              <a:t>React</a:t>
            </a:r>
            <a:r>
              <a:rPr lang="ru-RU" dirty="0" smtClean="0"/>
              <a:t> и другие библиотеки). </a:t>
            </a:r>
          </a:p>
          <a:p>
            <a:pPr marL="0" indent="0">
              <a:buNone/>
            </a:pPr>
            <a:r>
              <a:rPr lang="ru-RU" dirty="0" smtClean="0"/>
              <a:t>Перейдите на официальный сайт: nodejs.org. </a:t>
            </a:r>
          </a:p>
          <a:p>
            <a:pPr marL="0" indent="0">
              <a:buNone/>
            </a:pPr>
            <a:r>
              <a:rPr lang="ru-RU" dirty="0" smtClean="0"/>
              <a:t>Выберите и скачайте LTS-версию (</a:t>
            </a:r>
            <a:r>
              <a:rPr lang="ru-RU" dirty="0" err="1" smtClean="0"/>
              <a:t>Long-Term</a:t>
            </a:r>
            <a:r>
              <a:rPr lang="ru-RU" dirty="0" smtClean="0"/>
              <a:t> </a:t>
            </a:r>
            <a:r>
              <a:rPr lang="ru-RU" dirty="0" err="1" smtClean="0"/>
              <a:t>Support</a:t>
            </a:r>
            <a:r>
              <a:rPr lang="ru-RU" dirty="0" smtClean="0"/>
              <a:t>) — она стабильнее, идеально подходит для старта. </a:t>
            </a:r>
          </a:p>
          <a:p>
            <a:pPr marL="0" indent="0">
              <a:buNone/>
            </a:pPr>
            <a:r>
              <a:rPr lang="ru-RU" dirty="0" smtClean="0"/>
              <a:t>Запустите установщик. Обычно он сам добавляет Node.js в системный путь (PATH), но если после установки команды </a:t>
            </a:r>
            <a:r>
              <a:rPr lang="ru-RU" dirty="0" err="1" smtClean="0"/>
              <a:t>node</a:t>
            </a:r>
            <a:r>
              <a:rPr lang="ru-RU" dirty="0" smtClean="0"/>
              <a:t> -v и </a:t>
            </a:r>
            <a:r>
              <a:rPr lang="ru-RU" dirty="0" err="1" smtClean="0"/>
              <a:t>npm</a:t>
            </a:r>
            <a:r>
              <a:rPr lang="ru-RU" dirty="0" smtClean="0"/>
              <a:t> -v в терминале выдадут ошибку «не распознано», возможно, путь нужно задать вручную. 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647000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1. Подготовка инструментов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1.1. Необходимый софт</a:t>
            </a:r>
          </a:p>
          <a:p>
            <a:r>
              <a:rPr lang="ru-RU" dirty="0" smtClean="0"/>
              <a:t>Node.js версии 18+ — скачать с . Проверить установку:</a:t>
            </a:r>
          </a:p>
          <a:p>
            <a:r>
              <a:rPr lang="ru-RU" dirty="0" err="1" smtClean="0"/>
              <a:t>bash</a:t>
            </a:r>
            <a:endParaRPr lang="ru-RU" dirty="0" smtClean="0"/>
          </a:p>
          <a:p>
            <a:r>
              <a:rPr lang="ru-RU" dirty="0" err="1" smtClean="0"/>
              <a:t>node</a:t>
            </a:r>
            <a:r>
              <a:rPr lang="ru-RU" dirty="0" smtClean="0"/>
              <a:t> -v</a:t>
            </a:r>
          </a:p>
          <a:p>
            <a:r>
              <a:rPr lang="ru-RU" dirty="0" err="1" smtClean="0"/>
              <a:t>npm</a:t>
            </a:r>
            <a:r>
              <a:rPr lang="ru-RU" dirty="0" smtClean="0"/>
              <a:t> -v</a:t>
            </a:r>
          </a:p>
          <a:p>
            <a:r>
              <a:rPr lang="ru-RU" dirty="0" smtClean="0"/>
              <a:t>Редактор кода — </a:t>
            </a:r>
            <a:r>
              <a:rPr lang="en-US" dirty="0" smtClean="0"/>
              <a:t>VSC</a:t>
            </a:r>
            <a:endParaRPr lang="ru-RU" dirty="0" smtClean="0"/>
          </a:p>
          <a:p>
            <a:r>
              <a:rPr lang="ru-RU" dirty="0" err="1" smtClean="0"/>
              <a:t>Git</a:t>
            </a:r>
            <a:r>
              <a:rPr lang="ru-RU" dirty="0" smtClean="0"/>
              <a:t> — . Проверить:</a:t>
            </a:r>
          </a:p>
          <a:p>
            <a:r>
              <a:rPr lang="ru-RU" dirty="0" err="1" smtClean="0"/>
              <a:t>bash</a:t>
            </a:r>
            <a:endParaRPr lang="ru-RU" dirty="0" smtClean="0"/>
          </a:p>
          <a:p>
            <a:r>
              <a:rPr lang="ru-RU" dirty="0" err="1" smtClean="0"/>
              <a:t>git</a:t>
            </a:r>
            <a:r>
              <a:rPr lang="ru-RU" dirty="0" smtClean="0"/>
              <a:t> --</a:t>
            </a:r>
            <a:r>
              <a:rPr lang="ru-RU" dirty="0" err="1" smtClean="0"/>
              <a:t>version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384761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Шаг 2. Выберите инструмент для создания проекта</a:t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 smtClean="0"/>
              <a:t>Теперь нужно «собрать» каркас будущего приложения. Есть два основных пути. </a:t>
            </a:r>
          </a:p>
          <a:p>
            <a:pPr marL="0" indent="0">
              <a:buNone/>
            </a:pPr>
            <a:r>
              <a:rPr lang="ru-RU" dirty="0"/>
              <a:t>Д</a:t>
            </a:r>
            <a:r>
              <a:rPr lang="ru-RU" dirty="0" smtClean="0"/>
              <a:t>ля новичка </a:t>
            </a:r>
            <a:r>
              <a:rPr lang="en-US" dirty="0" err="1" smtClean="0"/>
              <a:t>Vite</a:t>
            </a:r>
            <a:r>
              <a:rPr lang="en-US" dirty="0" smtClean="0"/>
              <a:t> — </a:t>
            </a:r>
            <a:r>
              <a:rPr lang="ru-RU" dirty="0" smtClean="0"/>
              <a:t>он современнее, работает быстрее. </a:t>
            </a:r>
          </a:p>
          <a:p>
            <a:pPr marL="0" indent="0">
              <a:buNone/>
            </a:pPr>
            <a:r>
              <a:rPr lang="en-US" dirty="0" smtClean="0"/>
              <a:t>Create React App (CRA) </a:t>
            </a:r>
            <a:r>
              <a:rPr lang="ru-RU" dirty="0" smtClean="0"/>
              <a:t>тоже работает, но </a:t>
            </a:r>
            <a:r>
              <a:rPr lang="en-US" dirty="0" smtClean="0"/>
              <a:t>React-</a:t>
            </a:r>
            <a:r>
              <a:rPr lang="ru-RU" dirty="0" smtClean="0"/>
              <a:t>команда сейчас активнее продвигает </a:t>
            </a:r>
            <a:r>
              <a:rPr lang="en-US" dirty="0" err="1" smtClean="0"/>
              <a:t>Vite</a:t>
            </a:r>
            <a:r>
              <a:rPr lang="en-US" dirty="0" smtClean="0"/>
              <a:t>. </a:t>
            </a:r>
          </a:p>
          <a:p>
            <a:pPr marL="0" indent="0">
              <a:buNone/>
            </a:pPr>
            <a:r>
              <a:rPr lang="ru-RU" b="1" dirty="0" smtClean="0"/>
              <a:t>Вариант </a:t>
            </a:r>
            <a:r>
              <a:rPr lang="en-US" b="1" dirty="0" smtClean="0"/>
              <a:t>A: </a:t>
            </a:r>
            <a:r>
              <a:rPr lang="en-US" dirty="0" err="1" smtClean="0"/>
              <a:t>Vite</a:t>
            </a:r>
            <a:r>
              <a:rPr lang="en-US" dirty="0" smtClean="0"/>
              <a:t> </a:t>
            </a:r>
            <a:r>
              <a:rPr lang="ru-RU" dirty="0" smtClean="0"/>
              <a:t>В терминале выполните:</a:t>
            </a:r>
          </a:p>
          <a:p>
            <a:r>
              <a:rPr lang="en-US" dirty="0" err="1" smtClean="0"/>
              <a:t>npm</a:t>
            </a:r>
            <a:r>
              <a:rPr lang="en-US" dirty="0" smtClean="0"/>
              <a:t> create </a:t>
            </a:r>
            <a:r>
              <a:rPr lang="en-US" dirty="0" err="1" smtClean="0"/>
              <a:t>vite@latest</a:t>
            </a:r>
            <a:r>
              <a:rPr lang="en-US" dirty="0" smtClean="0"/>
              <a:t> my-grid -- --template react</a:t>
            </a:r>
            <a:endParaRPr lang="ru-RU" dirty="0" smtClean="0"/>
          </a:p>
          <a:p>
            <a:r>
              <a:rPr lang="ru-RU" dirty="0" smtClean="0"/>
              <a:t>Замените </a:t>
            </a:r>
            <a:r>
              <a:rPr lang="en-US" dirty="0" smtClean="0"/>
              <a:t>my-react-app </a:t>
            </a:r>
            <a:r>
              <a:rPr lang="ru-RU" dirty="0" smtClean="0"/>
              <a:t>на имя вашего проекта (лучше в нижнем регистре).</a:t>
            </a:r>
          </a:p>
          <a:p>
            <a:r>
              <a:rPr lang="ru-RU" dirty="0" smtClean="0"/>
              <a:t> После этого вас попросят выбрать язык (</a:t>
            </a:r>
            <a:r>
              <a:rPr lang="en-US" dirty="0" smtClean="0"/>
              <a:t>JavaScript </a:t>
            </a:r>
            <a:r>
              <a:rPr lang="ru-RU" dirty="0" smtClean="0"/>
              <a:t>или </a:t>
            </a:r>
            <a:r>
              <a:rPr lang="en-US" dirty="0" err="1" smtClean="0"/>
              <a:t>TypeScript</a:t>
            </a:r>
            <a:r>
              <a:rPr lang="en-US" dirty="0" smtClean="0"/>
              <a:t>) — </a:t>
            </a:r>
            <a:r>
              <a:rPr lang="ru-RU" dirty="0" smtClean="0"/>
              <a:t>выберите подходящий. </a:t>
            </a:r>
          </a:p>
          <a:p>
            <a:pPr marL="0" indent="0">
              <a:buNone/>
            </a:pPr>
            <a:r>
              <a:rPr lang="ru-RU" b="1" dirty="0" smtClean="0"/>
              <a:t>Вариант </a:t>
            </a:r>
            <a:r>
              <a:rPr lang="en-US" b="1" dirty="0" smtClean="0"/>
              <a:t>B</a:t>
            </a:r>
            <a:r>
              <a:rPr lang="en-US" dirty="0" smtClean="0"/>
              <a:t>: Create React App</a:t>
            </a:r>
          </a:p>
          <a:p>
            <a:r>
              <a:rPr lang="en-US" dirty="0" err="1" smtClean="0"/>
              <a:t>npx</a:t>
            </a:r>
            <a:r>
              <a:rPr lang="en-US" dirty="0" smtClean="0"/>
              <a:t> create-react-app my-react-app</a:t>
            </a:r>
          </a:p>
          <a:p>
            <a:r>
              <a:rPr lang="ru-RU" dirty="0" smtClean="0"/>
              <a:t>Тоже замените имя проекта. </a:t>
            </a:r>
          </a:p>
        </p:txBody>
      </p:sp>
    </p:spTree>
    <p:extLst>
      <p:ext uri="{BB962C8B-B14F-4D97-AF65-F5344CB8AC3E}">
        <p14:creationId xmlns="" xmlns:p14="http://schemas.microsoft.com/office/powerpoint/2010/main" val="1359672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Пояснение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38199" y="1825625"/>
            <a:ext cx="10758055" cy="4602884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dirty="0" smtClean="0"/>
              <a:t>Конструкция -- --</a:t>
            </a:r>
            <a:r>
              <a:rPr lang="ru-RU" dirty="0" err="1" smtClean="0"/>
              <a:t>template</a:t>
            </a:r>
            <a:r>
              <a:rPr lang="ru-RU" dirty="0" smtClean="0"/>
              <a:t> </a:t>
            </a:r>
            <a:r>
              <a:rPr lang="ru-RU" dirty="0" err="1" smtClean="0"/>
              <a:t>react</a:t>
            </a:r>
            <a:r>
              <a:rPr lang="ru-RU" dirty="0" smtClean="0"/>
              <a:t> нужна, чтобы отделить аргументы самой команды </a:t>
            </a:r>
            <a:r>
              <a:rPr lang="ru-RU" dirty="0" err="1" smtClean="0"/>
              <a:t>create</a:t>
            </a:r>
            <a:r>
              <a:rPr lang="ru-RU" dirty="0" smtClean="0"/>
              <a:t> </a:t>
            </a:r>
            <a:r>
              <a:rPr lang="ru-RU" dirty="0" err="1" smtClean="0"/>
              <a:t>vite</a:t>
            </a:r>
            <a:r>
              <a:rPr lang="ru-RU" dirty="0" smtClean="0"/>
              <a:t> от аргументов, которые передаются внутрь шаблона.</a:t>
            </a:r>
          </a:p>
          <a:p>
            <a:pPr>
              <a:buNone/>
            </a:pPr>
            <a:r>
              <a:rPr lang="ru-RU" b="1" dirty="0" smtClean="0"/>
              <a:t>Как это работает</a:t>
            </a:r>
          </a:p>
          <a:p>
            <a:pPr>
              <a:buNone/>
            </a:pPr>
            <a:r>
              <a:rPr lang="ru-RU" dirty="0" err="1" smtClean="0"/>
              <a:t>npm</a:t>
            </a:r>
            <a:r>
              <a:rPr lang="ru-RU" dirty="0" smtClean="0"/>
              <a:t> </a:t>
            </a:r>
            <a:r>
              <a:rPr lang="ru-RU" dirty="0" err="1" smtClean="0"/>
              <a:t>create</a:t>
            </a:r>
            <a:r>
              <a:rPr lang="ru-RU" dirty="0" smtClean="0"/>
              <a:t> </a:t>
            </a:r>
            <a:r>
              <a:rPr lang="ru-RU" dirty="0" err="1" smtClean="0"/>
              <a:t>vite@latest</a:t>
            </a:r>
            <a:r>
              <a:rPr lang="ru-RU" dirty="0" smtClean="0"/>
              <a:t> </a:t>
            </a:r>
            <a:r>
              <a:rPr lang="ru-RU" dirty="0" err="1" smtClean="0"/>
              <a:t>my-grid</a:t>
            </a:r>
            <a:r>
              <a:rPr lang="ru-RU" dirty="0" smtClean="0"/>
              <a:t> — это сама команда создания проекта: мы говорим «создай проект </a:t>
            </a:r>
            <a:r>
              <a:rPr lang="ru-RU" dirty="0" err="1" smtClean="0"/>
              <a:t>Vite</a:t>
            </a:r>
            <a:r>
              <a:rPr lang="ru-RU" dirty="0" smtClean="0"/>
              <a:t> с именем </a:t>
            </a:r>
            <a:r>
              <a:rPr lang="ru-RU" dirty="0" err="1" smtClean="0"/>
              <a:t>my-grid</a:t>
            </a:r>
            <a:r>
              <a:rPr lang="ru-RU" dirty="0" smtClean="0"/>
              <a:t>».</a:t>
            </a:r>
          </a:p>
          <a:p>
            <a:pPr>
              <a:buNone/>
            </a:pPr>
            <a:r>
              <a:rPr lang="ru-RU" dirty="0" smtClean="0"/>
              <a:t>-- (двойное тире) — это специальный разделитель (он есть во многих CLI‑утилитах). </a:t>
            </a:r>
          </a:p>
          <a:p>
            <a:pPr>
              <a:buNone/>
            </a:pPr>
            <a:r>
              <a:rPr lang="ru-RU" dirty="0" smtClean="0"/>
              <a:t>Он означает: «всё, что идёт после этого, не для меня (не для команды </a:t>
            </a:r>
            <a:r>
              <a:rPr lang="ru-RU" dirty="0" err="1" smtClean="0"/>
              <a:t>create</a:t>
            </a:r>
            <a:r>
              <a:rPr lang="ru-RU" dirty="0" smtClean="0"/>
              <a:t>), а для того, что я запускаю внутри».</a:t>
            </a:r>
          </a:p>
          <a:p>
            <a:pPr>
              <a:buNone/>
            </a:pPr>
            <a:r>
              <a:rPr lang="ru-RU" dirty="0" smtClean="0"/>
              <a:t>--</a:t>
            </a:r>
            <a:r>
              <a:rPr lang="ru-RU" dirty="0" err="1" smtClean="0"/>
              <a:t>template</a:t>
            </a:r>
            <a:r>
              <a:rPr lang="ru-RU" dirty="0" smtClean="0"/>
              <a:t> </a:t>
            </a:r>
            <a:r>
              <a:rPr lang="ru-RU" dirty="0" err="1" smtClean="0"/>
              <a:t>react</a:t>
            </a:r>
            <a:r>
              <a:rPr lang="ru-RU" dirty="0" smtClean="0"/>
              <a:t> — это уже аргумент для внутреннего </a:t>
            </a:r>
            <a:r>
              <a:rPr lang="ru-RU" dirty="0" err="1" smtClean="0"/>
              <a:t>скрипта</a:t>
            </a:r>
            <a:r>
              <a:rPr lang="ru-RU" dirty="0" smtClean="0"/>
              <a:t> </a:t>
            </a:r>
            <a:r>
              <a:rPr lang="ru-RU" dirty="0" err="1" smtClean="0"/>
              <a:t>Vite</a:t>
            </a:r>
            <a:r>
              <a:rPr lang="ru-RU" dirty="0" smtClean="0"/>
              <a:t>: «используй шаблон </a:t>
            </a:r>
            <a:r>
              <a:rPr lang="ru-RU" dirty="0" err="1" smtClean="0"/>
              <a:t>React</a:t>
            </a:r>
            <a:r>
              <a:rPr lang="ru-RU" dirty="0" smtClean="0"/>
              <a:t>».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Шаг 3. Установите зависимости и запустите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 smtClean="0"/>
              <a:t>После создания проекта перейдите в его папку в терминале:</a:t>
            </a:r>
          </a:p>
          <a:p>
            <a:r>
              <a:rPr lang="en-US" dirty="0" smtClean="0"/>
              <a:t>cd my-react-app</a:t>
            </a:r>
          </a:p>
          <a:p>
            <a:r>
              <a:rPr lang="ru-RU" dirty="0" smtClean="0"/>
              <a:t>Затем выполните:</a:t>
            </a:r>
          </a:p>
          <a:p>
            <a:r>
              <a:rPr lang="en-US" dirty="0" err="1" smtClean="0"/>
              <a:t>npm</a:t>
            </a:r>
            <a:r>
              <a:rPr lang="en-US" dirty="0" smtClean="0"/>
              <a:t> install</a:t>
            </a:r>
          </a:p>
          <a:p>
            <a:r>
              <a:rPr lang="ru-RU" dirty="0" smtClean="0"/>
              <a:t>Это скачает все нужные библиотеки. </a:t>
            </a:r>
          </a:p>
          <a:p>
            <a:pPr marL="0" indent="0">
              <a:buNone/>
            </a:pPr>
            <a:r>
              <a:rPr lang="ru-RU" dirty="0" smtClean="0"/>
              <a:t>И наконец, запустите сервер разработки:</a:t>
            </a:r>
          </a:p>
          <a:p>
            <a:r>
              <a:rPr lang="ru-RU" dirty="0" smtClean="0"/>
              <a:t>Для </a:t>
            </a:r>
            <a:r>
              <a:rPr lang="en-US" dirty="0" err="1" smtClean="0"/>
              <a:t>Vite</a:t>
            </a:r>
            <a:r>
              <a:rPr lang="en-US" dirty="0" smtClean="0"/>
              <a:t>: </a:t>
            </a:r>
            <a:r>
              <a:rPr lang="en-US" dirty="0" err="1" smtClean="0"/>
              <a:t>npm</a:t>
            </a:r>
            <a:r>
              <a:rPr lang="en-US" dirty="0" smtClean="0"/>
              <a:t> run dev</a:t>
            </a:r>
          </a:p>
          <a:p>
            <a:r>
              <a:rPr lang="ru-RU" dirty="0" smtClean="0"/>
              <a:t>Для </a:t>
            </a:r>
            <a:r>
              <a:rPr lang="en-US" dirty="0" smtClean="0"/>
              <a:t>CRA: </a:t>
            </a:r>
            <a:r>
              <a:rPr lang="en-US" dirty="0" err="1" smtClean="0"/>
              <a:t>npm</a:t>
            </a:r>
            <a:r>
              <a:rPr lang="en-US" dirty="0" smtClean="0"/>
              <a:t> start</a:t>
            </a:r>
          </a:p>
          <a:p>
            <a:r>
              <a:rPr lang="ru-RU" dirty="0" smtClean="0"/>
              <a:t>Откройте в браузере </a:t>
            </a:r>
            <a:r>
              <a:rPr lang="en-US" dirty="0" smtClean="0"/>
              <a:t>http://localhost:3000 (</a:t>
            </a:r>
            <a:r>
              <a:rPr lang="ru-RU" dirty="0" smtClean="0"/>
              <a:t>для </a:t>
            </a:r>
            <a:r>
              <a:rPr lang="en-US" dirty="0" smtClean="0"/>
              <a:t>CRA) </a:t>
            </a:r>
            <a:r>
              <a:rPr lang="ru-RU" dirty="0" smtClean="0"/>
              <a:t>или </a:t>
            </a:r>
            <a:r>
              <a:rPr lang="en-US" dirty="0" smtClean="0"/>
              <a:t>http://localhost:5173 (</a:t>
            </a:r>
            <a:r>
              <a:rPr lang="ru-RU" dirty="0" smtClean="0"/>
              <a:t>для </a:t>
            </a:r>
            <a:r>
              <a:rPr lang="en-US" dirty="0" err="1" smtClean="0"/>
              <a:t>Vite</a:t>
            </a:r>
            <a:r>
              <a:rPr lang="en-US" dirty="0" smtClean="0"/>
              <a:t>) — </a:t>
            </a:r>
            <a:r>
              <a:rPr lang="ru-RU" dirty="0" smtClean="0"/>
              <a:t>вы увидите заготовку вашего </a:t>
            </a:r>
            <a:r>
              <a:rPr lang="en-US" dirty="0" smtClean="0"/>
              <a:t>React-</a:t>
            </a:r>
            <a:r>
              <a:rPr lang="ru-RU" dirty="0" smtClean="0"/>
              <a:t>приложения. </a:t>
            </a:r>
          </a:p>
        </p:txBody>
      </p:sp>
    </p:spTree>
    <p:extLst>
      <p:ext uri="{BB962C8B-B14F-4D97-AF65-F5344CB8AC3E}">
        <p14:creationId xmlns="" xmlns:p14="http://schemas.microsoft.com/office/powerpoint/2010/main" val="2018739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Шаг 4. Откройте проект в редакторе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 smtClean="0"/>
              <a:t>Чтобы писать код, откройте папку проекта в удобном редакторе. </a:t>
            </a:r>
          </a:p>
          <a:p>
            <a:pPr marL="0" indent="0">
              <a:buNone/>
            </a:pPr>
            <a:r>
              <a:rPr lang="ru-RU" dirty="0" smtClean="0"/>
              <a:t>Редактор </a:t>
            </a:r>
            <a:r>
              <a:rPr lang="ru-RU" dirty="0" err="1" smtClean="0"/>
              <a:t>Visual</a:t>
            </a:r>
            <a:r>
              <a:rPr lang="ru-RU" dirty="0" smtClean="0"/>
              <a:t> </a:t>
            </a:r>
            <a:r>
              <a:rPr lang="ru-RU" dirty="0" err="1" smtClean="0"/>
              <a:t>Studio</a:t>
            </a:r>
            <a:r>
              <a:rPr lang="ru-RU" dirty="0" smtClean="0"/>
              <a:t> </a:t>
            </a:r>
            <a:r>
              <a:rPr lang="ru-RU" dirty="0" err="1" smtClean="0"/>
              <a:t>Code</a:t>
            </a:r>
            <a:r>
              <a:rPr lang="ru-RU" dirty="0" smtClean="0"/>
              <a:t> — у него отличная встроенная поддержка </a:t>
            </a:r>
            <a:r>
              <a:rPr lang="ru-RU" dirty="0" err="1" smtClean="0"/>
              <a:t>React</a:t>
            </a:r>
            <a:r>
              <a:rPr lang="ru-RU" dirty="0" smtClean="0"/>
              <a:t> (подсветка синтаксиса, </a:t>
            </a:r>
            <a:r>
              <a:rPr lang="ru-RU" dirty="0" err="1" smtClean="0"/>
              <a:t>автодополнение</a:t>
            </a:r>
            <a:r>
              <a:rPr lang="ru-RU" dirty="0" smtClean="0"/>
              <a:t>, расширения для отладки). </a:t>
            </a:r>
          </a:p>
          <a:p>
            <a:pPr marL="0" indent="0">
              <a:buNone/>
            </a:pPr>
            <a:r>
              <a:rPr lang="ru-RU" dirty="0" smtClean="0"/>
              <a:t>Несколько советов, чтобы избежать </a:t>
            </a:r>
            <a:r>
              <a:rPr lang="ru-RU" dirty="0" err="1" smtClean="0"/>
              <a:t>затыков</a:t>
            </a:r>
            <a:endParaRPr lang="ru-RU" dirty="0" smtClean="0"/>
          </a:p>
          <a:p>
            <a:pPr marL="0" indent="0">
              <a:buNone/>
            </a:pPr>
            <a:r>
              <a:rPr lang="ru-RU" b="1" dirty="0" smtClean="0"/>
              <a:t>Права доступа</a:t>
            </a:r>
            <a:r>
              <a:rPr lang="ru-RU" dirty="0" smtClean="0"/>
              <a:t>. Если при </a:t>
            </a:r>
            <a:r>
              <a:rPr lang="ru-RU" dirty="0" err="1" smtClean="0"/>
              <a:t>npm</a:t>
            </a:r>
            <a:r>
              <a:rPr lang="ru-RU" dirty="0" smtClean="0"/>
              <a:t> </a:t>
            </a:r>
            <a:r>
              <a:rPr lang="ru-RU" dirty="0" err="1" smtClean="0"/>
              <a:t>install</a:t>
            </a:r>
            <a:r>
              <a:rPr lang="ru-RU" dirty="0" smtClean="0"/>
              <a:t> выскочит ошибка прав, попробуйте запустить терминал от имени администратора или создайте проект в папке, куда у вас точно есть права на запись (не в </a:t>
            </a:r>
            <a:r>
              <a:rPr lang="ru-RU" dirty="0" err="1" smtClean="0"/>
              <a:t>Program</a:t>
            </a:r>
            <a:r>
              <a:rPr lang="ru-RU" dirty="0" smtClean="0"/>
              <a:t> </a:t>
            </a:r>
            <a:r>
              <a:rPr lang="ru-RU" dirty="0" err="1" smtClean="0"/>
              <a:t>Files</a:t>
            </a:r>
            <a:r>
              <a:rPr lang="ru-RU" dirty="0" smtClean="0"/>
              <a:t>). </a:t>
            </a:r>
          </a:p>
          <a:p>
            <a:pPr marL="0" indent="0">
              <a:buNone/>
            </a:pPr>
            <a:r>
              <a:rPr lang="ru-RU" b="1" dirty="0" smtClean="0"/>
              <a:t>Интернет. </a:t>
            </a:r>
            <a:r>
              <a:rPr lang="ru-RU" dirty="0" smtClean="0"/>
              <a:t>Для скачивания зависимостей и самого инструмента потребуется подключение к сети. </a:t>
            </a:r>
          </a:p>
          <a:p>
            <a:pPr marL="0" indent="0">
              <a:buNone/>
            </a:pPr>
            <a:r>
              <a:rPr lang="ru-RU" b="1" dirty="0" err="1" smtClean="0"/>
              <a:t>TypeScript</a:t>
            </a:r>
            <a:r>
              <a:rPr lang="ru-RU" b="1" dirty="0" smtClean="0"/>
              <a:t>. </a:t>
            </a:r>
            <a:r>
              <a:rPr lang="ru-RU" dirty="0" smtClean="0"/>
              <a:t>Если планируете писать более строгий код, при создании проекта через </a:t>
            </a:r>
            <a:r>
              <a:rPr lang="ru-RU" dirty="0" err="1" smtClean="0"/>
              <a:t>Vite</a:t>
            </a:r>
            <a:r>
              <a:rPr lang="ru-RU" dirty="0" smtClean="0"/>
              <a:t> сразу выберите </a:t>
            </a:r>
            <a:r>
              <a:rPr lang="ru-RU" dirty="0" err="1" smtClean="0"/>
              <a:t>TypeScript</a:t>
            </a:r>
            <a:r>
              <a:rPr lang="ru-RU" dirty="0" smtClean="0"/>
              <a:t> — тогда все файлы будут с расширением .</a:t>
            </a:r>
            <a:r>
              <a:rPr lang="ru-RU" dirty="0" err="1" smtClean="0"/>
              <a:t>tsx</a:t>
            </a:r>
            <a:r>
              <a:rPr lang="ru-RU" dirty="0" smtClean="0"/>
              <a:t>. </a:t>
            </a:r>
          </a:p>
          <a:p>
            <a:pPr marL="0" indent="0">
              <a:buNone/>
            </a:pPr>
            <a:r>
              <a:rPr lang="ru-RU" dirty="0" smtClean="0"/>
              <a:t>😊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4005998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Запускаем </a:t>
            </a:r>
            <a:r>
              <a:rPr lang="ru-RU" dirty="0" err="1" smtClean="0"/>
              <a:t>React</a:t>
            </a:r>
            <a:r>
              <a:rPr lang="ru-RU" dirty="0" smtClean="0"/>
              <a:t> и смотрим, как это устроено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3339" y="1825624"/>
            <a:ext cx="10850461" cy="503237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 smtClean="0"/>
              <a:t>Цель: создать проект, запустить его, открыть в VS </a:t>
            </a:r>
            <a:r>
              <a:rPr lang="ru-RU" dirty="0" err="1" smtClean="0"/>
              <a:t>Code</a:t>
            </a:r>
            <a:r>
              <a:rPr lang="ru-RU" dirty="0" smtClean="0"/>
              <a:t> и сделать первый «</a:t>
            </a:r>
            <a:r>
              <a:rPr lang="ru-RU" dirty="0" err="1" smtClean="0"/>
              <a:t>Hello</a:t>
            </a:r>
            <a:r>
              <a:rPr lang="ru-RU" dirty="0" smtClean="0"/>
              <a:t> </a:t>
            </a:r>
            <a:r>
              <a:rPr lang="ru-RU" dirty="0" err="1" smtClean="0"/>
              <a:t>World</a:t>
            </a:r>
            <a:r>
              <a:rPr lang="ru-RU" dirty="0" smtClean="0"/>
              <a:t>».</a:t>
            </a:r>
          </a:p>
          <a:p>
            <a:pPr marL="0" indent="0">
              <a:buNone/>
            </a:pPr>
            <a:r>
              <a:rPr lang="ru-RU" dirty="0" smtClean="0"/>
              <a:t>3.	Открыть папку в VS </a:t>
            </a:r>
            <a:r>
              <a:rPr lang="ru-RU" dirty="0" err="1" smtClean="0"/>
              <a:t>Code</a:t>
            </a:r>
            <a:r>
              <a:rPr lang="ru-RU" dirty="0" smtClean="0"/>
              <a:t> (</a:t>
            </a:r>
            <a:r>
              <a:rPr lang="ru-RU" dirty="0" err="1" smtClean="0"/>
              <a:t>code</a:t>
            </a:r>
            <a:r>
              <a:rPr lang="ru-RU" dirty="0" smtClean="0"/>
              <a:t> .)</a:t>
            </a:r>
          </a:p>
          <a:p>
            <a:pPr marL="0" indent="0">
              <a:buNone/>
            </a:pPr>
            <a:r>
              <a:rPr lang="ru-RU" dirty="0" smtClean="0"/>
              <a:t>4.	Найти </a:t>
            </a:r>
            <a:r>
              <a:rPr lang="ru-RU" dirty="0" err="1" smtClean="0"/>
              <a:t>src</a:t>
            </a:r>
            <a:r>
              <a:rPr lang="ru-RU" dirty="0" smtClean="0"/>
              <a:t>/</a:t>
            </a:r>
            <a:r>
              <a:rPr lang="ru-RU" dirty="0" err="1" smtClean="0"/>
              <a:t>App.jsx</a:t>
            </a:r>
            <a:r>
              <a:rPr lang="ru-RU" dirty="0" smtClean="0"/>
              <a:t> и поменять текст.</a:t>
            </a:r>
          </a:p>
          <a:p>
            <a:pPr marL="0" indent="0">
              <a:buNone/>
            </a:pPr>
            <a:r>
              <a:rPr lang="ru-RU" dirty="0" smtClean="0"/>
              <a:t>Простыми словами:</a:t>
            </a:r>
          </a:p>
          <a:p>
            <a:pPr marL="0" indent="0">
              <a:buNone/>
            </a:pPr>
            <a:r>
              <a:rPr lang="ru-RU" dirty="0" smtClean="0"/>
              <a:t>•	«</a:t>
            </a:r>
            <a:r>
              <a:rPr lang="ru-RU" dirty="0" err="1" smtClean="0"/>
              <a:t>Vite</a:t>
            </a:r>
            <a:r>
              <a:rPr lang="ru-RU" dirty="0" smtClean="0"/>
              <a:t> собирает проект и отдаёт его в браузер. </a:t>
            </a:r>
            <a:r>
              <a:rPr lang="ru-RU" dirty="0" err="1" smtClean="0"/>
              <a:t>npm</a:t>
            </a:r>
            <a:r>
              <a:rPr lang="ru-RU" dirty="0" smtClean="0"/>
              <a:t> </a:t>
            </a:r>
            <a:r>
              <a:rPr lang="ru-RU" dirty="0" err="1" smtClean="0"/>
              <a:t>run</a:t>
            </a:r>
            <a:r>
              <a:rPr lang="ru-RU" dirty="0" smtClean="0"/>
              <a:t> </a:t>
            </a:r>
            <a:r>
              <a:rPr lang="ru-RU" dirty="0" err="1" smtClean="0"/>
              <a:t>dev</a:t>
            </a:r>
            <a:r>
              <a:rPr lang="ru-RU" dirty="0" smtClean="0"/>
              <a:t> — это команда, которая запускает сервер разработки.»</a:t>
            </a:r>
          </a:p>
          <a:p>
            <a:pPr marL="0" indent="0">
              <a:buNone/>
            </a:pPr>
            <a:r>
              <a:rPr lang="ru-RU" dirty="0" smtClean="0"/>
              <a:t>•	«В VS </a:t>
            </a:r>
            <a:r>
              <a:rPr lang="ru-RU" dirty="0" err="1" smtClean="0"/>
              <a:t>Code</a:t>
            </a:r>
            <a:r>
              <a:rPr lang="ru-RU" dirty="0" smtClean="0"/>
              <a:t> мы редактируем файлы, а браузер обновляется автоматически (HMR).»</a:t>
            </a:r>
          </a:p>
          <a:p>
            <a:pPr marL="0" indent="0">
              <a:buNone/>
            </a:pPr>
            <a:r>
              <a:rPr lang="ru-RU" dirty="0" smtClean="0"/>
              <a:t>•	«JSX — это HTML внутри </a:t>
            </a:r>
            <a:r>
              <a:rPr lang="ru-RU" dirty="0" err="1" smtClean="0"/>
              <a:t>JavaScript</a:t>
            </a:r>
            <a:r>
              <a:rPr lang="ru-RU" dirty="0" smtClean="0"/>
              <a:t>. Пока не нужно понимать, как это работает под капотом.»</a:t>
            </a:r>
          </a:p>
          <a:p>
            <a:pPr marL="0" indent="0">
              <a:buNone/>
            </a:pPr>
            <a:r>
              <a:rPr lang="ru-RU" dirty="0" smtClean="0"/>
              <a:t>Задание:</a:t>
            </a:r>
          </a:p>
          <a:p>
            <a:pPr marL="0" indent="0">
              <a:buNone/>
            </a:pPr>
            <a:r>
              <a:rPr lang="ru-RU" dirty="0" smtClean="0"/>
              <a:t>«Создайте проект на </a:t>
            </a:r>
            <a:r>
              <a:rPr lang="ru-RU" dirty="0" err="1" smtClean="0"/>
              <a:t>Vite</a:t>
            </a:r>
            <a:r>
              <a:rPr lang="ru-RU" dirty="0" smtClean="0"/>
              <a:t> + </a:t>
            </a:r>
            <a:r>
              <a:rPr lang="ru-RU" dirty="0" err="1" smtClean="0"/>
              <a:t>React</a:t>
            </a:r>
            <a:r>
              <a:rPr lang="ru-RU" dirty="0" smtClean="0"/>
              <a:t>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138442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2. Структура проекта и очистка шаблона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dirty="0" smtClean="0"/>
              <a:t>2.1. Что генерирует </a:t>
            </a:r>
            <a:r>
              <a:rPr lang="en-US" dirty="0" err="1" smtClean="0"/>
              <a:t>Vite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my-first-react-app/</a:t>
            </a:r>
          </a:p>
          <a:p>
            <a:pPr marL="0" indent="0">
              <a:buNone/>
            </a:pPr>
            <a:r>
              <a:rPr lang="en-US" dirty="0" smtClean="0"/>
              <a:t>├── index.html          ← HTML-</a:t>
            </a:r>
            <a:r>
              <a:rPr lang="ru-RU" dirty="0" smtClean="0"/>
              <a:t>точка входа</a:t>
            </a:r>
          </a:p>
          <a:p>
            <a:pPr marL="0" indent="0">
              <a:buNone/>
            </a:pPr>
            <a:r>
              <a:rPr lang="ru-RU" dirty="0" smtClean="0"/>
              <a:t>├── </a:t>
            </a:r>
            <a:r>
              <a:rPr lang="en-US" dirty="0" err="1" smtClean="0"/>
              <a:t>package.json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├── vite.config.js</a:t>
            </a:r>
          </a:p>
          <a:p>
            <a:pPr marL="0" indent="0">
              <a:buNone/>
            </a:pPr>
            <a:r>
              <a:rPr lang="en-US" dirty="0" smtClean="0"/>
              <a:t>├── public/</a:t>
            </a:r>
          </a:p>
          <a:p>
            <a:pPr marL="0" indent="0">
              <a:buNone/>
            </a:pPr>
            <a:r>
              <a:rPr lang="en-US" dirty="0" smtClean="0"/>
              <a:t>│   └── </a:t>
            </a:r>
            <a:r>
              <a:rPr lang="en-US" dirty="0" err="1" smtClean="0"/>
              <a:t>vite.svg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└── </a:t>
            </a:r>
            <a:r>
              <a:rPr lang="en-US" dirty="0" err="1" smtClean="0"/>
              <a:t>src</a:t>
            </a:r>
            <a:r>
              <a:rPr lang="en-US" dirty="0" smtClean="0"/>
              <a:t>/</a:t>
            </a:r>
          </a:p>
          <a:p>
            <a:pPr marL="0" indent="0">
              <a:buNone/>
            </a:pPr>
            <a:r>
              <a:rPr lang="en-US" dirty="0" smtClean="0"/>
              <a:t>    ├── </a:t>
            </a:r>
            <a:r>
              <a:rPr lang="en-US" dirty="0" err="1" smtClean="0"/>
              <a:t>main.jsx</a:t>
            </a:r>
            <a:r>
              <a:rPr lang="en-US" dirty="0" smtClean="0"/>
              <a:t>        ← </a:t>
            </a:r>
            <a:r>
              <a:rPr lang="ru-RU" dirty="0" smtClean="0"/>
              <a:t>точка входа </a:t>
            </a:r>
            <a:r>
              <a:rPr lang="en-US" dirty="0" smtClean="0"/>
              <a:t>React</a:t>
            </a:r>
          </a:p>
          <a:p>
            <a:pPr marL="0" indent="0">
              <a:buNone/>
            </a:pPr>
            <a:r>
              <a:rPr lang="en-US" dirty="0" smtClean="0"/>
              <a:t>    ├── </a:t>
            </a:r>
            <a:r>
              <a:rPr lang="en-US" dirty="0" err="1" smtClean="0"/>
              <a:t>App.jsx</a:t>
            </a:r>
            <a:r>
              <a:rPr lang="en-US" dirty="0" smtClean="0"/>
              <a:t>         ← </a:t>
            </a:r>
            <a:r>
              <a:rPr lang="ru-RU" dirty="0" smtClean="0"/>
              <a:t>корневой компонент</a:t>
            </a:r>
          </a:p>
          <a:p>
            <a:pPr marL="0" indent="0">
              <a:buNone/>
            </a:pPr>
            <a:r>
              <a:rPr lang="ru-RU" dirty="0" smtClean="0"/>
              <a:t>    ├── </a:t>
            </a:r>
            <a:r>
              <a:rPr lang="en-US" dirty="0" smtClean="0"/>
              <a:t>App.css         ← </a:t>
            </a:r>
            <a:r>
              <a:rPr lang="ru-RU" dirty="0" smtClean="0"/>
              <a:t>стили </a:t>
            </a:r>
            <a:r>
              <a:rPr lang="en-US" dirty="0" smtClean="0"/>
              <a:t>App (</a:t>
            </a:r>
            <a:r>
              <a:rPr lang="ru-RU" dirty="0" smtClean="0"/>
              <a:t>глобальные — заменим на модули)</a:t>
            </a:r>
          </a:p>
          <a:p>
            <a:pPr marL="0" indent="0">
              <a:buNone/>
            </a:pPr>
            <a:r>
              <a:rPr lang="ru-RU" dirty="0" smtClean="0"/>
              <a:t>    ├── </a:t>
            </a:r>
            <a:r>
              <a:rPr lang="en-US" dirty="0" smtClean="0"/>
              <a:t>index.css       ← </a:t>
            </a:r>
            <a:r>
              <a:rPr lang="ru-RU" dirty="0" smtClean="0"/>
              <a:t>глобальные стили (сброс)</a:t>
            </a:r>
          </a:p>
          <a:p>
            <a:pPr marL="0" indent="0">
              <a:buNone/>
            </a:pPr>
            <a:r>
              <a:rPr lang="ru-RU" dirty="0" smtClean="0"/>
              <a:t>    └── </a:t>
            </a:r>
            <a:r>
              <a:rPr lang="en-US" dirty="0" smtClean="0"/>
              <a:t>assets/</a:t>
            </a:r>
          </a:p>
          <a:p>
            <a:pPr marL="0" indent="0">
              <a:buNone/>
            </a:pPr>
            <a:r>
              <a:rPr lang="en-US" dirty="0" smtClean="0"/>
              <a:t>        └── </a:t>
            </a:r>
            <a:r>
              <a:rPr lang="en-US" dirty="0" err="1" smtClean="0"/>
              <a:t>react.svg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471171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2.2 Очистка шаблона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56356" y="1467556"/>
            <a:ext cx="10597444" cy="502355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 smtClean="0"/>
              <a:t>Удалите лишние файлы и упростите код.</a:t>
            </a:r>
          </a:p>
          <a:p>
            <a:pPr marL="0" indent="0">
              <a:buNone/>
            </a:pPr>
            <a:r>
              <a:rPr lang="en-US" dirty="0" err="1" smtClean="0"/>
              <a:t>src</a:t>
            </a:r>
            <a:r>
              <a:rPr lang="en-US" dirty="0" smtClean="0"/>
              <a:t>/index.css — </a:t>
            </a:r>
            <a:r>
              <a:rPr lang="ru-RU" dirty="0" smtClean="0"/>
              <a:t>оставьте только базовый сброс:</a:t>
            </a:r>
          </a:p>
          <a:p>
            <a:pPr marL="0" indent="0">
              <a:buNone/>
            </a:pPr>
            <a:r>
              <a:rPr lang="en-US" dirty="0" err="1" smtClean="0"/>
              <a:t>css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* {</a:t>
            </a:r>
          </a:p>
          <a:p>
            <a:pPr marL="0" indent="0">
              <a:buNone/>
            </a:pPr>
            <a:r>
              <a:rPr lang="en-US" dirty="0" smtClean="0"/>
              <a:t>  margin: 0;</a:t>
            </a:r>
          </a:p>
          <a:p>
            <a:pPr marL="0" indent="0">
              <a:buNone/>
            </a:pPr>
            <a:r>
              <a:rPr lang="en-US" dirty="0" smtClean="0"/>
              <a:t>  padding: 0;</a:t>
            </a:r>
          </a:p>
          <a:p>
            <a:pPr marL="0" indent="0">
              <a:buNone/>
            </a:pPr>
            <a:r>
              <a:rPr lang="en-US" dirty="0" smtClean="0"/>
              <a:t>  box-sizing: border-box;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 smtClean="0"/>
              <a:t>body {</a:t>
            </a:r>
          </a:p>
          <a:p>
            <a:pPr marL="0" indent="0">
              <a:buNone/>
            </a:pPr>
            <a:r>
              <a:rPr lang="en-US" dirty="0" smtClean="0"/>
              <a:t>  font-family: system-</a:t>
            </a:r>
            <a:r>
              <a:rPr lang="en-US" dirty="0" err="1" smtClean="0"/>
              <a:t>ui</a:t>
            </a:r>
            <a:r>
              <a:rPr lang="en-US" dirty="0" smtClean="0"/>
              <a:t>, -apple-system, sans-serif;</a:t>
            </a:r>
          </a:p>
          <a:p>
            <a:pPr marL="0" indent="0">
              <a:buNone/>
            </a:pPr>
            <a:r>
              <a:rPr lang="en-US" dirty="0" smtClean="0"/>
              <a:t>  background-color: #f5f5f5;</a:t>
            </a:r>
          </a:p>
          <a:p>
            <a:pPr marL="0" indent="0">
              <a:buNone/>
            </a:pPr>
            <a:r>
              <a:rPr lang="en-US" dirty="0" smtClean="0"/>
              <a:t>  color: #222;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 err="1" smtClean="0"/>
              <a:t>src</a:t>
            </a:r>
            <a:r>
              <a:rPr lang="en-US" dirty="0" smtClean="0"/>
              <a:t>/App.css — </a:t>
            </a:r>
            <a:r>
              <a:rPr lang="ru-RU" dirty="0" smtClean="0"/>
              <a:t>удалите, будем использовать </a:t>
            </a:r>
            <a:r>
              <a:rPr lang="en-US" dirty="0" smtClean="0"/>
              <a:t>CSS-</a:t>
            </a:r>
            <a:r>
              <a:rPr lang="ru-RU" dirty="0" smtClean="0"/>
              <a:t>модули.</a:t>
            </a:r>
          </a:p>
        </p:txBody>
      </p:sp>
    </p:spTree>
    <p:extLst>
      <p:ext uri="{BB962C8B-B14F-4D97-AF65-F5344CB8AC3E}">
        <p14:creationId xmlns="" xmlns:p14="http://schemas.microsoft.com/office/powerpoint/2010/main" val="3248291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12798"/>
            <a:ext cx="10515600" cy="1325563"/>
          </a:xfrm>
        </p:spPr>
        <p:txBody>
          <a:bodyPr/>
          <a:lstStyle/>
          <a:p>
            <a:r>
              <a:rPr lang="en-US" dirty="0" err="1" smtClean="0"/>
              <a:t>src</a:t>
            </a:r>
            <a:r>
              <a:rPr lang="en-US" dirty="0" smtClean="0"/>
              <a:t>/</a:t>
            </a:r>
            <a:r>
              <a:rPr lang="en-US" dirty="0" err="1" smtClean="0"/>
              <a:t>App.jsx</a:t>
            </a:r>
            <a:r>
              <a:rPr lang="en-US" dirty="0" smtClean="0"/>
              <a:t> — </a:t>
            </a:r>
            <a:r>
              <a:rPr lang="ru-RU" dirty="0" smtClean="0"/>
              <a:t>очистите до минимума: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298221"/>
            <a:ext cx="3237089" cy="338666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/>
              <a:t>function App() {</a:t>
            </a:r>
          </a:p>
          <a:p>
            <a:pPr marL="0" indent="0">
              <a:buNone/>
            </a:pPr>
            <a:r>
              <a:rPr lang="en-US" dirty="0" smtClean="0"/>
              <a:t>  return (</a:t>
            </a:r>
          </a:p>
          <a:p>
            <a:pPr marL="0" indent="0">
              <a:buNone/>
            </a:pPr>
            <a:r>
              <a:rPr lang="en-US" dirty="0" smtClean="0"/>
              <a:t>    &lt;div </a:t>
            </a:r>
            <a:r>
              <a:rPr lang="en-US" dirty="0" err="1" smtClean="0"/>
              <a:t>className</a:t>
            </a:r>
            <a:r>
              <a:rPr lang="en-US" dirty="0" smtClean="0"/>
              <a:t>="app"&gt;</a:t>
            </a:r>
          </a:p>
          <a:p>
            <a:pPr marL="0" indent="0">
              <a:buNone/>
            </a:pPr>
            <a:r>
              <a:rPr lang="en-US" dirty="0" smtClean="0"/>
              <a:t>      &lt;h1&gt;</a:t>
            </a:r>
            <a:r>
              <a:rPr lang="ru-RU" dirty="0" smtClean="0"/>
              <a:t>Мой первый </a:t>
            </a:r>
            <a:r>
              <a:rPr lang="en-US" dirty="0" smtClean="0"/>
              <a:t>React-</a:t>
            </a:r>
            <a:r>
              <a:rPr lang="ru-RU" dirty="0" smtClean="0"/>
              <a:t>проект&lt;/</a:t>
            </a:r>
            <a:r>
              <a:rPr lang="en-US" dirty="0" smtClean="0"/>
              <a:t>h1&gt;</a:t>
            </a:r>
          </a:p>
          <a:p>
            <a:pPr marL="0" indent="0">
              <a:buNone/>
            </a:pPr>
            <a:r>
              <a:rPr lang="en-US" dirty="0" smtClean="0"/>
              <a:t>    &lt;/div&gt;</a:t>
            </a:r>
          </a:p>
          <a:p>
            <a:pPr marL="0" indent="0">
              <a:buNone/>
            </a:pPr>
            <a:r>
              <a:rPr lang="en-US" dirty="0" smtClean="0"/>
              <a:t>  );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export default App;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32978" y="1298221"/>
            <a:ext cx="482035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/>
              <a:t>src</a:t>
            </a:r>
            <a:r>
              <a:rPr lang="en-US" b="1" dirty="0" smtClean="0"/>
              <a:t>/</a:t>
            </a:r>
            <a:r>
              <a:rPr lang="en-US" b="1" dirty="0" err="1" smtClean="0"/>
              <a:t>main.jsx</a:t>
            </a:r>
            <a:r>
              <a:rPr lang="en-US" b="1" dirty="0" smtClean="0"/>
              <a:t> — </a:t>
            </a:r>
            <a:r>
              <a:rPr lang="ru-RU" b="1" dirty="0" smtClean="0"/>
              <a:t>без изменений:</a:t>
            </a:r>
          </a:p>
          <a:p>
            <a:endParaRPr lang="ru-RU" dirty="0" smtClean="0"/>
          </a:p>
          <a:p>
            <a:r>
              <a:rPr lang="en-US" dirty="0" smtClean="0"/>
              <a:t>import { </a:t>
            </a:r>
            <a:r>
              <a:rPr lang="en-US" dirty="0" err="1" smtClean="0"/>
              <a:t>StrictMode</a:t>
            </a:r>
            <a:r>
              <a:rPr lang="en-US" dirty="0" smtClean="0"/>
              <a:t> } from 'react';</a:t>
            </a:r>
          </a:p>
          <a:p>
            <a:r>
              <a:rPr lang="en-US" dirty="0" smtClean="0"/>
              <a:t>import { </a:t>
            </a:r>
            <a:r>
              <a:rPr lang="en-US" dirty="0" err="1" smtClean="0"/>
              <a:t>createRoot</a:t>
            </a:r>
            <a:r>
              <a:rPr lang="en-US" dirty="0" smtClean="0"/>
              <a:t> } from 'react-</a:t>
            </a:r>
            <a:r>
              <a:rPr lang="en-US" dirty="0" err="1" smtClean="0"/>
              <a:t>dom</a:t>
            </a:r>
            <a:r>
              <a:rPr lang="en-US" dirty="0" smtClean="0"/>
              <a:t>/client';</a:t>
            </a:r>
          </a:p>
          <a:p>
            <a:r>
              <a:rPr lang="en-US" dirty="0" smtClean="0"/>
              <a:t>import './index.css';</a:t>
            </a:r>
          </a:p>
          <a:p>
            <a:r>
              <a:rPr lang="en-US" dirty="0" smtClean="0"/>
              <a:t>import App from './</a:t>
            </a:r>
            <a:r>
              <a:rPr lang="en-US" dirty="0" err="1" smtClean="0"/>
              <a:t>App.jsx</a:t>
            </a:r>
            <a:r>
              <a:rPr lang="en-US" dirty="0" smtClean="0"/>
              <a:t>';</a:t>
            </a:r>
          </a:p>
          <a:p>
            <a:endParaRPr lang="en-US" dirty="0" smtClean="0"/>
          </a:p>
          <a:p>
            <a:r>
              <a:rPr lang="en-US" dirty="0" err="1" smtClean="0"/>
              <a:t>createRoot</a:t>
            </a:r>
            <a:r>
              <a:rPr lang="en-US" dirty="0" smtClean="0"/>
              <a:t>(</a:t>
            </a:r>
            <a:r>
              <a:rPr lang="en-US" dirty="0" err="1" smtClean="0"/>
              <a:t>document.getElementById</a:t>
            </a:r>
            <a:r>
              <a:rPr lang="en-US" dirty="0" smtClean="0"/>
              <a:t>('root')).render(</a:t>
            </a:r>
          </a:p>
          <a:p>
            <a:r>
              <a:rPr lang="en-US" dirty="0" smtClean="0"/>
              <a:t>  &lt;</a:t>
            </a:r>
            <a:r>
              <a:rPr lang="en-US" dirty="0" err="1" smtClean="0"/>
              <a:t>StrictMode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    &lt;App /&gt;</a:t>
            </a:r>
          </a:p>
          <a:p>
            <a:r>
              <a:rPr lang="en-US" dirty="0" smtClean="0"/>
              <a:t>  &lt;/</a:t>
            </a:r>
            <a:r>
              <a:rPr lang="en-US" dirty="0" err="1" smtClean="0"/>
              <a:t>StrictMode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);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590575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3.2. Что такое </a:t>
            </a:r>
            <a:r>
              <a:rPr lang="en-US" dirty="0" smtClean="0"/>
              <a:t>CSS-</a:t>
            </a:r>
            <a:r>
              <a:rPr lang="ru-RU" dirty="0" smtClean="0"/>
              <a:t>модули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98311" y="1320800"/>
            <a:ext cx="10755489" cy="524933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 smtClean="0"/>
              <a:t>CSS-</a:t>
            </a:r>
            <a:r>
              <a:rPr lang="ru-RU" dirty="0" smtClean="0"/>
              <a:t>модуль — это файл вида Имя.</a:t>
            </a:r>
            <a:r>
              <a:rPr lang="en-US" dirty="0" smtClean="0"/>
              <a:t>module.css. </a:t>
            </a:r>
            <a:r>
              <a:rPr lang="ru-RU" dirty="0" smtClean="0"/>
              <a:t>Классы в нём локальны для компонента: </a:t>
            </a:r>
            <a:r>
              <a:rPr lang="en-US" dirty="0" err="1" smtClean="0"/>
              <a:t>Vite</a:t>
            </a:r>
            <a:r>
              <a:rPr lang="en-US" dirty="0" smtClean="0"/>
              <a:t> </a:t>
            </a:r>
            <a:r>
              <a:rPr lang="ru-RU" dirty="0" smtClean="0"/>
              <a:t>автоматически генерирует уникальные имена классов, так что стили одного компонента не конфликтуют с другими.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 smtClean="0"/>
              <a:t>3.3. Структура после </a:t>
            </a:r>
            <a:r>
              <a:rPr lang="ru-RU" dirty="0" err="1" smtClean="0"/>
              <a:t>рефакторинга</a:t>
            </a:r>
            <a:endParaRPr lang="ru-RU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ru-RU" dirty="0" smtClean="0"/>
              <a:t>Создайте следующую файловую структуру: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err="1" smtClean="0"/>
              <a:t>src</a:t>
            </a:r>
            <a:r>
              <a:rPr lang="en-US" dirty="0" smtClean="0"/>
              <a:t>/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├── </a:t>
            </a:r>
            <a:r>
              <a:rPr lang="en-US" dirty="0" err="1" smtClean="0"/>
              <a:t>main.jsx</a:t>
            </a:r>
            <a:endParaRPr lang="en-US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├── </a:t>
            </a:r>
            <a:r>
              <a:rPr lang="en-US" dirty="0" err="1" smtClean="0"/>
              <a:t>App.jsx</a:t>
            </a:r>
            <a:endParaRPr lang="en-US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├── App.module.css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├── index.css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├── components/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│   ├── Header/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│   │   ├── </a:t>
            </a:r>
            <a:r>
              <a:rPr lang="en-US" dirty="0" err="1" smtClean="0"/>
              <a:t>Header.jsx</a:t>
            </a:r>
            <a:endParaRPr lang="en-US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│   │   └── Header.module.css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│   ├── </a:t>
            </a:r>
            <a:r>
              <a:rPr lang="en-US" dirty="0" err="1" smtClean="0"/>
              <a:t>ArticleCard</a:t>
            </a:r>
            <a:r>
              <a:rPr lang="en-US" dirty="0" smtClean="0"/>
              <a:t>/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│   │   ├── </a:t>
            </a:r>
            <a:r>
              <a:rPr lang="en-US" dirty="0" err="1" smtClean="0"/>
              <a:t>ArticleCard.jsx</a:t>
            </a:r>
            <a:endParaRPr lang="en-US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│   │   └── ArticleCard.module.css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│   └── </a:t>
            </a:r>
            <a:r>
              <a:rPr lang="en-US" dirty="0" err="1" smtClean="0"/>
              <a:t>ArticleList</a:t>
            </a:r>
            <a:r>
              <a:rPr lang="en-US" dirty="0" smtClean="0"/>
              <a:t>/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│       ├── </a:t>
            </a:r>
            <a:r>
              <a:rPr lang="en-US" dirty="0" err="1" smtClean="0"/>
              <a:t>ArticleList.jsx</a:t>
            </a:r>
            <a:endParaRPr lang="en-US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│       └── ArticleList.module.css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└── data/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└── articles.js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574565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4. Создание компонентов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45067" y="1825625"/>
            <a:ext cx="10608733" cy="4710642"/>
          </a:xfrm>
        </p:spPr>
        <p:txBody>
          <a:bodyPr>
            <a:normAutofit fontScale="550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dirty="0" smtClean="0"/>
              <a:t>4.1. </a:t>
            </a:r>
            <a:r>
              <a:rPr lang="en-US" dirty="0" smtClean="0"/>
              <a:t>Header — </a:t>
            </a:r>
            <a:r>
              <a:rPr lang="ru-RU" dirty="0" smtClean="0"/>
              <a:t>шапка сайта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err="1" smtClean="0"/>
              <a:t>src</a:t>
            </a:r>
            <a:r>
              <a:rPr lang="en-US" dirty="0" smtClean="0"/>
              <a:t>/components/Header/</a:t>
            </a:r>
            <a:r>
              <a:rPr lang="en-US" dirty="0" err="1" smtClean="0"/>
              <a:t>Header.jsx</a:t>
            </a:r>
            <a:endParaRPr lang="en-US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import styles from './Header.module.css';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function Header()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return (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&lt;header </a:t>
            </a:r>
            <a:r>
              <a:rPr lang="en-US" dirty="0" err="1" smtClean="0"/>
              <a:t>className</a:t>
            </a:r>
            <a:r>
              <a:rPr lang="en-US" dirty="0" smtClean="0"/>
              <a:t>={</a:t>
            </a:r>
            <a:r>
              <a:rPr lang="en-US" dirty="0" err="1" smtClean="0"/>
              <a:t>styles.header</a:t>
            </a:r>
            <a:r>
              <a:rPr lang="en-US" dirty="0" smtClean="0"/>
              <a:t>}&gt;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&lt;div </a:t>
            </a:r>
            <a:r>
              <a:rPr lang="en-US" dirty="0" err="1" smtClean="0"/>
              <a:t>className</a:t>
            </a:r>
            <a:r>
              <a:rPr lang="en-US" dirty="0" smtClean="0"/>
              <a:t>={</a:t>
            </a:r>
            <a:r>
              <a:rPr lang="en-US" dirty="0" err="1" smtClean="0"/>
              <a:t>styles.container</a:t>
            </a:r>
            <a:r>
              <a:rPr lang="en-US" dirty="0" smtClean="0"/>
              <a:t>}&gt;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  &lt;h1 </a:t>
            </a:r>
            <a:r>
              <a:rPr lang="en-US" dirty="0" err="1" smtClean="0"/>
              <a:t>className</a:t>
            </a:r>
            <a:r>
              <a:rPr lang="en-US" dirty="0" smtClean="0"/>
              <a:t>={</a:t>
            </a:r>
            <a:r>
              <a:rPr lang="en-US" dirty="0" err="1" smtClean="0"/>
              <a:t>styles.title</a:t>
            </a:r>
            <a:r>
              <a:rPr lang="en-US" dirty="0" smtClean="0"/>
              <a:t>}&gt;React Blog&lt;/h1&gt;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  &lt;</a:t>
            </a:r>
            <a:r>
              <a:rPr lang="en-US" dirty="0" err="1" smtClean="0"/>
              <a:t>nav</a:t>
            </a:r>
            <a:r>
              <a:rPr lang="en-US" dirty="0" smtClean="0"/>
              <a:t> </a:t>
            </a:r>
            <a:r>
              <a:rPr lang="en-US" dirty="0" err="1" smtClean="0"/>
              <a:t>className</a:t>
            </a:r>
            <a:r>
              <a:rPr lang="en-US" dirty="0" smtClean="0"/>
              <a:t>={</a:t>
            </a:r>
            <a:r>
              <a:rPr lang="en-US" dirty="0" err="1" smtClean="0"/>
              <a:t>styles.nav</a:t>
            </a:r>
            <a:r>
              <a:rPr lang="en-US" dirty="0" smtClean="0"/>
              <a:t>}&gt;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    &lt;a </a:t>
            </a:r>
            <a:r>
              <a:rPr lang="en-US" dirty="0" err="1" smtClean="0"/>
              <a:t>href</a:t>
            </a:r>
            <a:r>
              <a:rPr lang="en-US" dirty="0" smtClean="0"/>
              <a:t>="#" </a:t>
            </a:r>
            <a:r>
              <a:rPr lang="en-US" dirty="0" err="1" smtClean="0"/>
              <a:t>className</a:t>
            </a:r>
            <a:r>
              <a:rPr lang="en-US" dirty="0" smtClean="0"/>
              <a:t>={</a:t>
            </a:r>
            <a:r>
              <a:rPr lang="en-US" dirty="0" err="1" smtClean="0"/>
              <a:t>styles.link</a:t>
            </a:r>
            <a:r>
              <a:rPr lang="en-US" dirty="0" smtClean="0"/>
              <a:t>}&gt;</a:t>
            </a:r>
            <a:r>
              <a:rPr lang="ru-RU" dirty="0" smtClean="0"/>
              <a:t>Главная&lt;/</a:t>
            </a:r>
            <a:r>
              <a:rPr lang="en-US" dirty="0" smtClean="0"/>
              <a:t>a&gt;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    &lt;a </a:t>
            </a:r>
            <a:r>
              <a:rPr lang="en-US" dirty="0" err="1" smtClean="0"/>
              <a:t>href</a:t>
            </a:r>
            <a:r>
              <a:rPr lang="en-US" dirty="0" smtClean="0"/>
              <a:t>="#" </a:t>
            </a:r>
            <a:r>
              <a:rPr lang="en-US" dirty="0" err="1" smtClean="0"/>
              <a:t>className</a:t>
            </a:r>
            <a:r>
              <a:rPr lang="en-US" dirty="0" smtClean="0"/>
              <a:t>={</a:t>
            </a:r>
            <a:r>
              <a:rPr lang="en-US" dirty="0" err="1" smtClean="0"/>
              <a:t>styles.link</a:t>
            </a:r>
            <a:r>
              <a:rPr lang="en-US" dirty="0" smtClean="0"/>
              <a:t>}&gt;</a:t>
            </a:r>
            <a:r>
              <a:rPr lang="ru-RU" dirty="0" smtClean="0"/>
              <a:t>Статьи&lt;/</a:t>
            </a:r>
            <a:r>
              <a:rPr lang="en-US" dirty="0" smtClean="0"/>
              <a:t>a&gt;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    &lt;a </a:t>
            </a:r>
            <a:r>
              <a:rPr lang="en-US" dirty="0" err="1" smtClean="0"/>
              <a:t>href</a:t>
            </a:r>
            <a:r>
              <a:rPr lang="en-US" dirty="0" smtClean="0"/>
              <a:t>="#" </a:t>
            </a:r>
            <a:r>
              <a:rPr lang="en-US" dirty="0" err="1" smtClean="0"/>
              <a:t>className</a:t>
            </a:r>
            <a:r>
              <a:rPr lang="en-US" dirty="0" smtClean="0"/>
              <a:t>={</a:t>
            </a:r>
            <a:r>
              <a:rPr lang="en-US" dirty="0" err="1" smtClean="0"/>
              <a:t>styles.link</a:t>
            </a:r>
            <a:r>
              <a:rPr lang="en-US" dirty="0" smtClean="0"/>
              <a:t>}&gt;</a:t>
            </a:r>
            <a:r>
              <a:rPr lang="ru-RU" dirty="0" smtClean="0"/>
              <a:t>О нас&lt;/</a:t>
            </a:r>
            <a:r>
              <a:rPr lang="en-US" dirty="0" smtClean="0"/>
              <a:t>a&gt;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  &lt;/</a:t>
            </a:r>
            <a:r>
              <a:rPr lang="en-US" dirty="0" err="1" smtClean="0"/>
              <a:t>nav</a:t>
            </a:r>
            <a:r>
              <a:rPr lang="en-US" dirty="0" smtClean="0"/>
              <a:t>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&lt;/div&gt;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&lt;/header&gt;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export default Header;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4115156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src</a:t>
            </a:r>
            <a:r>
              <a:rPr lang="en-US" dirty="0" smtClean="0"/>
              <a:t>/components/Header/Header.module.css</a:t>
            </a:r>
            <a:br>
              <a:rPr lang="en-US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 smtClean="0"/>
              <a:t>.header {</a:t>
            </a:r>
          </a:p>
          <a:p>
            <a:pPr marL="0" indent="0">
              <a:buNone/>
            </a:pPr>
            <a:r>
              <a:rPr lang="en-US" dirty="0" smtClean="0"/>
              <a:t>  background: linear-gradient(135deg, #6366f1, #8b5cf6);</a:t>
            </a:r>
          </a:p>
          <a:p>
            <a:pPr marL="0" indent="0">
              <a:buNone/>
            </a:pPr>
            <a:r>
              <a:rPr lang="en-US" dirty="0" smtClean="0"/>
              <a:t>  padding: 1.5rem 0;</a:t>
            </a:r>
          </a:p>
          <a:p>
            <a:pPr marL="0" indent="0">
              <a:buNone/>
            </a:pPr>
            <a:r>
              <a:rPr lang="en-US" dirty="0" smtClean="0"/>
              <a:t>  box-shadow: 0 2px 8px </a:t>
            </a:r>
            <a:r>
              <a:rPr lang="en-US" dirty="0" err="1" smtClean="0"/>
              <a:t>rgba</a:t>
            </a:r>
            <a:r>
              <a:rPr lang="en-US" dirty="0" smtClean="0"/>
              <a:t>(0, 0, 0, 0.15);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.container {</a:t>
            </a:r>
          </a:p>
          <a:p>
            <a:pPr marL="0" indent="0">
              <a:buNone/>
            </a:pPr>
            <a:r>
              <a:rPr lang="en-US" dirty="0" smtClean="0"/>
              <a:t>  max-width: 1000px;</a:t>
            </a:r>
          </a:p>
          <a:p>
            <a:pPr marL="0" indent="0">
              <a:buNone/>
            </a:pPr>
            <a:r>
              <a:rPr lang="en-US" dirty="0" smtClean="0"/>
              <a:t>  margin: 0 auto;</a:t>
            </a:r>
          </a:p>
          <a:p>
            <a:pPr marL="0" indent="0">
              <a:buNone/>
            </a:pPr>
            <a:r>
              <a:rPr lang="en-US" dirty="0" smtClean="0"/>
              <a:t>  padding: 0 1rem;</a:t>
            </a:r>
          </a:p>
          <a:p>
            <a:pPr marL="0" indent="0">
              <a:buNone/>
            </a:pPr>
            <a:r>
              <a:rPr lang="en-US" dirty="0" smtClean="0"/>
              <a:t>  display: flex;</a:t>
            </a:r>
          </a:p>
          <a:p>
            <a:pPr marL="0" indent="0">
              <a:buNone/>
            </a:pPr>
            <a:r>
              <a:rPr lang="en-US" dirty="0" smtClean="0"/>
              <a:t>  align-items: center;</a:t>
            </a:r>
          </a:p>
          <a:p>
            <a:pPr marL="0" indent="0">
              <a:buNone/>
            </a:pPr>
            <a:r>
              <a:rPr lang="en-US" dirty="0" smtClean="0"/>
              <a:t>  justify-content: space-between;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7473244" y="1225689"/>
            <a:ext cx="4165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.title {</a:t>
            </a:r>
          </a:p>
          <a:p>
            <a:r>
              <a:rPr lang="en-US" dirty="0" smtClean="0"/>
              <a:t>  color: #</a:t>
            </a:r>
            <a:r>
              <a:rPr lang="en-US" dirty="0" err="1" smtClean="0"/>
              <a:t>fff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font-size: 1.5rem;</a:t>
            </a:r>
          </a:p>
          <a:p>
            <a:r>
              <a:rPr lang="en-US" dirty="0" smtClean="0"/>
              <a:t>}</a:t>
            </a:r>
          </a:p>
          <a:p>
            <a:endParaRPr lang="en-US" dirty="0" smtClean="0"/>
          </a:p>
          <a:p>
            <a:r>
              <a:rPr lang="en-US" dirty="0" smtClean="0"/>
              <a:t>.</a:t>
            </a:r>
            <a:r>
              <a:rPr lang="en-US" dirty="0" err="1" smtClean="0"/>
              <a:t>nav</a:t>
            </a:r>
            <a:r>
              <a:rPr lang="en-US" dirty="0" smtClean="0"/>
              <a:t> {</a:t>
            </a:r>
          </a:p>
          <a:p>
            <a:r>
              <a:rPr lang="en-US" dirty="0" smtClean="0"/>
              <a:t>  display: flex;</a:t>
            </a:r>
          </a:p>
          <a:p>
            <a:r>
              <a:rPr lang="en-US" dirty="0" smtClean="0"/>
              <a:t>  gap: 1.5rem;</a:t>
            </a:r>
          </a:p>
          <a:p>
            <a:r>
              <a:rPr lang="en-US" dirty="0" smtClean="0"/>
              <a:t>}</a:t>
            </a:r>
          </a:p>
          <a:p>
            <a:endParaRPr lang="en-US" dirty="0" smtClean="0"/>
          </a:p>
          <a:p>
            <a:r>
              <a:rPr lang="en-US" dirty="0" smtClean="0"/>
              <a:t>.link {</a:t>
            </a:r>
          </a:p>
          <a:p>
            <a:r>
              <a:rPr lang="en-US" dirty="0" smtClean="0"/>
              <a:t>  color: #e0e7ff;</a:t>
            </a:r>
          </a:p>
          <a:p>
            <a:r>
              <a:rPr lang="en-US" dirty="0" smtClean="0"/>
              <a:t>  text-decoration: none;</a:t>
            </a:r>
          </a:p>
          <a:p>
            <a:r>
              <a:rPr lang="en-US" dirty="0" smtClean="0"/>
              <a:t>  font-size: 1rem;</a:t>
            </a:r>
          </a:p>
          <a:p>
            <a:r>
              <a:rPr lang="en-US" dirty="0" smtClean="0"/>
              <a:t>  transition: color 0.2s;</a:t>
            </a:r>
          </a:p>
          <a:p>
            <a:r>
              <a:rPr lang="en-US" dirty="0" smtClean="0"/>
              <a:t>}</a:t>
            </a:r>
          </a:p>
          <a:p>
            <a:endParaRPr lang="en-US" dirty="0" smtClean="0"/>
          </a:p>
          <a:p>
            <a:r>
              <a:rPr lang="en-US" dirty="0" smtClean="0"/>
              <a:t>.</a:t>
            </a:r>
            <a:r>
              <a:rPr lang="en-US" dirty="0" err="1" smtClean="0"/>
              <a:t>link:hover</a:t>
            </a:r>
            <a:r>
              <a:rPr lang="en-US" dirty="0" smtClean="0"/>
              <a:t> {</a:t>
            </a:r>
          </a:p>
          <a:p>
            <a:r>
              <a:rPr lang="en-US" dirty="0" smtClean="0"/>
              <a:t>  color: #</a:t>
            </a:r>
            <a:r>
              <a:rPr lang="en-US" dirty="0" err="1" smtClean="0"/>
              <a:t>fff</a:t>
            </a:r>
            <a:r>
              <a:rPr lang="en-US" dirty="0" smtClean="0"/>
              <a:t>;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6721037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4.2. Данные для карточек </a:t>
            </a:r>
            <a:r>
              <a:rPr lang="en-US" dirty="0" err="1" smtClean="0"/>
              <a:t>src</a:t>
            </a:r>
            <a:r>
              <a:rPr lang="en-US" dirty="0" smtClean="0"/>
              <a:t>/data/articles.js</a:t>
            </a:r>
            <a:br>
              <a:rPr lang="en-US" dirty="0" smtClean="0"/>
            </a:b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3467" y="1332089"/>
            <a:ext cx="3273777" cy="484487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const articles = [</a:t>
            </a:r>
          </a:p>
          <a:p>
            <a:pPr marL="0" indent="0">
              <a:buNone/>
            </a:pPr>
            <a:r>
              <a:rPr lang="en-US" dirty="0" smtClean="0"/>
              <a:t>  {</a:t>
            </a:r>
          </a:p>
          <a:p>
            <a:pPr marL="0" indent="0">
              <a:buNone/>
            </a:pPr>
            <a:r>
              <a:rPr lang="en-US" dirty="0" smtClean="0"/>
              <a:t>    id: 1,</a:t>
            </a:r>
          </a:p>
          <a:p>
            <a:pPr marL="0" indent="0">
              <a:buNone/>
            </a:pPr>
            <a:r>
              <a:rPr lang="en-US" dirty="0" smtClean="0"/>
              <a:t>    title: '</a:t>
            </a:r>
            <a:r>
              <a:rPr lang="ru-RU" dirty="0" smtClean="0"/>
              <a:t>Что такое </a:t>
            </a:r>
            <a:r>
              <a:rPr lang="en-US" dirty="0" smtClean="0"/>
              <a:t>React',</a:t>
            </a:r>
          </a:p>
          <a:p>
            <a:pPr marL="0" indent="0">
              <a:buNone/>
            </a:pPr>
            <a:r>
              <a:rPr lang="en-US" dirty="0" smtClean="0"/>
              <a:t>    excerpt: 'React — </a:t>
            </a:r>
            <a:r>
              <a:rPr lang="ru-RU" dirty="0" smtClean="0"/>
              <a:t>это библиотека для создания пользовательских интерфейсов. Рассматриваем основные концепции.',</a:t>
            </a:r>
          </a:p>
          <a:p>
            <a:pPr marL="0" indent="0">
              <a:buNone/>
            </a:pPr>
            <a:r>
              <a:rPr lang="ru-RU" dirty="0" smtClean="0"/>
              <a:t>    </a:t>
            </a:r>
            <a:r>
              <a:rPr lang="en-US" dirty="0" smtClean="0"/>
              <a:t>author: '</a:t>
            </a:r>
            <a:r>
              <a:rPr lang="ru-RU" dirty="0" smtClean="0"/>
              <a:t>Анна Иванова',</a:t>
            </a:r>
          </a:p>
          <a:p>
            <a:pPr marL="0" indent="0">
              <a:buNone/>
            </a:pPr>
            <a:r>
              <a:rPr lang="ru-RU" dirty="0" smtClean="0"/>
              <a:t>    </a:t>
            </a:r>
            <a:r>
              <a:rPr lang="en-US" dirty="0" smtClean="0"/>
              <a:t>date: '12 </a:t>
            </a:r>
            <a:r>
              <a:rPr lang="ru-RU" dirty="0" smtClean="0"/>
              <a:t>марта 2026',</a:t>
            </a:r>
          </a:p>
          <a:p>
            <a:pPr marL="0" indent="0">
              <a:buNone/>
            </a:pPr>
            <a:r>
              <a:rPr lang="ru-RU" dirty="0" smtClean="0"/>
              <a:t>    </a:t>
            </a:r>
            <a:r>
              <a:rPr lang="en-US" dirty="0" smtClean="0"/>
              <a:t>tag: '</a:t>
            </a:r>
            <a:r>
              <a:rPr lang="ru-RU" dirty="0" smtClean="0"/>
              <a:t>Основы',</a:t>
            </a:r>
          </a:p>
          <a:p>
            <a:pPr marL="0" indent="0">
              <a:buNone/>
            </a:pPr>
            <a:r>
              <a:rPr lang="ru-RU" dirty="0" smtClean="0"/>
              <a:t>    </a:t>
            </a:r>
            <a:r>
              <a:rPr lang="en-US" dirty="0" smtClean="0"/>
              <a:t>image: 'https://picsum.photos/seed/react1/400/250'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},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55468" y="1690688"/>
            <a:ext cx="391724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{</a:t>
            </a:r>
          </a:p>
          <a:p>
            <a:r>
              <a:rPr lang="en-US" dirty="0" smtClean="0"/>
              <a:t>    id: 2,</a:t>
            </a:r>
          </a:p>
          <a:p>
            <a:r>
              <a:rPr lang="en-US" dirty="0" smtClean="0"/>
              <a:t>    title: '</a:t>
            </a:r>
            <a:r>
              <a:rPr lang="ru-RU" dirty="0" smtClean="0"/>
              <a:t>Хуки в </a:t>
            </a:r>
            <a:r>
              <a:rPr lang="en-US" dirty="0" smtClean="0"/>
              <a:t>React',</a:t>
            </a:r>
          </a:p>
          <a:p>
            <a:r>
              <a:rPr lang="en-US" dirty="0" smtClean="0"/>
              <a:t>    excerpt: '</a:t>
            </a:r>
            <a:r>
              <a:rPr lang="en-US" dirty="0" err="1" smtClean="0"/>
              <a:t>useState</a:t>
            </a:r>
            <a:r>
              <a:rPr lang="en-US" dirty="0" smtClean="0"/>
              <a:t>, </a:t>
            </a:r>
            <a:r>
              <a:rPr lang="en-US" dirty="0" err="1" smtClean="0"/>
              <a:t>useEffect</a:t>
            </a:r>
            <a:r>
              <a:rPr lang="en-US" dirty="0" smtClean="0"/>
              <a:t>, </a:t>
            </a:r>
            <a:r>
              <a:rPr lang="en-US" dirty="0" err="1" smtClean="0"/>
              <a:t>useContext</a:t>
            </a:r>
            <a:r>
              <a:rPr lang="en-US" dirty="0" smtClean="0"/>
              <a:t> — </a:t>
            </a:r>
            <a:r>
              <a:rPr lang="ru-RU" dirty="0" smtClean="0"/>
              <a:t>разбираемся, как работают хуки и зачем они нужны.',</a:t>
            </a:r>
          </a:p>
          <a:p>
            <a:r>
              <a:rPr lang="ru-RU" dirty="0" smtClean="0"/>
              <a:t>    </a:t>
            </a:r>
            <a:r>
              <a:rPr lang="en-US" dirty="0" smtClean="0"/>
              <a:t>author: '</a:t>
            </a:r>
            <a:r>
              <a:rPr lang="ru-RU" dirty="0" smtClean="0"/>
              <a:t>Пётр Смирнов',</a:t>
            </a:r>
          </a:p>
          <a:p>
            <a:r>
              <a:rPr lang="ru-RU" dirty="0" smtClean="0"/>
              <a:t>    </a:t>
            </a:r>
            <a:r>
              <a:rPr lang="en-US" dirty="0" smtClean="0"/>
              <a:t>date: '18 </a:t>
            </a:r>
            <a:r>
              <a:rPr lang="ru-RU" dirty="0" smtClean="0"/>
              <a:t>марта 2026',</a:t>
            </a:r>
          </a:p>
          <a:p>
            <a:r>
              <a:rPr lang="ru-RU" dirty="0" smtClean="0"/>
              <a:t>    </a:t>
            </a:r>
            <a:r>
              <a:rPr lang="en-US" dirty="0" smtClean="0"/>
              <a:t>tag: '</a:t>
            </a:r>
            <a:r>
              <a:rPr lang="ru-RU" dirty="0" smtClean="0"/>
              <a:t>Хуки',</a:t>
            </a:r>
          </a:p>
          <a:p>
            <a:r>
              <a:rPr lang="ru-RU" dirty="0" smtClean="0"/>
              <a:t>    </a:t>
            </a:r>
            <a:r>
              <a:rPr lang="en-US" dirty="0" smtClean="0"/>
              <a:t>image: 'https://picsum.photos/seed/hooks2/400/250'</a:t>
            </a:r>
          </a:p>
          <a:p>
            <a:r>
              <a:rPr lang="en-US" dirty="0" smtClean="0"/>
              <a:t>  },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347332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4.3. Данные для карточек </a:t>
            </a:r>
            <a:r>
              <a:rPr lang="en-US" dirty="0" err="1" smtClean="0"/>
              <a:t>src</a:t>
            </a:r>
            <a:r>
              <a:rPr lang="en-US" dirty="0" smtClean="0"/>
              <a:t>/data/articles.js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4"/>
            <a:ext cx="3022600" cy="441713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{</a:t>
            </a:r>
          </a:p>
          <a:p>
            <a:pPr marL="0" indent="0">
              <a:buNone/>
            </a:pPr>
            <a:r>
              <a:rPr lang="en-US" dirty="0" smtClean="0"/>
              <a:t>    id: 3,</a:t>
            </a:r>
          </a:p>
          <a:p>
            <a:pPr marL="0" indent="0">
              <a:buNone/>
            </a:pPr>
            <a:r>
              <a:rPr lang="en-US" dirty="0" smtClean="0"/>
              <a:t>    title: '</a:t>
            </a:r>
            <a:r>
              <a:rPr lang="en-US" dirty="0" err="1" smtClean="0"/>
              <a:t>Vite</a:t>
            </a:r>
            <a:r>
              <a:rPr lang="en-US" dirty="0" smtClean="0"/>
              <a:t> </a:t>
            </a:r>
            <a:r>
              <a:rPr lang="ru-RU" dirty="0" smtClean="0"/>
              <a:t>против </a:t>
            </a:r>
            <a:r>
              <a:rPr lang="en-US" dirty="0" err="1" smtClean="0"/>
              <a:t>Webpack</a:t>
            </a:r>
            <a:r>
              <a:rPr lang="en-US" dirty="0" smtClean="0"/>
              <a:t>',</a:t>
            </a:r>
          </a:p>
          <a:p>
            <a:pPr marL="0" indent="0">
              <a:buNone/>
            </a:pPr>
            <a:r>
              <a:rPr lang="en-US" dirty="0" smtClean="0"/>
              <a:t>    excerpt: '</a:t>
            </a:r>
            <a:r>
              <a:rPr lang="ru-RU" dirty="0" smtClean="0"/>
              <a:t>Сравниваем два сборщика: скорость, конфигурация и удобство разработки.',</a:t>
            </a:r>
          </a:p>
          <a:p>
            <a:pPr marL="0" indent="0">
              <a:buNone/>
            </a:pPr>
            <a:r>
              <a:rPr lang="ru-RU" dirty="0" smtClean="0"/>
              <a:t>    </a:t>
            </a:r>
            <a:r>
              <a:rPr lang="en-US" dirty="0" smtClean="0"/>
              <a:t>author: '</a:t>
            </a:r>
            <a:r>
              <a:rPr lang="ru-RU" dirty="0" smtClean="0"/>
              <a:t>Мария Кузнецова',</a:t>
            </a:r>
          </a:p>
          <a:p>
            <a:pPr marL="0" indent="0">
              <a:buNone/>
            </a:pPr>
            <a:r>
              <a:rPr lang="ru-RU" dirty="0" smtClean="0"/>
              <a:t>    </a:t>
            </a:r>
            <a:r>
              <a:rPr lang="en-US" dirty="0" smtClean="0"/>
              <a:t>date: '22 </a:t>
            </a:r>
            <a:r>
              <a:rPr lang="ru-RU" dirty="0" smtClean="0"/>
              <a:t>марта 2026',</a:t>
            </a:r>
          </a:p>
          <a:p>
            <a:pPr marL="0" indent="0">
              <a:buNone/>
            </a:pPr>
            <a:r>
              <a:rPr lang="ru-RU" dirty="0" smtClean="0"/>
              <a:t>    </a:t>
            </a:r>
            <a:r>
              <a:rPr lang="en-US" dirty="0" smtClean="0"/>
              <a:t>tag: '</a:t>
            </a:r>
            <a:r>
              <a:rPr lang="ru-RU" dirty="0" smtClean="0"/>
              <a:t>Инструменты',</a:t>
            </a:r>
          </a:p>
          <a:p>
            <a:pPr marL="0" indent="0">
              <a:buNone/>
            </a:pPr>
            <a:r>
              <a:rPr lang="ru-RU" dirty="0" smtClean="0"/>
              <a:t>    </a:t>
            </a:r>
            <a:r>
              <a:rPr lang="en-US" dirty="0" smtClean="0"/>
              <a:t>image: 'https://picsum.photos/seed/vite3/400/250'</a:t>
            </a:r>
          </a:p>
          <a:p>
            <a:pPr marL="0" indent="0">
              <a:buNone/>
            </a:pPr>
            <a:r>
              <a:rPr lang="en-US" dirty="0" smtClean="0"/>
              <a:t>  },</a:t>
            </a:r>
          </a:p>
          <a:p>
            <a:pPr marL="0" indent="0">
              <a:buNone/>
            </a:pPr>
            <a:r>
              <a:rPr lang="en-US" dirty="0" smtClean="0"/>
              <a:t>  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7766757" y="2077156"/>
            <a:ext cx="3894666" cy="3781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{</a:t>
            </a:r>
          </a:p>
          <a:p>
            <a:r>
              <a:rPr lang="en-US" dirty="0" smtClean="0"/>
              <a:t>    id: 4,</a:t>
            </a:r>
          </a:p>
          <a:p>
            <a:r>
              <a:rPr lang="en-US" dirty="0" smtClean="0"/>
              <a:t>    title: 'CSS-</a:t>
            </a:r>
            <a:r>
              <a:rPr lang="ru-RU" dirty="0" smtClean="0"/>
              <a:t>модули в </a:t>
            </a:r>
            <a:r>
              <a:rPr lang="en-US" dirty="0" smtClean="0"/>
              <a:t>React',</a:t>
            </a:r>
          </a:p>
          <a:p>
            <a:r>
              <a:rPr lang="en-US" dirty="0" smtClean="0"/>
              <a:t>    excerpt: '</a:t>
            </a:r>
            <a:r>
              <a:rPr lang="ru-RU" dirty="0" smtClean="0"/>
              <a:t>Как изолировать стили компонентов и забыть о конфликтах классов.',</a:t>
            </a:r>
          </a:p>
          <a:p>
            <a:r>
              <a:rPr lang="ru-RU" dirty="0" smtClean="0"/>
              <a:t>    </a:t>
            </a:r>
            <a:r>
              <a:rPr lang="en-US" dirty="0" smtClean="0"/>
              <a:t>author: '</a:t>
            </a:r>
            <a:r>
              <a:rPr lang="ru-RU" dirty="0" smtClean="0"/>
              <a:t>Иван Петров',</a:t>
            </a:r>
          </a:p>
          <a:p>
            <a:r>
              <a:rPr lang="ru-RU" dirty="0" smtClean="0"/>
              <a:t>    </a:t>
            </a:r>
            <a:r>
              <a:rPr lang="en-US" dirty="0" smtClean="0"/>
              <a:t>date: '25 </a:t>
            </a:r>
            <a:r>
              <a:rPr lang="ru-RU" dirty="0" smtClean="0"/>
              <a:t>марта 2026',</a:t>
            </a:r>
          </a:p>
          <a:p>
            <a:r>
              <a:rPr lang="ru-RU" dirty="0" smtClean="0"/>
              <a:t>    </a:t>
            </a:r>
            <a:r>
              <a:rPr lang="en-US" dirty="0" smtClean="0"/>
              <a:t>tag: '</a:t>
            </a:r>
            <a:r>
              <a:rPr lang="ru-RU" dirty="0" smtClean="0"/>
              <a:t>Стили',</a:t>
            </a:r>
          </a:p>
          <a:p>
            <a:r>
              <a:rPr lang="ru-RU" dirty="0" smtClean="0"/>
              <a:t>    </a:t>
            </a:r>
            <a:r>
              <a:rPr lang="en-US" dirty="0" smtClean="0"/>
              <a:t>image: 'https://picsum.photos/seed/css4/400/250'</a:t>
            </a:r>
          </a:p>
          <a:p>
            <a:r>
              <a:rPr lang="en-US" dirty="0" smtClean="0"/>
              <a:t>  },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374333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4.4. Данные для карточек </a:t>
            </a:r>
            <a:r>
              <a:rPr lang="en-US" dirty="0" err="1" smtClean="0"/>
              <a:t>src</a:t>
            </a:r>
            <a:r>
              <a:rPr lang="en-US" dirty="0" smtClean="0"/>
              <a:t>/data/articles.js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3270956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{</a:t>
            </a:r>
          </a:p>
          <a:p>
            <a:pPr marL="0" indent="0">
              <a:buNone/>
            </a:pPr>
            <a:r>
              <a:rPr lang="en-US" dirty="0" smtClean="0"/>
              <a:t>    id: 5,</a:t>
            </a:r>
          </a:p>
          <a:p>
            <a:pPr marL="0" indent="0">
              <a:buNone/>
            </a:pPr>
            <a:r>
              <a:rPr lang="en-US" dirty="0" smtClean="0"/>
              <a:t>    title: 'Flexbox </a:t>
            </a:r>
            <a:r>
              <a:rPr lang="ru-RU" dirty="0" smtClean="0"/>
              <a:t>за 5 минут',</a:t>
            </a:r>
          </a:p>
          <a:p>
            <a:pPr marL="0" indent="0">
              <a:buNone/>
            </a:pPr>
            <a:r>
              <a:rPr lang="ru-RU" dirty="0" smtClean="0"/>
              <a:t>    </a:t>
            </a:r>
            <a:r>
              <a:rPr lang="en-US" dirty="0" smtClean="0"/>
              <a:t>excerpt: '</a:t>
            </a:r>
            <a:r>
              <a:rPr lang="ru-RU" dirty="0" smtClean="0"/>
              <a:t>Краткий </a:t>
            </a:r>
            <a:r>
              <a:rPr lang="ru-RU" dirty="0" err="1" smtClean="0"/>
              <a:t>гайд</a:t>
            </a:r>
            <a:r>
              <a:rPr lang="ru-RU" dirty="0" smtClean="0"/>
              <a:t> по </a:t>
            </a:r>
            <a:r>
              <a:rPr lang="en-US" dirty="0" smtClean="0"/>
              <a:t>Flexbox: </a:t>
            </a:r>
            <a:r>
              <a:rPr lang="ru-RU" dirty="0" smtClean="0"/>
              <a:t>основные свойства и типичные паттерны вёрстки.',</a:t>
            </a:r>
          </a:p>
          <a:p>
            <a:pPr marL="0" indent="0">
              <a:buNone/>
            </a:pPr>
            <a:r>
              <a:rPr lang="ru-RU" dirty="0" smtClean="0"/>
              <a:t>    </a:t>
            </a:r>
            <a:r>
              <a:rPr lang="en-US" dirty="0" smtClean="0"/>
              <a:t>author: '</a:t>
            </a:r>
            <a:r>
              <a:rPr lang="ru-RU" dirty="0" smtClean="0"/>
              <a:t>Ольга Сидорова',</a:t>
            </a:r>
          </a:p>
          <a:p>
            <a:pPr marL="0" indent="0">
              <a:buNone/>
            </a:pPr>
            <a:r>
              <a:rPr lang="ru-RU" dirty="0" smtClean="0"/>
              <a:t>    </a:t>
            </a:r>
            <a:r>
              <a:rPr lang="en-US" dirty="0" smtClean="0"/>
              <a:t>date: '30 </a:t>
            </a:r>
            <a:r>
              <a:rPr lang="ru-RU" dirty="0" smtClean="0"/>
              <a:t>марта 2026',</a:t>
            </a:r>
          </a:p>
          <a:p>
            <a:pPr marL="0" indent="0">
              <a:buNone/>
            </a:pPr>
            <a:r>
              <a:rPr lang="ru-RU" dirty="0" smtClean="0"/>
              <a:t>    </a:t>
            </a:r>
            <a:r>
              <a:rPr lang="en-US" dirty="0" smtClean="0"/>
              <a:t>tag: '</a:t>
            </a:r>
            <a:r>
              <a:rPr lang="ru-RU" dirty="0" smtClean="0"/>
              <a:t>Вёрстка',</a:t>
            </a:r>
          </a:p>
          <a:p>
            <a:pPr marL="0" indent="0">
              <a:buNone/>
            </a:pPr>
            <a:r>
              <a:rPr lang="ru-RU" dirty="0" smtClean="0"/>
              <a:t>    </a:t>
            </a:r>
            <a:r>
              <a:rPr lang="en-US" dirty="0" smtClean="0"/>
              <a:t>image: 'https://picsum.photos/seed/flex5/400/250'</a:t>
            </a:r>
          </a:p>
          <a:p>
            <a:pPr marL="0" indent="0">
              <a:buNone/>
            </a:pPr>
            <a:r>
              <a:rPr lang="en-US" dirty="0" smtClean="0"/>
              <a:t>  },</a:t>
            </a:r>
          </a:p>
          <a:p>
            <a:pPr marL="0" indent="0">
              <a:buNone/>
            </a:pPr>
            <a:r>
              <a:rPr lang="en-US" dirty="0" smtClean="0"/>
              <a:t>  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7089422" y="1825625"/>
            <a:ext cx="371404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{</a:t>
            </a:r>
          </a:p>
          <a:p>
            <a:r>
              <a:rPr lang="en-US" dirty="0" smtClean="0"/>
              <a:t>    id: 6,</a:t>
            </a:r>
          </a:p>
          <a:p>
            <a:r>
              <a:rPr lang="en-US" dirty="0" smtClean="0"/>
              <a:t>    title: '</a:t>
            </a:r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ru-RU" dirty="0" smtClean="0"/>
              <a:t>для </a:t>
            </a:r>
            <a:r>
              <a:rPr lang="ru-RU" dirty="0" err="1" smtClean="0"/>
              <a:t>фронтендера</a:t>
            </a:r>
            <a:r>
              <a:rPr lang="ru-RU" dirty="0" smtClean="0"/>
              <a:t>',</a:t>
            </a:r>
          </a:p>
          <a:p>
            <a:r>
              <a:rPr lang="ru-RU" dirty="0" smtClean="0"/>
              <a:t>    </a:t>
            </a:r>
            <a:r>
              <a:rPr lang="en-US" dirty="0" smtClean="0"/>
              <a:t>excerpt: '</a:t>
            </a:r>
            <a:r>
              <a:rPr lang="ru-RU" dirty="0" smtClean="0"/>
              <a:t>Базовые команды </a:t>
            </a:r>
            <a:r>
              <a:rPr lang="en-US" dirty="0" err="1" smtClean="0"/>
              <a:t>Git</a:t>
            </a:r>
            <a:r>
              <a:rPr lang="en-US" dirty="0" smtClean="0"/>
              <a:t>, </a:t>
            </a:r>
            <a:r>
              <a:rPr lang="ru-RU" dirty="0" smtClean="0"/>
              <a:t>ветвление и публикация проекта на </a:t>
            </a:r>
            <a:r>
              <a:rPr lang="en-US" dirty="0" smtClean="0"/>
              <a:t>GitHub.',</a:t>
            </a:r>
          </a:p>
          <a:p>
            <a:r>
              <a:rPr lang="en-US" dirty="0" smtClean="0"/>
              <a:t>    author: '</a:t>
            </a:r>
            <a:r>
              <a:rPr lang="ru-RU" dirty="0" smtClean="0"/>
              <a:t>Дмитрий Волков',</a:t>
            </a:r>
          </a:p>
          <a:p>
            <a:r>
              <a:rPr lang="ru-RU" dirty="0" smtClean="0"/>
              <a:t>    </a:t>
            </a:r>
            <a:r>
              <a:rPr lang="en-US" dirty="0" smtClean="0"/>
              <a:t>date: '2 </a:t>
            </a:r>
            <a:r>
              <a:rPr lang="ru-RU" dirty="0" smtClean="0"/>
              <a:t>апреля 2026',</a:t>
            </a:r>
          </a:p>
          <a:p>
            <a:r>
              <a:rPr lang="ru-RU" dirty="0" smtClean="0"/>
              <a:t>    </a:t>
            </a:r>
            <a:r>
              <a:rPr lang="en-US" dirty="0" smtClean="0"/>
              <a:t>tag: '</a:t>
            </a:r>
            <a:r>
              <a:rPr lang="en-US" dirty="0" err="1" smtClean="0"/>
              <a:t>Git</a:t>
            </a:r>
            <a:r>
              <a:rPr lang="en-US" dirty="0" smtClean="0"/>
              <a:t>',</a:t>
            </a:r>
          </a:p>
          <a:p>
            <a:r>
              <a:rPr lang="en-US" dirty="0" smtClean="0"/>
              <a:t>    image: 'https://picsum.photos/seed/git6/400/250'</a:t>
            </a:r>
          </a:p>
          <a:p>
            <a:r>
              <a:rPr lang="en-US" dirty="0" smtClean="0"/>
              <a:t>  }</a:t>
            </a:r>
          </a:p>
          <a:p>
            <a:r>
              <a:rPr lang="en-US" dirty="0" smtClean="0"/>
              <a:t>];</a:t>
            </a:r>
            <a:endParaRPr lang="ru-RU" dirty="0" smtClean="0"/>
          </a:p>
          <a:p>
            <a:r>
              <a:rPr lang="en-US" dirty="0"/>
              <a:t>export default articles;</a:t>
            </a:r>
          </a:p>
        </p:txBody>
      </p:sp>
    </p:spTree>
    <p:extLst>
      <p:ext uri="{BB962C8B-B14F-4D97-AF65-F5344CB8AC3E}">
        <p14:creationId xmlns="" xmlns:p14="http://schemas.microsoft.com/office/powerpoint/2010/main" val="300687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</a:t>
            </a:r>
            <a:r>
              <a:rPr lang="ru-RU" dirty="0" smtClean="0"/>
              <a:t>5</a:t>
            </a:r>
            <a:r>
              <a:rPr lang="en-US" dirty="0" smtClean="0"/>
              <a:t>. </a:t>
            </a:r>
            <a:r>
              <a:rPr lang="en-US" dirty="0" err="1" smtClean="0"/>
              <a:t>ArticleCard</a:t>
            </a:r>
            <a:r>
              <a:rPr lang="en-US" dirty="0" smtClean="0"/>
              <a:t> — </a:t>
            </a:r>
            <a:r>
              <a:rPr lang="ru-RU" dirty="0" smtClean="0"/>
              <a:t>карточка статьи</a:t>
            </a:r>
            <a:br>
              <a:rPr lang="ru-RU" dirty="0" smtClean="0"/>
            </a:br>
            <a:r>
              <a:rPr lang="en-US" dirty="0" err="1" smtClean="0"/>
              <a:t>src</a:t>
            </a:r>
            <a:r>
              <a:rPr lang="en-US" dirty="0" smtClean="0"/>
              <a:t>/components/</a:t>
            </a:r>
            <a:r>
              <a:rPr lang="en-US" dirty="0" err="1" smtClean="0"/>
              <a:t>ArticleCard</a:t>
            </a:r>
            <a:r>
              <a:rPr lang="en-US" dirty="0" smtClean="0"/>
              <a:t>/</a:t>
            </a:r>
            <a:r>
              <a:rPr lang="en-US" dirty="0" err="1" smtClean="0"/>
              <a:t>ArticleCard.jsx</a:t>
            </a:r>
            <a:r>
              <a:rPr lang="en-US" dirty="0" smtClean="0"/>
              <a:t/>
            </a:r>
            <a:br>
              <a:rPr lang="en-US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7183" y="1480749"/>
            <a:ext cx="10515600" cy="5057422"/>
          </a:xfrm>
        </p:spPr>
        <p:txBody>
          <a:bodyPr>
            <a:normAutofit fontScale="625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import styles from './ArticleCard.module.css';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function </a:t>
            </a:r>
            <a:r>
              <a:rPr lang="en-US" dirty="0" err="1" smtClean="0"/>
              <a:t>ArticleCard</a:t>
            </a:r>
            <a:r>
              <a:rPr lang="en-US" dirty="0" smtClean="0"/>
              <a:t>({ article })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</a:t>
            </a:r>
            <a:r>
              <a:rPr lang="en-US" dirty="0" err="1" smtClean="0"/>
              <a:t>const</a:t>
            </a:r>
            <a:r>
              <a:rPr lang="en-US" dirty="0" smtClean="0"/>
              <a:t> { title, excerpt, author, date, tag, image } = article;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return (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&lt;article </a:t>
            </a:r>
            <a:r>
              <a:rPr lang="en-US" dirty="0" err="1" smtClean="0"/>
              <a:t>className</a:t>
            </a:r>
            <a:r>
              <a:rPr lang="en-US" dirty="0" smtClean="0"/>
              <a:t>={</a:t>
            </a:r>
            <a:r>
              <a:rPr lang="en-US" dirty="0" err="1" smtClean="0"/>
              <a:t>styles.card</a:t>
            </a:r>
            <a:r>
              <a:rPr lang="en-US" dirty="0" smtClean="0"/>
              <a:t>}&gt;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&lt;</a:t>
            </a:r>
            <a:r>
              <a:rPr lang="en-US" dirty="0" err="1" smtClean="0"/>
              <a:t>img</a:t>
            </a:r>
            <a:r>
              <a:rPr lang="en-US" dirty="0" smtClean="0"/>
              <a:t> </a:t>
            </a:r>
            <a:r>
              <a:rPr lang="en-US" dirty="0" err="1" smtClean="0"/>
              <a:t>src</a:t>
            </a:r>
            <a:r>
              <a:rPr lang="en-US" dirty="0" smtClean="0"/>
              <a:t>={image} alt={title} </a:t>
            </a:r>
            <a:r>
              <a:rPr lang="en-US" dirty="0" err="1" smtClean="0"/>
              <a:t>className</a:t>
            </a:r>
            <a:r>
              <a:rPr lang="en-US" dirty="0" smtClean="0"/>
              <a:t>={</a:t>
            </a:r>
            <a:r>
              <a:rPr lang="en-US" dirty="0" err="1" smtClean="0"/>
              <a:t>styles.image</a:t>
            </a:r>
            <a:r>
              <a:rPr lang="en-US" dirty="0" smtClean="0"/>
              <a:t>} /&gt;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&lt;div </a:t>
            </a:r>
            <a:r>
              <a:rPr lang="en-US" dirty="0" err="1" smtClean="0"/>
              <a:t>className</a:t>
            </a:r>
            <a:r>
              <a:rPr lang="en-US" dirty="0" smtClean="0"/>
              <a:t>={</a:t>
            </a:r>
            <a:r>
              <a:rPr lang="en-US" dirty="0" err="1" smtClean="0"/>
              <a:t>styles.body</a:t>
            </a:r>
            <a:r>
              <a:rPr lang="en-US" dirty="0" smtClean="0"/>
              <a:t>}&gt;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  &lt;span </a:t>
            </a:r>
            <a:r>
              <a:rPr lang="en-US" dirty="0" err="1" smtClean="0"/>
              <a:t>className</a:t>
            </a:r>
            <a:r>
              <a:rPr lang="en-US" dirty="0" smtClean="0"/>
              <a:t>={</a:t>
            </a:r>
            <a:r>
              <a:rPr lang="en-US" dirty="0" err="1" smtClean="0"/>
              <a:t>styles.tag</a:t>
            </a:r>
            <a:r>
              <a:rPr lang="en-US" dirty="0" smtClean="0"/>
              <a:t>}&gt;{tag}&lt;/span&gt;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  &lt;h2 </a:t>
            </a:r>
            <a:r>
              <a:rPr lang="en-US" dirty="0" err="1" smtClean="0"/>
              <a:t>className</a:t>
            </a:r>
            <a:r>
              <a:rPr lang="en-US" dirty="0" smtClean="0"/>
              <a:t>={</a:t>
            </a:r>
            <a:r>
              <a:rPr lang="en-US" dirty="0" err="1" smtClean="0"/>
              <a:t>styles.title</a:t>
            </a:r>
            <a:r>
              <a:rPr lang="en-US" dirty="0" smtClean="0"/>
              <a:t>}&gt;{title}&lt;/h2&gt;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  &lt;p </a:t>
            </a:r>
            <a:r>
              <a:rPr lang="en-US" dirty="0" err="1" smtClean="0"/>
              <a:t>className</a:t>
            </a:r>
            <a:r>
              <a:rPr lang="en-US" dirty="0" smtClean="0"/>
              <a:t>={</a:t>
            </a:r>
            <a:r>
              <a:rPr lang="en-US" dirty="0" err="1" smtClean="0"/>
              <a:t>styles.excerpt</a:t>
            </a:r>
            <a:r>
              <a:rPr lang="en-US" dirty="0" smtClean="0"/>
              <a:t>}&gt;{excerpt}&lt;/p&gt;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  &lt;footer </a:t>
            </a:r>
            <a:r>
              <a:rPr lang="en-US" dirty="0" err="1" smtClean="0"/>
              <a:t>className</a:t>
            </a:r>
            <a:r>
              <a:rPr lang="en-US" dirty="0" smtClean="0"/>
              <a:t>={</a:t>
            </a:r>
            <a:r>
              <a:rPr lang="en-US" dirty="0" err="1" smtClean="0"/>
              <a:t>styles.footer</a:t>
            </a:r>
            <a:r>
              <a:rPr lang="en-US" dirty="0" smtClean="0"/>
              <a:t>}&gt;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    &lt;span </a:t>
            </a:r>
            <a:r>
              <a:rPr lang="en-US" dirty="0" err="1" smtClean="0"/>
              <a:t>className</a:t>
            </a:r>
            <a:r>
              <a:rPr lang="en-US" dirty="0" smtClean="0"/>
              <a:t>={</a:t>
            </a:r>
            <a:r>
              <a:rPr lang="en-US" dirty="0" err="1" smtClean="0"/>
              <a:t>styles.author</a:t>
            </a:r>
            <a:r>
              <a:rPr lang="en-US" dirty="0" smtClean="0"/>
              <a:t>}&gt;{author}&lt;/span&gt;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    &lt;span </a:t>
            </a:r>
            <a:r>
              <a:rPr lang="en-US" dirty="0" err="1" smtClean="0"/>
              <a:t>className</a:t>
            </a:r>
            <a:r>
              <a:rPr lang="en-US" dirty="0" smtClean="0"/>
              <a:t>={</a:t>
            </a:r>
            <a:r>
              <a:rPr lang="en-US" dirty="0" err="1" smtClean="0"/>
              <a:t>styles.date</a:t>
            </a:r>
            <a:r>
              <a:rPr lang="en-US" dirty="0" smtClean="0"/>
              <a:t>}&gt;{date}&lt;/span&gt;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  &lt;/footer&gt;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&lt;/div&gt;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&lt;/article&gt;  );</a:t>
            </a:r>
            <a:endParaRPr lang="ru-RU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export default </a:t>
            </a:r>
            <a:r>
              <a:rPr lang="en-US" dirty="0" err="1" smtClean="0"/>
              <a:t>ArticleCard</a:t>
            </a:r>
            <a:r>
              <a:rPr lang="en-US" dirty="0" smtClean="0"/>
              <a:t>;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7014995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3355" y="8909"/>
            <a:ext cx="10515600" cy="1325563"/>
          </a:xfrm>
        </p:spPr>
        <p:txBody>
          <a:bodyPr>
            <a:normAutofit/>
          </a:bodyPr>
          <a:lstStyle/>
          <a:p>
            <a:r>
              <a:rPr lang="en-US" sz="3100" dirty="0" err="1" smtClean="0"/>
              <a:t>src</a:t>
            </a:r>
            <a:r>
              <a:rPr lang="en-US" sz="3100" dirty="0" smtClean="0"/>
              <a:t>/components/</a:t>
            </a:r>
            <a:r>
              <a:rPr lang="en-US" sz="3100" dirty="0" err="1" smtClean="0"/>
              <a:t>ArticleCard</a:t>
            </a:r>
            <a:r>
              <a:rPr lang="en-US" sz="3100" dirty="0" smtClean="0"/>
              <a:t>/ArticleCard.module.css</a:t>
            </a:r>
            <a:r>
              <a:rPr lang="en-US" dirty="0" smtClean="0"/>
              <a:t/>
            </a:r>
            <a:br>
              <a:rPr lang="en-US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5422" y="1016000"/>
            <a:ext cx="3252608" cy="5712177"/>
          </a:xfrm>
        </p:spPr>
        <p:txBody>
          <a:bodyPr>
            <a:normAutofit fontScale="400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b="1" dirty="0" smtClean="0"/>
              <a:t>.card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b="1" dirty="0" smtClean="0"/>
              <a:t>  background: #</a:t>
            </a:r>
            <a:r>
              <a:rPr lang="en-US" b="1" dirty="0" err="1" smtClean="0"/>
              <a:t>fff</a:t>
            </a:r>
            <a:r>
              <a:rPr lang="en-US" b="1" dirty="0" smtClean="0"/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b="1" dirty="0" smtClean="0"/>
              <a:t>  border-radius: 12px;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b="1" dirty="0" smtClean="0"/>
              <a:t>  overflow: hidden;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b="1" dirty="0" smtClean="0"/>
              <a:t>  box-shadow: 0 2px 8px </a:t>
            </a:r>
            <a:r>
              <a:rPr lang="en-US" b="1" dirty="0" err="1" smtClean="0"/>
              <a:t>rgba</a:t>
            </a:r>
            <a:r>
              <a:rPr lang="en-US" b="1" dirty="0" smtClean="0"/>
              <a:t>(0, 0, 0, 0.1);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b="1" dirty="0" smtClean="0"/>
              <a:t>  display: flex;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b="1" dirty="0" smtClean="0"/>
              <a:t>  flex-direction: column;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b="1" dirty="0" smtClean="0"/>
              <a:t>  transition: transform 0.2s, box-shadow 0.2s;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b="1" dirty="0" smtClean="0"/>
              <a:t>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b="1" dirty="0" smtClean="0"/>
              <a:t>.</a:t>
            </a:r>
            <a:r>
              <a:rPr lang="en-US" b="1" dirty="0" err="1" smtClean="0"/>
              <a:t>card:hover</a:t>
            </a:r>
            <a:r>
              <a:rPr lang="en-US" b="1" dirty="0" smtClean="0"/>
              <a:t>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b="1" dirty="0" smtClean="0"/>
              <a:t>  transform: </a:t>
            </a:r>
            <a:r>
              <a:rPr lang="en-US" b="1" dirty="0" err="1" smtClean="0"/>
              <a:t>translateY</a:t>
            </a:r>
            <a:r>
              <a:rPr lang="en-US" b="1" dirty="0" smtClean="0"/>
              <a:t>(-4px);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b="1" dirty="0" smtClean="0"/>
              <a:t>  box-shadow: 0 8px 24px </a:t>
            </a:r>
            <a:r>
              <a:rPr lang="en-US" b="1" dirty="0" err="1" smtClean="0"/>
              <a:t>rgba</a:t>
            </a:r>
            <a:r>
              <a:rPr lang="en-US" b="1" dirty="0" smtClean="0"/>
              <a:t>(0, 0, 0, 0.15);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b="1" dirty="0" smtClean="0"/>
              <a:t>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b="1" dirty="0" smtClean="0"/>
              <a:t>.image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b="1" dirty="0" smtClean="0"/>
              <a:t>  width: 100%;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b="1" dirty="0" smtClean="0"/>
              <a:t>  height: 180px;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b="1" dirty="0" smtClean="0"/>
              <a:t>  object-fit: cover;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b="1" dirty="0" smtClean="0"/>
              <a:t>  display: block;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b="1" dirty="0" smtClean="0"/>
              <a:t>}</a:t>
            </a:r>
            <a:endParaRPr lang="ru-RU" b="1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b="1" dirty="0" smtClean="0"/>
              <a:t>.body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b="1" dirty="0" smtClean="0"/>
              <a:t>  padding: 1.25rem;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b="1" dirty="0" smtClean="0"/>
              <a:t>  display: flex;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b="1" dirty="0" smtClean="0"/>
              <a:t>  flex-direction: column;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b="1" dirty="0" smtClean="0"/>
              <a:t>  gap: 0.5rem;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b="1" dirty="0" smtClean="0"/>
              <a:t>  flex: 1;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b="1" dirty="0" smtClean="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05954" y="671691"/>
            <a:ext cx="362373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.tag {</a:t>
            </a:r>
          </a:p>
          <a:p>
            <a:r>
              <a:rPr lang="en-US" dirty="0" smtClean="0"/>
              <a:t>  display: inline-block;</a:t>
            </a:r>
          </a:p>
          <a:p>
            <a:r>
              <a:rPr lang="en-US" dirty="0" smtClean="0"/>
              <a:t>  background: #ede9fe;</a:t>
            </a:r>
          </a:p>
          <a:p>
            <a:r>
              <a:rPr lang="en-US" dirty="0" smtClean="0"/>
              <a:t>  color: #6d28d9;</a:t>
            </a:r>
          </a:p>
          <a:p>
            <a:r>
              <a:rPr lang="en-US" dirty="0" smtClean="0"/>
              <a:t>  font-size: 0.75rem;</a:t>
            </a:r>
          </a:p>
          <a:p>
            <a:r>
              <a:rPr lang="en-US" dirty="0" smtClean="0"/>
              <a:t>  font-weight: 600;</a:t>
            </a:r>
          </a:p>
          <a:p>
            <a:r>
              <a:rPr lang="en-US" dirty="0" smtClean="0"/>
              <a:t>  padding: 0.25rem 0.75rem;</a:t>
            </a:r>
          </a:p>
          <a:p>
            <a:r>
              <a:rPr lang="en-US" dirty="0" smtClean="0"/>
              <a:t>  border-radius: 999px;</a:t>
            </a:r>
          </a:p>
          <a:p>
            <a:r>
              <a:rPr lang="en-US" dirty="0" smtClean="0"/>
              <a:t>  width: fit-content;</a:t>
            </a:r>
          </a:p>
          <a:p>
            <a:r>
              <a:rPr lang="en-US" dirty="0" smtClean="0"/>
              <a:t>}</a:t>
            </a:r>
          </a:p>
          <a:p>
            <a:endParaRPr lang="en-US" dirty="0" smtClean="0"/>
          </a:p>
          <a:p>
            <a:r>
              <a:rPr lang="en-US" dirty="0" smtClean="0"/>
              <a:t>.title {</a:t>
            </a:r>
          </a:p>
          <a:p>
            <a:r>
              <a:rPr lang="en-US" dirty="0" smtClean="0"/>
              <a:t>  font-size: 1.15rem;</a:t>
            </a:r>
          </a:p>
          <a:p>
            <a:r>
              <a:rPr lang="en-US" dirty="0" smtClean="0"/>
              <a:t>  line-height: 1.4;</a:t>
            </a:r>
          </a:p>
          <a:p>
            <a:r>
              <a:rPr lang="en-US" dirty="0" smtClean="0"/>
              <a:t>}</a:t>
            </a:r>
          </a:p>
          <a:p>
            <a:endParaRPr lang="en-US" dirty="0" smtClean="0"/>
          </a:p>
          <a:p>
            <a:r>
              <a:rPr lang="en-US" dirty="0" smtClean="0"/>
              <a:t>.excerpt {</a:t>
            </a:r>
          </a:p>
          <a:p>
            <a:r>
              <a:rPr lang="en-US" dirty="0" smtClean="0"/>
              <a:t>  color: #666;</a:t>
            </a:r>
          </a:p>
          <a:p>
            <a:r>
              <a:rPr lang="en-US" dirty="0" smtClean="0"/>
              <a:t>  font-size: 0.9rem;</a:t>
            </a:r>
          </a:p>
          <a:p>
            <a:r>
              <a:rPr lang="en-US" dirty="0" smtClean="0"/>
              <a:t>  line-height: 1.5;</a:t>
            </a:r>
          </a:p>
          <a:p>
            <a:r>
              <a:rPr lang="en-US" dirty="0" smtClean="0"/>
              <a:t>  flex: 1;</a:t>
            </a:r>
          </a:p>
          <a:p>
            <a:r>
              <a:rPr lang="en-US" dirty="0" smtClean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6897" y="925335"/>
            <a:ext cx="3014134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.footer {</a:t>
            </a:r>
          </a:p>
          <a:p>
            <a:r>
              <a:rPr lang="en-US" dirty="0" smtClean="0"/>
              <a:t>  display: flex;</a:t>
            </a:r>
          </a:p>
          <a:p>
            <a:r>
              <a:rPr lang="en-US" dirty="0" smtClean="0"/>
              <a:t>  </a:t>
            </a:r>
            <a:r>
              <a:rPr lang="en-US" sz="4400" dirty="0" smtClean="0">
                <a:latin typeface="+mj-lt"/>
                <a:ea typeface="+mj-ea"/>
                <a:cs typeface="+mj-cs"/>
              </a:rPr>
              <a:t>justify-content</a:t>
            </a:r>
            <a:r>
              <a:rPr lang="en-US" dirty="0" smtClean="0"/>
              <a:t>: space-between;</a:t>
            </a:r>
          </a:p>
          <a:p>
            <a:r>
              <a:rPr lang="en-US" dirty="0" smtClean="0"/>
              <a:t>  align-items: center;</a:t>
            </a:r>
          </a:p>
          <a:p>
            <a:r>
              <a:rPr lang="en-US" dirty="0" smtClean="0"/>
              <a:t>  padding-top: 0.75rem;</a:t>
            </a:r>
          </a:p>
          <a:p>
            <a:r>
              <a:rPr lang="en-US" dirty="0" smtClean="0"/>
              <a:t>  border-top: 1px solid #</a:t>
            </a:r>
            <a:r>
              <a:rPr lang="en-US" dirty="0" err="1" smtClean="0"/>
              <a:t>eee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font-size: 0.8rem;</a:t>
            </a:r>
          </a:p>
          <a:p>
            <a:r>
              <a:rPr lang="en-US" dirty="0" smtClean="0"/>
              <a:t>  color: #999;</a:t>
            </a:r>
          </a:p>
          <a:p>
            <a:r>
              <a:rPr lang="en-US" dirty="0" smtClean="0"/>
              <a:t>}</a:t>
            </a:r>
          </a:p>
          <a:p>
            <a:endParaRPr lang="en-US" dirty="0" smtClean="0"/>
          </a:p>
          <a:p>
            <a:r>
              <a:rPr lang="en-US" dirty="0" smtClean="0"/>
              <a:t>.author {</a:t>
            </a:r>
          </a:p>
          <a:p>
            <a:r>
              <a:rPr lang="en-US" dirty="0" smtClean="0"/>
              <a:t>  font-weight: 600;</a:t>
            </a:r>
          </a:p>
          <a:p>
            <a:r>
              <a:rPr lang="en-US" dirty="0" smtClean="0"/>
              <a:t>  color: #555;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6945105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</a:t>
            </a:r>
            <a:r>
              <a:rPr lang="ru-RU" dirty="0" smtClean="0"/>
              <a:t>6</a:t>
            </a:r>
            <a:r>
              <a:rPr lang="en-US" dirty="0" smtClean="0"/>
              <a:t>. </a:t>
            </a:r>
            <a:r>
              <a:rPr lang="en-US" dirty="0" err="1" smtClean="0"/>
              <a:t>ArticleList</a:t>
            </a:r>
            <a:r>
              <a:rPr lang="en-US" dirty="0" smtClean="0"/>
              <a:t> — </a:t>
            </a:r>
            <a:r>
              <a:rPr lang="ru-RU" dirty="0" smtClean="0"/>
              <a:t>сетка карточек на </a:t>
            </a:r>
            <a:r>
              <a:rPr lang="en-US" dirty="0" smtClean="0"/>
              <a:t>Flexbox</a:t>
            </a:r>
            <a:br>
              <a:rPr lang="en-US" dirty="0" smtClean="0"/>
            </a:br>
            <a:r>
              <a:rPr lang="en-US" dirty="0" err="1" smtClean="0"/>
              <a:t>src</a:t>
            </a:r>
            <a:r>
              <a:rPr lang="en-US" dirty="0" smtClean="0"/>
              <a:t>/components/</a:t>
            </a:r>
            <a:r>
              <a:rPr lang="en-US" dirty="0" err="1" smtClean="0"/>
              <a:t>ArticleList</a:t>
            </a:r>
            <a:r>
              <a:rPr lang="en-US" dirty="0" smtClean="0"/>
              <a:t>/</a:t>
            </a:r>
            <a:r>
              <a:rPr lang="en-US" dirty="0" err="1" smtClean="0"/>
              <a:t>ArticleList.jsx</a:t>
            </a:r>
            <a:r>
              <a:rPr lang="en-US" dirty="0" smtClean="0"/>
              <a:t/>
            </a:r>
            <a:br>
              <a:rPr lang="en-US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48266" y="1286933"/>
            <a:ext cx="10405533" cy="4890030"/>
          </a:xfrm>
        </p:spPr>
        <p:txBody>
          <a:bodyPr>
            <a:normAutofit fontScale="70000" lnSpcReduction="20000"/>
          </a:bodyPr>
          <a:lstStyle/>
          <a:p>
            <a:endParaRPr lang="en-US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import styles from './ArticleList.module.css';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ArticleCard</a:t>
            </a:r>
            <a:r>
              <a:rPr lang="en-US" dirty="0" smtClean="0"/>
              <a:t> from '../</a:t>
            </a:r>
            <a:r>
              <a:rPr lang="en-US" dirty="0" err="1" smtClean="0"/>
              <a:t>ArticleCard</a:t>
            </a:r>
            <a:r>
              <a:rPr lang="en-US" dirty="0" smtClean="0"/>
              <a:t>/</a:t>
            </a:r>
            <a:r>
              <a:rPr lang="en-US" dirty="0" err="1" smtClean="0"/>
              <a:t>ArticleCard</a:t>
            </a:r>
            <a:r>
              <a:rPr lang="en-US" dirty="0" smtClean="0"/>
              <a:t>';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import articles from '../../data/articles';</a:t>
            </a:r>
          </a:p>
          <a:p>
            <a:pPr marL="0" indent="0">
              <a:spcBef>
                <a:spcPts val="600"/>
              </a:spcBef>
              <a:buNone/>
            </a:pPr>
            <a:endParaRPr lang="en-US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function </a:t>
            </a:r>
            <a:r>
              <a:rPr lang="en-US" dirty="0" err="1" smtClean="0"/>
              <a:t>ArticleList</a:t>
            </a:r>
            <a:r>
              <a:rPr lang="en-US" dirty="0" smtClean="0"/>
              <a:t>()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return (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&lt;section </a:t>
            </a:r>
            <a:r>
              <a:rPr lang="en-US" dirty="0" err="1" smtClean="0"/>
              <a:t>className</a:t>
            </a:r>
            <a:r>
              <a:rPr lang="en-US" dirty="0" smtClean="0"/>
              <a:t>={</a:t>
            </a:r>
            <a:r>
              <a:rPr lang="en-US" dirty="0" err="1" smtClean="0"/>
              <a:t>styles.list</a:t>
            </a:r>
            <a:r>
              <a:rPr lang="en-US" dirty="0" smtClean="0"/>
              <a:t>}&gt;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{</a:t>
            </a:r>
            <a:r>
              <a:rPr lang="en-US" dirty="0" err="1" smtClean="0"/>
              <a:t>articles.map</a:t>
            </a:r>
            <a:r>
              <a:rPr lang="en-US" dirty="0" smtClean="0"/>
              <a:t>(article =&gt; (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  &lt;</a:t>
            </a:r>
            <a:r>
              <a:rPr lang="en-US" dirty="0" err="1" smtClean="0"/>
              <a:t>ArticleCard</a:t>
            </a:r>
            <a:r>
              <a:rPr lang="en-US" dirty="0" smtClean="0"/>
              <a:t> key={article.id} article={article} /&gt;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))}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&lt;/section&gt;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export default </a:t>
            </a:r>
            <a:r>
              <a:rPr lang="en-US" dirty="0" err="1" smtClean="0"/>
              <a:t>ArticleList</a:t>
            </a:r>
            <a:r>
              <a:rPr lang="en-US" dirty="0" smtClean="0"/>
              <a:t>;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1036812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src</a:t>
            </a:r>
            <a:r>
              <a:rPr lang="en-US" dirty="0" smtClean="0"/>
              <a:t>/components/</a:t>
            </a:r>
            <a:r>
              <a:rPr lang="en-US" dirty="0" err="1" smtClean="0"/>
              <a:t>ArticleList</a:t>
            </a:r>
            <a:r>
              <a:rPr lang="en-US" dirty="0" smtClean="0"/>
              <a:t>/ArticleList.module.css</a:t>
            </a:r>
            <a:br>
              <a:rPr lang="en-US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7183" y="1362917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 smtClean="0"/>
              <a:t>.list {</a:t>
            </a:r>
          </a:p>
          <a:p>
            <a:pPr marL="0" indent="0">
              <a:buNone/>
            </a:pPr>
            <a:r>
              <a:rPr lang="en-US" dirty="0" smtClean="0"/>
              <a:t>  display: flex;</a:t>
            </a:r>
          </a:p>
          <a:p>
            <a:pPr marL="0" indent="0">
              <a:buNone/>
            </a:pPr>
            <a:r>
              <a:rPr lang="en-US" dirty="0" smtClean="0"/>
              <a:t>  flex-wrap: wrap;</a:t>
            </a:r>
          </a:p>
          <a:p>
            <a:pPr marL="0" indent="0">
              <a:buNone/>
            </a:pPr>
            <a:r>
              <a:rPr lang="en-US" dirty="0" smtClean="0"/>
              <a:t>  gap: 1.5rem;</a:t>
            </a:r>
          </a:p>
          <a:p>
            <a:pPr marL="0" indent="0">
              <a:buNone/>
            </a:pPr>
            <a:r>
              <a:rPr lang="en-US" dirty="0" smtClean="0"/>
              <a:t>  max-width: 1000px;</a:t>
            </a:r>
          </a:p>
          <a:p>
            <a:pPr marL="0" indent="0">
              <a:buNone/>
            </a:pPr>
            <a:r>
              <a:rPr lang="en-US" dirty="0" smtClean="0"/>
              <a:t>  margin: 2rem auto;</a:t>
            </a:r>
          </a:p>
          <a:p>
            <a:pPr marL="0" indent="0">
              <a:buNone/>
            </a:pPr>
            <a:r>
              <a:rPr lang="en-US" dirty="0" smtClean="0"/>
              <a:t>  padding: 0 1rem;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/* 3 </a:t>
            </a:r>
            <a:r>
              <a:rPr lang="ru-RU" dirty="0" smtClean="0"/>
              <a:t>карточки в ряд на широких экранах */</a:t>
            </a:r>
          </a:p>
          <a:p>
            <a:pPr marL="0" indent="0">
              <a:buNone/>
            </a:pPr>
            <a:r>
              <a:rPr lang="ru-RU" dirty="0" smtClean="0"/>
              <a:t>.</a:t>
            </a:r>
            <a:r>
              <a:rPr lang="en-US" dirty="0" smtClean="0"/>
              <a:t>list &gt; * {</a:t>
            </a:r>
          </a:p>
          <a:p>
            <a:pPr marL="0" indent="0">
              <a:buNone/>
            </a:pPr>
            <a:r>
              <a:rPr lang="en-US" dirty="0" smtClean="0"/>
              <a:t>  flex: 1 1 </a:t>
            </a:r>
            <a:r>
              <a:rPr lang="en-US" dirty="0" err="1" smtClean="0"/>
              <a:t>calc</a:t>
            </a:r>
            <a:r>
              <a:rPr lang="en-US" dirty="0" smtClean="0"/>
              <a:t>(33.333% - 1.5rem);</a:t>
            </a:r>
          </a:p>
          <a:p>
            <a:pPr marL="0" indent="0">
              <a:buNone/>
            </a:pPr>
            <a:r>
              <a:rPr lang="en-US" dirty="0" smtClean="0"/>
              <a:t>  min-width: 280px;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19044" y="1501422"/>
            <a:ext cx="573475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 smtClean="0"/>
          </a:p>
          <a:p>
            <a:r>
              <a:rPr lang="ru-RU" dirty="0" smtClean="0"/>
              <a:t>/* 2 карточки на средних */</a:t>
            </a:r>
          </a:p>
          <a:p>
            <a:r>
              <a:rPr lang="ru-RU" dirty="0" smtClean="0"/>
              <a:t>@</a:t>
            </a:r>
            <a:r>
              <a:rPr lang="en-US" dirty="0" smtClean="0"/>
              <a:t>media (max-width: 768px) {</a:t>
            </a:r>
          </a:p>
          <a:p>
            <a:r>
              <a:rPr lang="en-US" dirty="0" smtClean="0"/>
              <a:t>  .list &gt; * {</a:t>
            </a:r>
          </a:p>
          <a:p>
            <a:r>
              <a:rPr lang="en-US" dirty="0" smtClean="0"/>
              <a:t>    flex: 1 1 calc(50% - 1.5rem);</a:t>
            </a:r>
          </a:p>
          <a:p>
            <a:r>
              <a:rPr lang="en-US" dirty="0" smtClean="0"/>
              <a:t>  }</a:t>
            </a:r>
          </a:p>
          <a:p>
            <a:r>
              <a:rPr lang="en-US" dirty="0" smtClean="0"/>
              <a:t>}</a:t>
            </a:r>
          </a:p>
          <a:p>
            <a:endParaRPr lang="en-US" dirty="0" smtClean="0"/>
          </a:p>
          <a:p>
            <a:r>
              <a:rPr lang="en-US" dirty="0" smtClean="0"/>
              <a:t>/* 1 </a:t>
            </a:r>
            <a:r>
              <a:rPr lang="ru-RU" dirty="0" smtClean="0"/>
              <a:t>карточка на узких */</a:t>
            </a:r>
          </a:p>
          <a:p>
            <a:r>
              <a:rPr lang="ru-RU" dirty="0" smtClean="0"/>
              <a:t>@</a:t>
            </a:r>
            <a:r>
              <a:rPr lang="en-US" dirty="0" smtClean="0"/>
              <a:t>media (max-width: 520px) {</a:t>
            </a:r>
          </a:p>
          <a:p>
            <a:r>
              <a:rPr lang="en-US" dirty="0" smtClean="0"/>
              <a:t>  .list &gt; * {</a:t>
            </a:r>
          </a:p>
          <a:p>
            <a:r>
              <a:rPr lang="en-US" dirty="0" smtClean="0"/>
              <a:t>    flex: 1 1 100%;</a:t>
            </a:r>
          </a:p>
          <a:p>
            <a:r>
              <a:rPr lang="en-US" dirty="0" smtClean="0"/>
              <a:t>  }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8529074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4.7. Сборка проекта в </a:t>
            </a:r>
            <a:r>
              <a:rPr lang="en-US" dirty="0" err="1" smtClean="0"/>
              <a:t>App.jsx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src</a:t>
            </a:r>
            <a:r>
              <a:rPr lang="en-US" dirty="0" smtClean="0"/>
              <a:t>/</a:t>
            </a:r>
            <a:r>
              <a:rPr lang="en-US" dirty="0" err="1" smtClean="0"/>
              <a:t>App.jsx</a:t>
            </a:r>
            <a:r>
              <a:rPr lang="en-US" dirty="0" smtClean="0"/>
              <a:t/>
            </a:r>
            <a:br>
              <a:rPr lang="en-US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99911" y="1422400"/>
            <a:ext cx="10653889" cy="4754563"/>
          </a:xfrm>
        </p:spPr>
        <p:txBody>
          <a:bodyPr>
            <a:normAutofit fontScale="62500" lnSpcReduction="20000"/>
          </a:bodyPr>
          <a:lstStyle/>
          <a:p>
            <a:endParaRPr lang="en-US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import styles from './App.module.css';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import Header from './components/Header/Header';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ArticleList</a:t>
            </a:r>
            <a:r>
              <a:rPr lang="en-US" dirty="0" smtClean="0"/>
              <a:t> from './components/</a:t>
            </a:r>
            <a:r>
              <a:rPr lang="en-US" dirty="0" err="1" smtClean="0"/>
              <a:t>ArticleList</a:t>
            </a:r>
            <a:r>
              <a:rPr lang="en-US" dirty="0" smtClean="0"/>
              <a:t>/</a:t>
            </a:r>
            <a:r>
              <a:rPr lang="en-US" dirty="0" err="1" smtClean="0"/>
              <a:t>ArticleList</a:t>
            </a:r>
            <a:r>
              <a:rPr lang="en-US" dirty="0" smtClean="0"/>
              <a:t>';</a:t>
            </a:r>
          </a:p>
          <a:p>
            <a:pPr marL="0" indent="0">
              <a:spcBef>
                <a:spcPts val="600"/>
              </a:spcBef>
              <a:buNone/>
            </a:pPr>
            <a:endParaRPr lang="en-US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function App()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return (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&lt;div </a:t>
            </a:r>
            <a:r>
              <a:rPr lang="en-US" dirty="0" err="1" smtClean="0"/>
              <a:t>className</a:t>
            </a:r>
            <a:r>
              <a:rPr lang="en-US" dirty="0" smtClean="0"/>
              <a:t>={</a:t>
            </a:r>
            <a:r>
              <a:rPr lang="en-US" dirty="0" err="1" smtClean="0"/>
              <a:t>styles.app</a:t>
            </a:r>
            <a:r>
              <a:rPr lang="en-US" dirty="0" smtClean="0"/>
              <a:t>}&gt;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&lt;Header /&gt;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&lt;main&gt;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  &lt;</a:t>
            </a:r>
            <a:r>
              <a:rPr lang="en-US" dirty="0" err="1" smtClean="0"/>
              <a:t>ArticleList</a:t>
            </a:r>
            <a:r>
              <a:rPr lang="en-US" dirty="0" smtClean="0"/>
              <a:t> /&gt;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&lt;/main&gt;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&lt;/div&gt;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export default App;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226895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src</a:t>
            </a:r>
            <a:r>
              <a:rPr lang="en-US" dirty="0" smtClean="0"/>
              <a:t>/App.module.css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.app {</a:t>
            </a:r>
          </a:p>
          <a:p>
            <a:pPr marL="0" indent="0">
              <a:buNone/>
            </a:pPr>
            <a:r>
              <a:rPr lang="en-US" dirty="0" smtClean="0"/>
              <a:t>  min-height: 100vh;</a:t>
            </a:r>
          </a:p>
          <a:p>
            <a:pPr marL="0" indent="0">
              <a:buNone/>
            </a:pPr>
            <a:r>
              <a:rPr lang="en-US" dirty="0" smtClean="0"/>
              <a:t>  display: flex;</a:t>
            </a:r>
          </a:p>
          <a:p>
            <a:pPr marL="0" indent="0">
              <a:buNone/>
            </a:pPr>
            <a:r>
              <a:rPr lang="en-US" dirty="0" smtClean="0"/>
              <a:t>  flex-direction: column;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2395539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4.8. Итоговая схема сборки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 smtClean="0"/>
              <a:t>App.jsx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├── </a:t>
            </a:r>
            <a:r>
              <a:rPr lang="en-US" dirty="0" err="1" smtClean="0"/>
              <a:t>Header.jsx</a:t>
            </a:r>
            <a:r>
              <a:rPr lang="en-US" dirty="0" smtClean="0"/>
              <a:t>              ← </a:t>
            </a:r>
            <a:r>
              <a:rPr lang="ru-RU" dirty="0" smtClean="0"/>
              <a:t>шапка (</a:t>
            </a:r>
            <a:r>
              <a:rPr lang="en-US" dirty="0" smtClean="0"/>
              <a:t>header, </a:t>
            </a:r>
            <a:r>
              <a:rPr lang="en-US" dirty="0" err="1" smtClean="0"/>
              <a:t>nav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└── </a:t>
            </a:r>
            <a:r>
              <a:rPr lang="en-US" dirty="0" err="1" smtClean="0"/>
              <a:t>ArticleList.jsx</a:t>
            </a:r>
            <a:r>
              <a:rPr lang="en-US" dirty="0" smtClean="0"/>
              <a:t>         ← </a:t>
            </a:r>
            <a:r>
              <a:rPr lang="ru-RU" dirty="0" smtClean="0"/>
              <a:t>секция со списком</a:t>
            </a:r>
          </a:p>
          <a:p>
            <a:pPr marL="0" indent="0">
              <a:buNone/>
            </a:pPr>
            <a:r>
              <a:rPr lang="ru-RU" dirty="0" smtClean="0"/>
              <a:t>    └── </a:t>
            </a:r>
            <a:r>
              <a:rPr lang="en-US" dirty="0" err="1" smtClean="0"/>
              <a:t>ArticleCard.jsx</a:t>
            </a:r>
            <a:r>
              <a:rPr lang="en-US" dirty="0" smtClean="0"/>
              <a:t>     ← </a:t>
            </a:r>
            <a:r>
              <a:rPr lang="ru-RU" dirty="0" smtClean="0"/>
              <a:t>отдельная карточка (</a:t>
            </a:r>
            <a:r>
              <a:rPr lang="en-US" dirty="0" smtClean="0"/>
              <a:t>article)</a:t>
            </a:r>
          </a:p>
          <a:p>
            <a:pPr marL="0" indent="0">
              <a:buNone/>
            </a:pPr>
            <a:r>
              <a:rPr lang="en-US" dirty="0" smtClean="0"/>
              <a:t>        └── </a:t>
            </a:r>
            <a:r>
              <a:rPr lang="ru-RU" dirty="0" smtClean="0"/>
              <a:t>данные из </a:t>
            </a:r>
            <a:r>
              <a:rPr lang="en-US" dirty="0" smtClean="0"/>
              <a:t>data/articles.js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Каждый компонент: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импортирует свой </a:t>
            </a:r>
            <a:r>
              <a:rPr lang="en-US" dirty="0" smtClean="0"/>
              <a:t>CSS-</a:t>
            </a:r>
            <a:r>
              <a:rPr lang="ru-RU" dirty="0" smtClean="0"/>
              <a:t>модуль (</a:t>
            </a:r>
            <a:r>
              <a:rPr lang="en-US" dirty="0" smtClean="0"/>
              <a:t>import styles from './</a:t>
            </a:r>
            <a:r>
              <a:rPr lang="ru-RU" dirty="0" smtClean="0"/>
              <a:t>Имя.</a:t>
            </a:r>
            <a:r>
              <a:rPr lang="en-US" dirty="0" smtClean="0"/>
              <a:t>module.css');</a:t>
            </a:r>
          </a:p>
          <a:p>
            <a:pPr marL="0" indent="0">
              <a:buNone/>
            </a:pPr>
            <a:r>
              <a:rPr lang="ru-RU" dirty="0" smtClean="0"/>
              <a:t>применяет классы через </a:t>
            </a:r>
            <a:r>
              <a:rPr lang="en-US" dirty="0" err="1" smtClean="0"/>
              <a:t>className</a:t>
            </a:r>
            <a:r>
              <a:rPr lang="en-US" dirty="0" smtClean="0"/>
              <a:t>={styles.</a:t>
            </a:r>
            <a:r>
              <a:rPr lang="ru-RU" dirty="0" smtClean="0"/>
              <a:t>класс};</a:t>
            </a:r>
          </a:p>
          <a:p>
            <a:pPr marL="0" indent="0">
              <a:buNone/>
            </a:pPr>
            <a:r>
              <a:rPr lang="ru-RU" dirty="0" smtClean="0"/>
              <a:t>получает данные через пропсы (</a:t>
            </a:r>
            <a:r>
              <a:rPr lang="en-US" dirty="0" smtClean="0"/>
              <a:t>article={...}).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5225806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5. Проверка в браузере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 smtClean="0"/>
              <a:t>Запустите дев-сервер:</a:t>
            </a:r>
          </a:p>
          <a:p>
            <a:pPr marL="0" indent="0">
              <a:buNone/>
            </a:pPr>
            <a:r>
              <a:rPr lang="en-US" dirty="0" err="1" smtClean="0"/>
              <a:t>npm</a:t>
            </a:r>
            <a:r>
              <a:rPr lang="en-US" dirty="0" smtClean="0"/>
              <a:t> run dev</a:t>
            </a:r>
          </a:p>
          <a:p>
            <a:pPr marL="0" indent="0">
              <a:buNone/>
            </a:pPr>
            <a:r>
              <a:rPr lang="ru-RU" dirty="0" smtClean="0"/>
              <a:t>Откройте </a:t>
            </a:r>
            <a:r>
              <a:rPr lang="en-US" dirty="0" smtClean="0"/>
              <a:t>http://localhost:5173. </a:t>
            </a:r>
            <a:r>
              <a:rPr lang="ru-RU" dirty="0" smtClean="0"/>
              <a:t>На странице должны отображаться: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шапка с навигацией;</a:t>
            </a:r>
          </a:p>
          <a:p>
            <a:pPr marL="0" indent="0">
              <a:buNone/>
            </a:pPr>
            <a:r>
              <a:rPr lang="ru-RU" dirty="0" smtClean="0"/>
              <a:t>сетка из 6 карточек статей, выстроенных через </a:t>
            </a:r>
            <a:r>
              <a:rPr lang="en-US" dirty="0" smtClean="0"/>
              <a:t>Flexbox;</a:t>
            </a:r>
          </a:p>
          <a:p>
            <a:pPr marL="0" indent="0">
              <a:buNone/>
            </a:pPr>
            <a:r>
              <a:rPr lang="ru-RU" dirty="0" smtClean="0"/>
              <a:t>адаптивная вёрстка (3 → 2 → 1 колонка при сужении экрана).</a:t>
            </a:r>
          </a:p>
          <a:p>
            <a:pPr marL="0" indent="0">
              <a:buNone/>
            </a:pPr>
            <a:r>
              <a:rPr lang="en-US" dirty="0" smtClean="0"/>
              <a:t>Production-</a:t>
            </a:r>
            <a:r>
              <a:rPr lang="ru-RU" dirty="0" smtClean="0"/>
              <a:t>сборка</a:t>
            </a:r>
          </a:p>
          <a:p>
            <a:pPr marL="0" indent="0">
              <a:buNone/>
            </a:pPr>
            <a:r>
              <a:rPr lang="en-US" dirty="0" err="1" smtClean="0"/>
              <a:t>npm</a:t>
            </a:r>
            <a:r>
              <a:rPr lang="en-US" dirty="0" smtClean="0"/>
              <a:t> run build</a:t>
            </a:r>
          </a:p>
          <a:p>
            <a:pPr marL="0" indent="0">
              <a:buNone/>
            </a:pPr>
            <a:r>
              <a:rPr lang="en-US" dirty="0" err="1" smtClean="0"/>
              <a:t>Vite</a:t>
            </a:r>
            <a:r>
              <a:rPr lang="en-US" dirty="0" smtClean="0"/>
              <a:t> </a:t>
            </a:r>
            <a:r>
              <a:rPr lang="ru-RU" dirty="0" smtClean="0"/>
              <a:t>соберёт оптимизированную версию в папку </a:t>
            </a:r>
            <a:r>
              <a:rPr lang="en-US" dirty="0" err="1" smtClean="0"/>
              <a:t>dist</a:t>
            </a:r>
            <a:r>
              <a:rPr lang="en-US" dirty="0" smtClean="0"/>
              <a:t>/. </a:t>
            </a:r>
            <a:r>
              <a:rPr lang="ru-RU" dirty="0" smtClean="0"/>
              <a:t>Проверить локально: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en-US" dirty="0" err="1" smtClean="0"/>
              <a:t>npm</a:t>
            </a:r>
            <a:r>
              <a:rPr lang="en-US" dirty="0" smtClean="0"/>
              <a:t> run preview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2583455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6. Сохранение проекта в </a:t>
            </a:r>
            <a:r>
              <a:rPr lang="en-US" dirty="0" err="1" smtClean="0"/>
              <a:t>Git</a:t>
            </a:r>
            <a:r>
              <a:rPr lang="en-US" dirty="0" smtClean="0"/>
              <a:t/>
            </a:r>
            <a:br>
              <a:rPr lang="en-US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6.1. </a:t>
            </a:r>
            <a:r>
              <a:rPr lang="ru-RU" dirty="0" smtClean="0"/>
              <a:t>Инициализация и первый </a:t>
            </a:r>
            <a:r>
              <a:rPr lang="ru-RU" dirty="0" err="1" smtClean="0"/>
              <a:t>коммит</a:t>
            </a:r>
            <a:endParaRPr lang="ru-RU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ru-RU" dirty="0" smtClean="0"/>
              <a:t>Если </a:t>
            </a:r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ru-RU" dirty="0" smtClean="0"/>
              <a:t>ещё не инициализирован (</a:t>
            </a:r>
            <a:r>
              <a:rPr lang="en-US" dirty="0" err="1" smtClean="0"/>
              <a:t>Vite</a:t>
            </a:r>
            <a:r>
              <a:rPr lang="en-US" dirty="0" smtClean="0"/>
              <a:t> </a:t>
            </a:r>
            <a:r>
              <a:rPr lang="ru-RU" dirty="0" smtClean="0"/>
              <a:t>обычно создаёт .</a:t>
            </a:r>
            <a:r>
              <a:rPr lang="en-US" dirty="0" err="1" smtClean="0"/>
              <a:t>gitignore</a:t>
            </a:r>
            <a:r>
              <a:rPr lang="en-US" dirty="0" smtClean="0"/>
              <a:t> </a:t>
            </a:r>
            <a:r>
              <a:rPr lang="ru-RU" dirty="0" smtClean="0"/>
              <a:t>автоматически):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 err="1" smtClean="0"/>
              <a:t>init</a:t>
            </a:r>
            <a:endParaRPr lang="en-US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err="1" smtClean="0"/>
              <a:t>git</a:t>
            </a:r>
            <a:r>
              <a:rPr lang="en-US" dirty="0" smtClean="0"/>
              <a:t> add 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err="1" smtClean="0"/>
              <a:t>git</a:t>
            </a:r>
            <a:r>
              <a:rPr lang="en-US" dirty="0" smtClean="0"/>
              <a:t> commit -m "</a:t>
            </a:r>
            <a:r>
              <a:rPr lang="ru-RU" dirty="0" smtClean="0"/>
              <a:t>Лабораторная №1: </a:t>
            </a:r>
            <a:r>
              <a:rPr lang="en-US" dirty="0" smtClean="0"/>
              <a:t>React + </a:t>
            </a:r>
            <a:r>
              <a:rPr lang="en-US" dirty="0" err="1" smtClean="0"/>
              <a:t>Vite</a:t>
            </a:r>
            <a:r>
              <a:rPr lang="en-US" dirty="0" smtClean="0"/>
              <a:t>, </a:t>
            </a:r>
            <a:r>
              <a:rPr lang="ru-RU" dirty="0" smtClean="0"/>
              <a:t>семантика, </a:t>
            </a:r>
            <a:r>
              <a:rPr lang="en-US" dirty="0" smtClean="0"/>
              <a:t>CSS-</a:t>
            </a:r>
            <a:r>
              <a:rPr lang="ru-RU" dirty="0" smtClean="0"/>
              <a:t>модули, карточки"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 smtClean="0"/>
              <a:t>6.2. Публикация на </a:t>
            </a:r>
            <a:r>
              <a:rPr lang="en-US" dirty="0" smtClean="0"/>
              <a:t>GitHub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 smtClean="0"/>
              <a:t>Создайте </a:t>
            </a:r>
            <a:r>
              <a:rPr lang="ru-RU" dirty="0" err="1" smtClean="0"/>
              <a:t>репозиторий</a:t>
            </a:r>
            <a:r>
              <a:rPr lang="ru-RU" dirty="0" smtClean="0"/>
              <a:t> на </a:t>
            </a:r>
            <a:r>
              <a:rPr lang="en-US" dirty="0" err="1" smtClean="0"/>
              <a:t>github</a:t>
            </a:r>
            <a:r>
              <a:rPr lang="ru-RU" dirty="0" smtClean="0"/>
              <a:t>  (без </a:t>
            </a:r>
            <a:r>
              <a:rPr lang="en-US" dirty="0" smtClean="0"/>
              <a:t>README </a:t>
            </a:r>
            <a:r>
              <a:rPr lang="ru-RU" dirty="0" smtClean="0"/>
              <a:t>и .</a:t>
            </a:r>
            <a:r>
              <a:rPr lang="en-US" dirty="0" err="1" smtClean="0"/>
              <a:t>gitignore</a:t>
            </a:r>
            <a:r>
              <a:rPr lang="en-US" dirty="0" smtClean="0"/>
              <a:t>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 smtClean="0"/>
              <a:t>Привяжите и отправьте: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err="1" smtClean="0"/>
              <a:t>git</a:t>
            </a:r>
            <a:r>
              <a:rPr lang="en-US" dirty="0" smtClean="0"/>
              <a:t> remote add origin https://github.com/</a:t>
            </a:r>
            <a:r>
              <a:rPr lang="ru-RU" dirty="0" smtClean="0"/>
              <a:t>ВАШ_ЛОГИН/</a:t>
            </a:r>
            <a:r>
              <a:rPr lang="en-US" dirty="0" smtClean="0"/>
              <a:t>my-first-react-</a:t>
            </a:r>
            <a:r>
              <a:rPr lang="en-US" dirty="0" err="1" smtClean="0"/>
              <a:t>app.git</a:t>
            </a:r>
            <a:endParaRPr lang="en-US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err="1" smtClean="0"/>
              <a:t>git</a:t>
            </a:r>
            <a:r>
              <a:rPr lang="en-US" dirty="0" smtClean="0"/>
              <a:t> branch -M main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err="1" smtClean="0"/>
              <a:t>git</a:t>
            </a:r>
            <a:r>
              <a:rPr lang="en-US" dirty="0" smtClean="0"/>
              <a:t> push -u origin main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6.3. </a:t>
            </a:r>
            <a:r>
              <a:rPr lang="ru-RU" dirty="0" smtClean="0"/>
              <a:t>Файл .</a:t>
            </a:r>
            <a:r>
              <a:rPr lang="en-US" dirty="0" err="1" smtClean="0"/>
              <a:t>gitignore</a:t>
            </a:r>
            <a:endParaRPr lang="en-US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err="1" smtClean="0"/>
              <a:t>Vite</a:t>
            </a:r>
            <a:r>
              <a:rPr lang="en-US" dirty="0" smtClean="0"/>
              <a:t> </a:t>
            </a:r>
            <a:r>
              <a:rPr lang="ru-RU" dirty="0" smtClean="0"/>
              <a:t>генерирует его автоматически. Убедитесь, что внутри есть:</a:t>
            </a:r>
          </a:p>
          <a:p>
            <a:pPr marL="0" indent="0">
              <a:spcBef>
                <a:spcPts val="600"/>
              </a:spcBef>
              <a:buNone/>
            </a:pPr>
            <a:endParaRPr lang="ru-RU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err="1" smtClean="0"/>
              <a:t>gitignore</a:t>
            </a:r>
            <a:endParaRPr lang="en-US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err="1" smtClean="0"/>
              <a:t>node_modules</a:t>
            </a:r>
            <a:endParaRPr lang="en-US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err="1" smtClean="0"/>
              <a:t>dist</a:t>
            </a:r>
            <a:endParaRPr lang="en-US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.</a:t>
            </a:r>
            <a:r>
              <a:rPr lang="en-US" dirty="0" err="1" smtClean="0"/>
              <a:t>env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42653753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7. Задания для самопроверки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 smtClean="0"/>
              <a:t>Добавьте 7-ю и 8-ю карточки в articles.js — проверьте, что сетка автоматически перестраивается.</a:t>
            </a:r>
          </a:p>
          <a:p>
            <a:pPr marL="0" indent="0">
              <a:buNone/>
            </a:pPr>
            <a:r>
              <a:rPr lang="ru-RU" dirty="0" smtClean="0"/>
              <a:t>Измените </a:t>
            </a:r>
            <a:r>
              <a:rPr lang="ru-RU" dirty="0" err="1" smtClean="0"/>
              <a:t>flex</a:t>
            </a:r>
            <a:r>
              <a:rPr lang="ru-RU" dirty="0" smtClean="0"/>
              <a:t> в ArticleList.module.css так, чтобы на широком экране было 4 карточки в ряд.</a:t>
            </a:r>
          </a:p>
          <a:p>
            <a:pPr marL="0" indent="0">
              <a:buNone/>
            </a:pPr>
            <a:r>
              <a:rPr lang="ru-RU" dirty="0" smtClean="0"/>
              <a:t>Вынесите навигацию в отдельный компонент </a:t>
            </a:r>
            <a:r>
              <a:rPr lang="ru-RU" dirty="0" err="1" smtClean="0"/>
              <a:t>Nav.jsx</a:t>
            </a:r>
            <a:r>
              <a:rPr lang="ru-RU" dirty="0" smtClean="0"/>
              <a:t> со своим CSS-модулем.</a:t>
            </a:r>
          </a:p>
          <a:p>
            <a:pPr marL="0" indent="0">
              <a:buNone/>
            </a:pPr>
            <a:r>
              <a:rPr lang="ru-RU" dirty="0" smtClean="0"/>
              <a:t>Добавьте в </a:t>
            </a:r>
            <a:r>
              <a:rPr lang="ru-RU" dirty="0" err="1" smtClean="0"/>
              <a:t>Header</a:t>
            </a:r>
            <a:r>
              <a:rPr lang="ru-RU" dirty="0" smtClean="0"/>
              <a:t> счётчик статей — количество берите из </a:t>
            </a:r>
            <a:r>
              <a:rPr lang="ru-RU" dirty="0" err="1" smtClean="0"/>
              <a:t>articles.length</a:t>
            </a:r>
            <a:r>
              <a:rPr lang="ru-RU" dirty="0" smtClean="0"/>
              <a:t> (передавайте через пропс или импортируйте данные напрямую).</a:t>
            </a:r>
          </a:p>
          <a:p>
            <a:pPr marL="0" indent="0">
              <a:buNone/>
            </a:pPr>
            <a:r>
              <a:rPr lang="ru-RU" b="1" dirty="0" smtClean="0"/>
              <a:t>Контрольные вопросы</a:t>
            </a:r>
          </a:p>
          <a:p>
            <a:pPr marL="0" indent="0">
              <a:buNone/>
            </a:pPr>
            <a:r>
              <a:rPr lang="ru-RU" dirty="0" smtClean="0"/>
              <a:t>Чем </a:t>
            </a:r>
            <a:r>
              <a:rPr lang="ru-RU" dirty="0" err="1" smtClean="0"/>
              <a:t>Vite</a:t>
            </a:r>
            <a:r>
              <a:rPr lang="ru-RU" dirty="0" smtClean="0"/>
              <a:t> отличается от </a:t>
            </a:r>
            <a:r>
              <a:rPr lang="ru-RU" dirty="0" err="1" smtClean="0"/>
              <a:t>Create</a:t>
            </a:r>
            <a:r>
              <a:rPr lang="ru-RU" dirty="0" smtClean="0"/>
              <a:t> </a:t>
            </a:r>
            <a:r>
              <a:rPr lang="ru-RU" dirty="0" err="1" smtClean="0"/>
              <a:t>React</a:t>
            </a:r>
            <a:r>
              <a:rPr lang="ru-RU" dirty="0" smtClean="0"/>
              <a:t> </a:t>
            </a:r>
            <a:r>
              <a:rPr lang="ru-RU" dirty="0" err="1" smtClean="0"/>
              <a:t>App</a:t>
            </a:r>
            <a:r>
              <a:rPr lang="ru-RU" dirty="0" smtClean="0"/>
              <a:t>?</a:t>
            </a:r>
          </a:p>
          <a:p>
            <a:pPr marL="0" indent="0">
              <a:buNone/>
            </a:pPr>
            <a:r>
              <a:rPr lang="ru-RU" dirty="0" smtClean="0"/>
              <a:t>Что такое CSS-модуль и зачем он нужен? Как обратиться к классу в JSX?</a:t>
            </a:r>
          </a:p>
          <a:p>
            <a:pPr marL="0" indent="0">
              <a:buNone/>
            </a:pPr>
            <a:r>
              <a:rPr lang="ru-RU" dirty="0" smtClean="0"/>
              <a:t>Какие семантические теги HTML5 использованы в проекте и почему?</a:t>
            </a:r>
          </a:p>
          <a:p>
            <a:pPr marL="0" indent="0">
              <a:buNone/>
            </a:pPr>
            <a:r>
              <a:rPr lang="ru-RU" dirty="0" smtClean="0"/>
              <a:t>Как работает </a:t>
            </a:r>
            <a:r>
              <a:rPr lang="ru-RU" dirty="0" err="1" smtClean="0"/>
              <a:t>flex-wrap</a:t>
            </a:r>
            <a:r>
              <a:rPr lang="ru-RU" dirty="0" smtClean="0"/>
              <a:t> и </a:t>
            </a:r>
            <a:r>
              <a:rPr lang="ru-RU" dirty="0" err="1" smtClean="0"/>
              <a:t>flex</a:t>
            </a:r>
            <a:r>
              <a:rPr lang="ru-RU" dirty="0" smtClean="0"/>
              <a:t>: 1 1 </a:t>
            </a:r>
            <a:r>
              <a:rPr lang="ru-RU" dirty="0" err="1" smtClean="0"/>
              <a:t>calc</a:t>
            </a:r>
            <a:r>
              <a:rPr lang="ru-RU" dirty="0" smtClean="0"/>
              <a:t>(...) при построении сетки?</a:t>
            </a:r>
          </a:p>
          <a:p>
            <a:pPr marL="0" indent="0">
              <a:buNone/>
            </a:pPr>
            <a:r>
              <a:rPr lang="ru-RU" dirty="0" smtClean="0"/>
              <a:t>Как данные из articles.js попадают в карточки? Опишите путь данных.</a:t>
            </a:r>
          </a:p>
          <a:p>
            <a:pPr marL="0" indent="0">
              <a:buNone/>
            </a:pPr>
            <a:r>
              <a:rPr lang="ru-RU" dirty="0" smtClean="0"/>
              <a:t>Зачем нужен </a:t>
            </a:r>
            <a:r>
              <a:rPr lang="ru-RU" dirty="0" err="1" smtClean="0"/>
              <a:t>key</a:t>
            </a:r>
            <a:r>
              <a:rPr lang="ru-RU" dirty="0" smtClean="0"/>
              <a:t> при рендере списка через .</a:t>
            </a:r>
            <a:r>
              <a:rPr lang="ru-RU" dirty="0" err="1" smtClean="0"/>
              <a:t>map</a:t>
            </a:r>
            <a:r>
              <a:rPr lang="ru-RU" dirty="0" smtClean="0"/>
              <a:t>()?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121690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Life hack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ru-RU" dirty="0" smtClean="0"/>
              <a:t>Как переименовать эту папку в нормальное </a:t>
            </a:r>
            <a:r>
              <a:rPr lang="ru-RU" dirty="0" err="1" smtClean="0"/>
              <a:t>my-grid</a:t>
            </a:r>
            <a:r>
              <a:rPr lang="ru-RU" dirty="0" smtClean="0"/>
              <a:t>, чтобы не путаться.</a:t>
            </a:r>
          </a:p>
          <a:p>
            <a:pPr>
              <a:buNone/>
            </a:pPr>
            <a:r>
              <a:rPr lang="ru-RU" b="1" dirty="0" smtClean="0"/>
              <a:t>Почему не надо делать </a:t>
            </a:r>
            <a:r>
              <a:rPr lang="ru-RU" b="1" dirty="0" err="1" smtClean="0"/>
              <a:t>mv</a:t>
            </a:r>
            <a:r>
              <a:rPr lang="ru-RU" b="1" dirty="0" smtClean="0"/>
              <a:t> (или копировать)</a:t>
            </a:r>
          </a:p>
          <a:p>
            <a:pPr>
              <a:buNone/>
            </a:pPr>
            <a:r>
              <a:rPr lang="ru-RU" dirty="0" smtClean="0"/>
              <a:t>Не копируй файлы из одной папки в другую и не создавай новую: в папке уже есть </a:t>
            </a:r>
            <a:r>
              <a:rPr lang="ru-RU" dirty="0" err="1" smtClean="0"/>
              <a:t>node_modules</a:t>
            </a:r>
            <a:r>
              <a:rPr lang="ru-RU" dirty="0" smtClean="0"/>
              <a:t> (если успел поставить), </a:t>
            </a:r>
            <a:r>
              <a:rPr lang="ru-RU" dirty="0" err="1" smtClean="0"/>
              <a:t>package-lock.json</a:t>
            </a:r>
            <a:r>
              <a:rPr lang="ru-RU" dirty="0" smtClean="0"/>
              <a:t>, настройки </a:t>
            </a:r>
            <a:r>
              <a:rPr lang="ru-RU" dirty="0" err="1" smtClean="0"/>
              <a:t>Vite</a:t>
            </a:r>
            <a:r>
              <a:rPr lang="ru-RU" dirty="0" smtClean="0"/>
              <a:t> и т. д. Проще и чище просто переименовать саму папку.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ru-RU" b="1" dirty="0" smtClean="0"/>
              <a:t>через </a:t>
            </a:r>
            <a:r>
              <a:rPr lang="ru-RU" b="1" dirty="0" err="1" smtClean="0"/>
              <a:t>PowerShell</a:t>
            </a:r>
            <a:r>
              <a:rPr lang="ru-RU" b="1" dirty="0" smtClean="0"/>
              <a:t> (в твоём текущем терминале)</a:t>
            </a:r>
          </a:p>
          <a:p>
            <a:pPr>
              <a:buNone/>
            </a:pPr>
            <a:r>
              <a:rPr lang="ru-RU" dirty="0" smtClean="0"/>
              <a:t>Ты сейчас в C:\app\my-grid, а папка, которую надо переименовать, — </a:t>
            </a:r>
            <a:r>
              <a:rPr lang="ru-RU" dirty="0" err="1" smtClean="0"/>
              <a:t>my-grid--template</a:t>
            </a:r>
            <a:r>
              <a:rPr lang="ru-RU" dirty="0" smtClean="0"/>
              <a:t>. Выполни подряд эти команды:</a:t>
            </a:r>
          </a:p>
          <a:p>
            <a:pPr>
              <a:buNone/>
            </a:pPr>
            <a:r>
              <a:rPr lang="ru-RU" dirty="0" err="1" smtClean="0"/>
              <a:t>powershell</a:t>
            </a:r>
            <a:endParaRPr lang="ru-RU" dirty="0" smtClean="0"/>
          </a:p>
          <a:p>
            <a:pPr>
              <a:buNone/>
            </a:pPr>
            <a:r>
              <a:rPr lang="ru-RU" dirty="0" err="1" smtClean="0"/>
              <a:t>cd</a:t>
            </a:r>
            <a:r>
              <a:rPr lang="ru-RU" dirty="0" smtClean="0"/>
              <a:t> .. </a:t>
            </a:r>
            <a:r>
              <a:rPr lang="ru-RU" b="1" dirty="0" smtClean="0"/>
              <a:t># поднимаемся на уровень вверх (в C:\app)</a:t>
            </a:r>
          </a:p>
          <a:p>
            <a:pPr>
              <a:buNone/>
            </a:pPr>
            <a:r>
              <a:rPr lang="ru-RU" dirty="0" smtClean="0"/>
              <a:t> </a:t>
            </a:r>
            <a:r>
              <a:rPr lang="ru-RU" dirty="0" err="1" smtClean="0"/>
              <a:t>ren</a:t>
            </a:r>
            <a:r>
              <a:rPr lang="ru-RU" dirty="0" smtClean="0"/>
              <a:t> </a:t>
            </a:r>
            <a:r>
              <a:rPr lang="ru-RU" dirty="0" err="1" smtClean="0"/>
              <a:t>my-grid--template</a:t>
            </a:r>
            <a:r>
              <a:rPr lang="ru-RU" dirty="0" smtClean="0"/>
              <a:t> </a:t>
            </a:r>
            <a:r>
              <a:rPr lang="ru-RU" dirty="0" err="1" smtClean="0"/>
              <a:t>my-grid</a:t>
            </a:r>
            <a:r>
              <a:rPr lang="ru-RU" dirty="0" smtClean="0"/>
              <a:t> </a:t>
            </a:r>
            <a:r>
              <a:rPr lang="ru-RU" dirty="0" err="1" smtClean="0"/>
              <a:t>cd</a:t>
            </a:r>
            <a:r>
              <a:rPr lang="ru-RU" dirty="0" smtClean="0"/>
              <a:t> </a:t>
            </a:r>
            <a:r>
              <a:rPr lang="ru-RU" dirty="0" err="1" smtClean="0"/>
              <a:t>my-grid</a:t>
            </a:r>
            <a:r>
              <a:rPr lang="ru-RU" dirty="0" smtClean="0"/>
              <a:t> </a:t>
            </a:r>
            <a:r>
              <a:rPr lang="ru-RU" b="1" dirty="0" smtClean="0"/>
              <a:t># заходим обратно в переименованную папку </a:t>
            </a:r>
          </a:p>
          <a:p>
            <a:pPr>
              <a:buNone/>
            </a:pPr>
            <a:r>
              <a:rPr lang="ru-RU" b="1" dirty="0" err="1" smtClean="0"/>
              <a:t>dir</a:t>
            </a:r>
            <a:r>
              <a:rPr lang="ru-RU" b="1" dirty="0" smtClean="0"/>
              <a:t> # проверя</a:t>
            </a:r>
            <a:r>
              <a:rPr lang="ru-RU" dirty="0" smtClean="0"/>
              <a:t>й: теперь тут </a:t>
            </a:r>
            <a:r>
              <a:rPr lang="ru-RU" dirty="0" err="1" smtClean="0"/>
              <a:t>package.json</a:t>
            </a:r>
            <a:r>
              <a:rPr lang="ru-RU" dirty="0" smtClean="0"/>
              <a:t> и всё остальное </a:t>
            </a:r>
          </a:p>
          <a:p>
            <a:pPr>
              <a:buNone/>
            </a:pPr>
            <a:r>
              <a:rPr lang="ru-RU" dirty="0" smtClean="0"/>
              <a:t>После этого :</a:t>
            </a:r>
          </a:p>
          <a:p>
            <a:pPr>
              <a:buNone/>
            </a:pPr>
            <a:r>
              <a:rPr lang="ru-RU" dirty="0" err="1" smtClean="0"/>
              <a:t>powershell</a:t>
            </a:r>
            <a:endParaRPr lang="ru-RU" dirty="0" smtClean="0"/>
          </a:p>
          <a:p>
            <a:pPr>
              <a:buNone/>
            </a:pPr>
            <a:r>
              <a:rPr lang="ru-RU" dirty="0" err="1" smtClean="0"/>
              <a:t>npm</a:t>
            </a:r>
            <a:r>
              <a:rPr lang="ru-RU" dirty="0" smtClean="0"/>
              <a:t> </a:t>
            </a:r>
            <a:r>
              <a:rPr lang="ru-RU" dirty="0" err="1" smtClean="0"/>
              <a:t>install</a:t>
            </a:r>
            <a:r>
              <a:rPr lang="ru-RU" dirty="0" smtClean="0"/>
              <a:t>  </a:t>
            </a:r>
            <a:r>
              <a:rPr lang="en-US" b="1" dirty="0" smtClean="0"/>
              <a:t>#</a:t>
            </a:r>
            <a:r>
              <a:rPr lang="ru-RU" b="1" dirty="0" smtClean="0"/>
              <a:t>ставь зависимости </a:t>
            </a:r>
          </a:p>
          <a:p>
            <a:pPr>
              <a:buNone/>
            </a:pPr>
            <a:r>
              <a:rPr lang="ru-RU" dirty="0" smtClean="0"/>
              <a:t> </a:t>
            </a:r>
            <a:r>
              <a:rPr lang="ru-RU" dirty="0" err="1" smtClean="0"/>
              <a:t>npm</a:t>
            </a:r>
            <a:r>
              <a:rPr lang="ru-RU" dirty="0" smtClean="0"/>
              <a:t> </a:t>
            </a:r>
            <a:r>
              <a:rPr lang="ru-RU" dirty="0" err="1" smtClean="0"/>
              <a:t>run</a:t>
            </a:r>
            <a:r>
              <a:rPr lang="ru-RU" dirty="0" smtClean="0"/>
              <a:t> </a:t>
            </a:r>
            <a:r>
              <a:rPr lang="ru-RU" dirty="0" err="1" smtClean="0"/>
              <a:t>dev</a:t>
            </a:r>
            <a:r>
              <a:rPr lang="en-US" dirty="0" smtClean="0"/>
              <a:t>  </a:t>
            </a:r>
            <a:r>
              <a:rPr lang="en-US" b="1" dirty="0" smtClean="0"/>
              <a:t># </a:t>
            </a:r>
            <a:r>
              <a:rPr lang="ru-RU" b="1" dirty="0" smtClean="0"/>
              <a:t>и запускай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Литература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https://developer.mozilla.org/ru/docs/Web</a:t>
            </a:r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10510504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2385</TotalTime>
  <Words>2671</Words>
  <Application>Microsoft Office PowerPoint</Application>
  <PresentationFormat>Произвольный</PresentationFormat>
  <Paragraphs>482</Paragraphs>
  <Slides>29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0" baseType="lpstr">
      <vt:lpstr>Тема Office</vt:lpstr>
      <vt:lpstr>Лабораторная работа 1</vt:lpstr>
      <vt:lpstr>Инструментарий для демонстрации и работы</vt:lpstr>
      <vt:lpstr>1. Подготовка инструментов </vt:lpstr>
      <vt:lpstr>Шаг 2. Выберите инструмент для создания проекта </vt:lpstr>
      <vt:lpstr>Пояснение</vt:lpstr>
      <vt:lpstr>Шаг 3. Установите зависимости и запустите</vt:lpstr>
      <vt:lpstr>Шаг 4. Откройте проект в редакторе </vt:lpstr>
      <vt:lpstr>Запускаем React и смотрим, как это устроено </vt:lpstr>
      <vt:lpstr>2. Структура проекта и очистка шаблона </vt:lpstr>
      <vt:lpstr>2.2 Очистка шаблона </vt:lpstr>
      <vt:lpstr>src/App.jsx — очистите до минимума: </vt:lpstr>
      <vt:lpstr>3.2. Что такое CSS-модули </vt:lpstr>
      <vt:lpstr>4. Создание компонентов </vt:lpstr>
      <vt:lpstr>src/components/Header/Header.module.css </vt:lpstr>
      <vt:lpstr>4.2. Данные для карточек src/data/articles.js  </vt:lpstr>
      <vt:lpstr>4.3. Данные для карточек src/data/articles.js</vt:lpstr>
      <vt:lpstr>4.4. Данные для карточек src/data/articles.js</vt:lpstr>
      <vt:lpstr>4.5. ArticleCard — карточка статьи src/components/ArticleCard/ArticleCard.jsx </vt:lpstr>
      <vt:lpstr>src/components/ArticleCard/ArticleCard.module.css </vt:lpstr>
      <vt:lpstr>4.6. ArticleList — сетка карточек на Flexbox src/components/ArticleList/ArticleList.jsx </vt:lpstr>
      <vt:lpstr>src/components/ArticleList/ArticleList.module.css </vt:lpstr>
      <vt:lpstr>4.7. Сборка проекта в App.jsx src/App.jsx </vt:lpstr>
      <vt:lpstr>src/App.module.css</vt:lpstr>
      <vt:lpstr>4.8. Итоговая схема сборки </vt:lpstr>
      <vt:lpstr>5. Проверка в браузере </vt:lpstr>
      <vt:lpstr>6. Сохранение проекта в Git </vt:lpstr>
      <vt:lpstr>7. Задания для самопроверки </vt:lpstr>
      <vt:lpstr>Life hack</vt:lpstr>
      <vt:lpstr>Литература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1</dc:title>
  <dc:creator>Alexander Agafonov</dc:creator>
  <cp:lastModifiedBy>Agafonov</cp:lastModifiedBy>
  <cp:revision>16</cp:revision>
  <dcterms:created xsi:type="dcterms:W3CDTF">2026-08-24T10:28:47Z</dcterms:created>
  <dcterms:modified xsi:type="dcterms:W3CDTF">2026-08-31T05:32:27Z</dcterms:modified>
</cp:coreProperties>
</file>