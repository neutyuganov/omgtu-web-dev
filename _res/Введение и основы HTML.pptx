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318" r:id="rId6"/>
    <p:sldId id="271" r:id="rId7"/>
    <p:sldId id="272" r:id="rId8"/>
    <p:sldId id="257" r:id="rId9"/>
    <p:sldId id="258" r:id="rId10"/>
    <p:sldId id="267" r:id="rId11"/>
    <p:sldId id="259" r:id="rId12"/>
    <p:sldId id="260" r:id="rId13"/>
    <p:sldId id="261" r:id="rId14"/>
    <p:sldId id="273" r:id="rId15"/>
    <p:sldId id="274" r:id="rId16"/>
    <p:sldId id="275" r:id="rId17"/>
    <p:sldId id="276" r:id="rId18"/>
    <p:sldId id="277" r:id="rId19"/>
    <p:sldId id="319" r:id="rId20"/>
    <p:sldId id="278" r:id="rId21"/>
    <p:sldId id="279" r:id="rId22"/>
    <p:sldId id="299" r:id="rId23"/>
    <p:sldId id="280" r:id="rId24"/>
    <p:sldId id="281" r:id="rId25"/>
    <p:sldId id="282" r:id="rId26"/>
    <p:sldId id="283" r:id="rId27"/>
    <p:sldId id="285" r:id="rId28"/>
    <p:sldId id="286" r:id="rId29"/>
    <p:sldId id="284" r:id="rId30"/>
    <p:sldId id="262" r:id="rId31"/>
    <p:sldId id="263" r:id="rId32"/>
    <p:sldId id="264" r:id="rId33"/>
    <p:sldId id="287" r:id="rId34"/>
    <p:sldId id="265" r:id="rId35"/>
    <p:sldId id="290" r:id="rId36"/>
    <p:sldId id="288" r:id="rId37"/>
    <p:sldId id="289" r:id="rId38"/>
    <p:sldId id="291" r:id="rId39"/>
    <p:sldId id="292" r:id="rId40"/>
    <p:sldId id="294" r:id="rId41"/>
    <p:sldId id="293" r:id="rId42"/>
    <p:sldId id="295" r:id="rId43"/>
    <p:sldId id="296" r:id="rId44"/>
    <p:sldId id="297" r:id="rId45"/>
    <p:sldId id="298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5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9392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1157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7000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10178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7671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1991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2399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0374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2509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6907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1398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726A0-2894-4395-8FE7-6BBB93D92B4C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87CD9-D11B-45D1-BF32-B3AF5683C4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5140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и основы </a:t>
            </a:r>
            <a:r>
              <a:rPr lang="en-US" dirty="0" smtClean="0"/>
              <a:t>HTML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Основы веба: </a:t>
            </a:r>
            <a:r>
              <a:rPr lang="en-US" dirty="0" smtClean="0"/>
              <a:t>HTTP/HTTPS, </a:t>
            </a:r>
            <a:r>
              <a:rPr lang="ru-RU" dirty="0" smtClean="0"/>
              <a:t>клиент‑сервер, семантический </a:t>
            </a:r>
            <a:r>
              <a:rPr lang="en-US" dirty="0" smtClean="0"/>
              <a:t>HTML, CSS‑</a:t>
            </a:r>
            <a:r>
              <a:rPr lang="ru-RU" dirty="0" smtClean="0"/>
              <a:t>селекторы, каскад, </a:t>
            </a:r>
            <a:r>
              <a:rPr lang="en-US" dirty="0" smtClean="0"/>
              <a:t>box model. </a:t>
            </a:r>
            <a:r>
              <a:rPr lang="ru-RU" dirty="0" smtClean="0"/>
              <a:t>Базовая вёрстка </a:t>
            </a:r>
            <a:r>
              <a:rPr lang="ru-RU" dirty="0" err="1" smtClean="0"/>
              <a:t>лендинга</a:t>
            </a:r>
            <a:r>
              <a:rPr lang="ru-RU" dirty="0" smtClean="0"/>
              <a:t> (</a:t>
            </a:r>
            <a:r>
              <a:rPr lang="en-US" dirty="0" smtClean="0"/>
              <a:t>Flex/Grid, </a:t>
            </a:r>
            <a:r>
              <a:rPr lang="ru-RU" dirty="0" smtClean="0"/>
              <a:t>адаптивность, </a:t>
            </a:r>
            <a:r>
              <a:rPr lang="en-US" dirty="0" smtClean="0"/>
              <a:t>hover‑</a:t>
            </a:r>
            <a:r>
              <a:rPr lang="ru-RU" dirty="0" smtClean="0"/>
              <a:t>эффекты)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2425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Вступление и мотивация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Кратко</a:t>
            </a:r>
            <a:r>
              <a:rPr lang="ru-RU" dirty="0"/>
              <a:t>: «Мы не учим “старый HTML” ради HTML. Мы учим скелет, на котором строится </a:t>
            </a:r>
            <a:r>
              <a:rPr lang="ru-RU" dirty="0" err="1"/>
              <a:t>React</a:t>
            </a:r>
            <a:r>
              <a:rPr lang="ru-RU" dirty="0"/>
              <a:t>‑приложение: семантика, отступы, сетка, состояния».</a:t>
            </a:r>
          </a:p>
          <a:p>
            <a:pPr marL="0" lvl="0" indent="0">
              <a:buNone/>
            </a:pPr>
            <a:r>
              <a:rPr lang="ru-RU" dirty="0" smtClean="0"/>
              <a:t>«</a:t>
            </a:r>
            <a:r>
              <a:rPr lang="ru-RU" dirty="0"/>
              <a:t>Это база для графиков (</a:t>
            </a:r>
            <a:r>
              <a:rPr lang="ru-RU" dirty="0" err="1"/>
              <a:t>Recharts</a:t>
            </a:r>
            <a:r>
              <a:rPr lang="ru-RU" dirty="0"/>
              <a:t>) и </a:t>
            </a:r>
            <a:r>
              <a:rPr lang="ru-RU" dirty="0" err="1"/>
              <a:t>анимаций</a:t>
            </a:r>
            <a:r>
              <a:rPr lang="ru-RU" dirty="0"/>
              <a:t> (</a:t>
            </a:r>
            <a:r>
              <a:rPr lang="ru-RU" dirty="0" err="1"/>
              <a:t>Framer</a:t>
            </a:r>
            <a:r>
              <a:rPr lang="ru-RU" dirty="0"/>
              <a:t> </a:t>
            </a:r>
            <a:r>
              <a:rPr lang="ru-RU" dirty="0" err="1"/>
              <a:t>Motion</a:t>
            </a:r>
            <a:r>
              <a:rPr lang="ru-RU" dirty="0"/>
              <a:t>), а позже — для API и LLM‑интеграций».</a:t>
            </a:r>
          </a:p>
          <a:p>
            <a:pPr marL="0" lvl="0" indent="0">
              <a:buNone/>
            </a:pPr>
            <a:r>
              <a:rPr lang="ru-RU" dirty="0"/>
              <a:t>Ожидаемый результат: </a:t>
            </a:r>
            <a:r>
              <a:rPr lang="ru-RU" dirty="0" smtClean="0"/>
              <a:t>«Вы </a:t>
            </a:r>
            <a:r>
              <a:rPr lang="ru-RU" dirty="0"/>
              <a:t>сверстаете 3 секции </a:t>
            </a:r>
            <a:r>
              <a:rPr lang="ru-RU" dirty="0" err="1"/>
              <a:t>лендинга</a:t>
            </a:r>
            <a:r>
              <a:rPr lang="ru-RU" dirty="0"/>
              <a:t>, сделаете адаптивную сетку карточек, добавите </a:t>
            </a:r>
            <a:r>
              <a:rPr lang="ru-RU" dirty="0" err="1"/>
              <a:t>hover</a:t>
            </a:r>
            <a:r>
              <a:rPr lang="ru-RU" dirty="0"/>
              <a:t>‑эффекты и поймёте, почему </a:t>
            </a:r>
            <a:r>
              <a:rPr lang="ru-RU" dirty="0" err="1"/>
              <a:t>margin</a:t>
            </a:r>
            <a:r>
              <a:rPr lang="ru-RU" dirty="0"/>
              <a:t>/</a:t>
            </a:r>
            <a:r>
              <a:rPr lang="ru-RU" dirty="0" err="1"/>
              <a:t>padding</a:t>
            </a:r>
            <a:r>
              <a:rPr lang="ru-RU" dirty="0"/>
              <a:t> ведут себя именно так».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365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Инструментарий для демонстрации и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Шаг 1. Установите Node.js</a:t>
            </a:r>
          </a:p>
          <a:p>
            <a:pPr marL="0" indent="0">
              <a:buNone/>
            </a:pPr>
            <a:r>
              <a:rPr lang="ru-RU" dirty="0" smtClean="0"/>
              <a:t>Это основа. Node.js — среда, которая позволяет запускать </a:t>
            </a:r>
            <a:r>
              <a:rPr lang="ru-RU" dirty="0" err="1" smtClean="0"/>
              <a:t>JavaScript</a:t>
            </a:r>
            <a:r>
              <a:rPr lang="ru-RU" dirty="0" smtClean="0"/>
              <a:t>-код вне браузера, а ещё вместе с ней автоматически ставится </a:t>
            </a:r>
            <a:r>
              <a:rPr lang="ru-RU" dirty="0" err="1" smtClean="0"/>
              <a:t>npm</a:t>
            </a:r>
            <a:r>
              <a:rPr lang="ru-RU" dirty="0" smtClean="0"/>
              <a:t> (менеджер пакетов, без него не получится подключить сам </a:t>
            </a:r>
            <a:r>
              <a:rPr lang="ru-RU" dirty="0" err="1" smtClean="0"/>
              <a:t>React</a:t>
            </a:r>
            <a:r>
              <a:rPr lang="ru-RU" dirty="0" smtClean="0"/>
              <a:t> и другие библиотеки). </a:t>
            </a:r>
          </a:p>
          <a:p>
            <a:pPr marL="0" indent="0">
              <a:buNone/>
            </a:pPr>
            <a:r>
              <a:rPr lang="ru-RU" dirty="0" smtClean="0"/>
              <a:t>Перейдите на официальный сайт: nodejs.org. </a:t>
            </a:r>
          </a:p>
          <a:p>
            <a:pPr marL="0" indent="0">
              <a:buNone/>
            </a:pPr>
            <a:r>
              <a:rPr lang="ru-RU" dirty="0" smtClean="0"/>
              <a:t>Выберите и скачайте LTS-версию (</a:t>
            </a:r>
            <a:r>
              <a:rPr lang="ru-RU" dirty="0" err="1" smtClean="0"/>
              <a:t>Long-Term</a:t>
            </a:r>
            <a:r>
              <a:rPr lang="ru-RU" dirty="0" smtClean="0"/>
              <a:t> </a:t>
            </a:r>
            <a:r>
              <a:rPr lang="ru-RU" dirty="0" err="1" smtClean="0"/>
              <a:t>Support</a:t>
            </a:r>
            <a:r>
              <a:rPr lang="ru-RU" dirty="0" smtClean="0"/>
              <a:t>) — она стабильнее, идеально подходит для старта. </a:t>
            </a:r>
          </a:p>
          <a:p>
            <a:pPr marL="0" indent="0">
              <a:buNone/>
            </a:pPr>
            <a:r>
              <a:rPr lang="ru-RU" dirty="0" smtClean="0"/>
              <a:t>Запустите установщик. Обычно он сам добавляет Node.js в системный путь (PATH), но если после установки команды </a:t>
            </a:r>
            <a:r>
              <a:rPr lang="ru-RU" dirty="0" err="1" smtClean="0"/>
              <a:t>node</a:t>
            </a:r>
            <a:r>
              <a:rPr lang="ru-RU" dirty="0" smtClean="0"/>
              <a:t> -v и </a:t>
            </a:r>
            <a:r>
              <a:rPr lang="ru-RU" dirty="0" err="1" smtClean="0"/>
              <a:t>npm</a:t>
            </a:r>
            <a:r>
              <a:rPr lang="ru-RU" dirty="0" smtClean="0"/>
              <a:t> -v в терминале выдадут ошибку «не распознано», возможно, путь нужно задать вручную. 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4048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Шаг 2. Выберите инструмент для создания проекта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Теперь нужно «собрать» каркас будущего приложения. Есть два основных пути. </a:t>
            </a:r>
          </a:p>
          <a:p>
            <a:pPr marL="0" indent="0">
              <a:buNone/>
            </a:pPr>
            <a:r>
              <a:rPr lang="ru-RU" dirty="0"/>
              <a:t>Д</a:t>
            </a:r>
            <a:r>
              <a:rPr lang="ru-RU" dirty="0" smtClean="0"/>
              <a:t>ля новичка </a:t>
            </a:r>
            <a:r>
              <a:rPr lang="en-US" dirty="0" err="1" smtClean="0"/>
              <a:t>Vite</a:t>
            </a:r>
            <a:r>
              <a:rPr lang="en-US" dirty="0" smtClean="0"/>
              <a:t> — </a:t>
            </a:r>
            <a:r>
              <a:rPr lang="ru-RU" dirty="0" smtClean="0"/>
              <a:t>он современнее, работает быстрее. </a:t>
            </a:r>
          </a:p>
          <a:p>
            <a:pPr marL="0" indent="0">
              <a:buNone/>
            </a:pPr>
            <a:r>
              <a:rPr lang="en-US" dirty="0" smtClean="0"/>
              <a:t>Create React App (CRA) </a:t>
            </a:r>
            <a:r>
              <a:rPr lang="ru-RU" dirty="0" smtClean="0"/>
              <a:t>тоже работает, но </a:t>
            </a:r>
            <a:r>
              <a:rPr lang="en-US" dirty="0" smtClean="0"/>
              <a:t>React-</a:t>
            </a:r>
            <a:r>
              <a:rPr lang="ru-RU" dirty="0" smtClean="0"/>
              <a:t>команда сейчас активнее продвигает </a:t>
            </a:r>
            <a:r>
              <a:rPr lang="en-US" dirty="0" err="1" smtClean="0"/>
              <a:t>Vite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ru-RU" b="1" dirty="0" smtClean="0"/>
              <a:t>Вариант </a:t>
            </a:r>
            <a:r>
              <a:rPr lang="en-US" b="1" dirty="0" smtClean="0"/>
              <a:t>A: </a:t>
            </a:r>
            <a:r>
              <a:rPr lang="en-US" dirty="0" err="1" smtClean="0"/>
              <a:t>Vite</a:t>
            </a:r>
            <a:r>
              <a:rPr lang="en-US" dirty="0" smtClean="0"/>
              <a:t> </a:t>
            </a:r>
            <a:r>
              <a:rPr lang="ru-RU" dirty="0" smtClean="0"/>
              <a:t>В терминале выполните: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create </a:t>
            </a:r>
            <a:r>
              <a:rPr lang="en-US" dirty="0" err="1" smtClean="0"/>
              <a:t>vite@latest</a:t>
            </a:r>
            <a:r>
              <a:rPr lang="en-US" dirty="0" smtClean="0"/>
              <a:t> my-react-app</a:t>
            </a:r>
            <a:r>
              <a:rPr lang="ru-RU" dirty="0" smtClean="0"/>
              <a:t> --</a:t>
            </a:r>
            <a:r>
              <a:rPr lang="en-US" dirty="0" smtClean="0"/>
              <a:t> --</a:t>
            </a:r>
            <a:r>
              <a:rPr lang="ru-RU" dirty="0" smtClean="0"/>
              <a:t> </a:t>
            </a:r>
            <a:r>
              <a:rPr lang="en-US" dirty="0" smtClean="0"/>
              <a:t>template react</a:t>
            </a:r>
          </a:p>
          <a:p>
            <a:r>
              <a:rPr lang="ru-RU" dirty="0" smtClean="0"/>
              <a:t>Замените </a:t>
            </a:r>
            <a:r>
              <a:rPr lang="en-US" dirty="0" smtClean="0"/>
              <a:t>my-react-app </a:t>
            </a:r>
            <a:r>
              <a:rPr lang="ru-RU" dirty="0" smtClean="0"/>
              <a:t>на имя вашего проекта (лучше в нижнем регистре).</a:t>
            </a:r>
          </a:p>
          <a:p>
            <a:r>
              <a:rPr lang="ru-RU" dirty="0" smtClean="0"/>
              <a:t> После этого вас попросят выбрать язык (</a:t>
            </a:r>
            <a:r>
              <a:rPr lang="en-US" dirty="0" smtClean="0"/>
              <a:t>JavaScript </a:t>
            </a:r>
            <a:r>
              <a:rPr lang="ru-RU" dirty="0" smtClean="0"/>
              <a:t>или </a:t>
            </a:r>
            <a:r>
              <a:rPr lang="en-US" dirty="0" err="1" smtClean="0"/>
              <a:t>TypeScript</a:t>
            </a:r>
            <a:r>
              <a:rPr lang="en-US" dirty="0" smtClean="0"/>
              <a:t>) — </a:t>
            </a:r>
            <a:r>
              <a:rPr lang="ru-RU" dirty="0" smtClean="0"/>
              <a:t>выберите подходящий. </a:t>
            </a:r>
          </a:p>
          <a:p>
            <a:pPr marL="0" indent="0">
              <a:buNone/>
            </a:pPr>
            <a:r>
              <a:rPr lang="ru-RU" b="1" dirty="0" smtClean="0"/>
              <a:t>Вариант </a:t>
            </a:r>
            <a:r>
              <a:rPr lang="en-US" b="1" dirty="0" smtClean="0"/>
              <a:t>B</a:t>
            </a:r>
            <a:r>
              <a:rPr lang="en-US" dirty="0" smtClean="0"/>
              <a:t>: Create React App</a:t>
            </a:r>
          </a:p>
          <a:p>
            <a:r>
              <a:rPr lang="en-US" dirty="0" err="1" smtClean="0"/>
              <a:t>npx</a:t>
            </a:r>
            <a:r>
              <a:rPr lang="en-US" dirty="0" smtClean="0"/>
              <a:t> create-react-app my-react-app</a:t>
            </a:r>
          </a:p>
          <a:p>
            <a:r>
              <a:rPr lang="ru-RU" dirty="0" smtClean="0"/>
              <a:t>Тоже замените имя проекта. </a:t>
            </a:r>
          </a:p>
        </p:txBody>
      </p:sp>
    </p:spTree>
    <p:extLst>
      <p:ext uri="{BB962C8B-B14F-4D97-AF65-F5344CB8AC3E}">
        <p14:creationId xmlns="" xmlns:p14="http://schemas.microsoft.com/office/powerpoint/2010/main" val="354894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Пояснение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199" y="1825625"/>
            <a:ext cx="10758055" cy="460288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Конструкция -- --</a:t>
            </a:r>
            <a:r>
              <a:rPr lang="ru-RU" dirty="0" err="1" smtClean="0"/>
              <a:t>template</a:t>
            </a:r>
            <a:r>
              <a:rPr lang="ru-RU" dirty="0" smtClean="0"/>
              <a:t> </a:t>
            </a:r>
            <a:r>
              <a:rPr lang="ru-RU" dirty="0" err="1" smtClean="0"/>
              <a:t>react</a:t>
            </a:r>
            <a:r>
              <a:rPr lang="ru-RU" dirty="0" smtClean="0"/>
              <a:t> нужна, чтобы отделить аргументы самой команды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 smtClean="0"/>
              <a:t>vite</a:t>
            </a:r>
            <a:r>
              <a:rPr lang="ru-RU" dirty="0" smtClean="0"/>
              <a:t> от аргументов, которые передаются внутрь шаблона.</a:t>
            </a:r>
          </a:p>
          <a:p>
            <a:pPr>
              <a:buNone/>
            </a:pPr>
            <a:r>
              <a:rPr lang="ru-RU" b="1" dirty="0" smtClean="0"/>
              <a:t>Как это работает</a:t>
            </a:r>
          </a:p>
          <a:p>
            <a:pPr>
              <a:buNone/>
            </a:pP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create</a:t>
            </a:r>
            <a:r>
              <a:rPr lang="ru-RU" dirty="0" smtClean="0"/>
              <a:t> </a:t>
            </a:r>
            <a:r>
              <a:rPr lang="ru-RU" dirty="0" err="1" smtClean="0"/>
              <a:t>vite@latest</a:t>
            </a:r>
            <a:r>
              <a:rPr lang="ru-RU" dirty="0" smtClean="0"/>
              <a:t> </a:t>
            </a:r>
            <a:r>
              <a:rPr lang="ru-RU" dirty="0" err="1" smtClean="0"/>
              <a:t>my-grid</a:t>
            </a:r>
            <a:r>
              <a:rPr lang="ru-RU" dirty="0" smtClean="0"/>
              <a:t> — это сама команда создания проекта: мы говорим «создай проект </a:t>
            </a:r>
            <a:r>
              <a:rPr lang="ru-RU" dirty="0" err="1" smtClean="0"/>
              <a:t>Vite</a:t>
            </a:r>
            <a:r>
              <a:rPr lang="ru-RU" dirty="0" smtClean="0"/>
              <a:t> с именем </a:t>
            </a:r>
            <a:r>
              <a:rPr lang="ru-RU" dirty="0" err="1" smtClean="0"/>
              <a:t>my-grid</a:t>
            </a:r>
            <a:r>
              <a:rPr lang="ru-RU" dirty="0" smtClean="0"/>
              <a:t>».</a:t>
            </a:r>
          </a:p>
          <a:p>
            <a:pPr>
              <a:buNone/>
            </a:pPr>
            <a:r>
              <a:rPr lang="ru-RU" dirty="0" smtClean="0"/>
              <a:t>-- (двойное тире) — это специальный разделитель (он есть во многих CLI‑утилитах). </a:t>
            </a:r>
          </a:p>
          <a:p>
            <a:pPr>
              <a:buNone/>
            </a:pPr>
            <a:r>
              <a:rPr lang="ru-RU" dirty="0" smtClean="0"/>
              <a:t>Он означает: «всё, что идёт после этого, не для меня (не для команды </a:t>
            </a:r>
            <a:r>
              <a:rPr lang="ru-RU" dirty="0" err="1" smtClean="0"/>
              <a:t>create</a:t>
            </a:r>
            <a:r>
              <a:rPr lang="ru-RU" dirty="0" smtClean="0"/>
              <a:t>), а для того, что я запускаю внутри».</a:t>
            </a:r>
          </a:p>
          <a:p>
            <a:pPr>
              <a:buNone/>
            </a:pPr>
            <a:r>
              <a:rPr lang="ru-RU" dirty="0" smtClean="0"/>
              <a:t>--</a:t>
            </a:r>
            <a:r>
              <a:rPr lang="ru-RU" dirty="0" err="1" smtClean="0"/>
              <a:t>template</a:t>
            </a:r>
            <a:r>
              <a:rPr lang="ru-RU" dirty="0" smtClean="0"/>
              <a:t> </a:t>
            </a:r>
            <a:r>
              <a:rPr lang="ru-RU" dirty="0" err="1" smtClean="0"/>
              <a:t>react</a:t>
            </a:r>
            <a:r>
              <a:rPr lang="ru-RU" dirty="0" smtClean="0"/>
              <a:t> — это уже аргумент для внутреннего </a:t>
            </a:r>
            <a:r>
              <a:rPr lang="ru-RU" dirty="0" err="1" smtClean="0"/>
              <a:t>скрипта</a:t>
            </a:r>
            <a:r>
              <a:rPr lang="ru-RU" dirty="0" smtClean="0"/>
              <a:t> </a:t>
            </a:r>
            <a:r>
              <a:rPr lang="ru-RU" dirty="0" err="1" smtClean="0"/>
              <a:t>Vite</a:t>
            </a:r>
            <a:r>
              <a:rPr lang="ru-RU" dirty="0" smtClean="0"/>
              <a:t>: «используй шаблон </a:t>
            </a:r>
            <a:r>
              <a:rPr lang="ru-RU" dirty="0" err="1" smtClean="0"/>
              <a:t>React</a:t>
            </a:r>
            <a:r>
              <a:rPr lang="ru-RU" dirty="0" smtClean="0"/>
              <a:t>».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3. Установите зависимости и запустите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После создания проекта перейдите в его папку в терминале:</a:t>
            </a:r>
          </a:p>
          <a:p>
            <a:r>
              <a:rPr lang="en-US" dirty="0" smtClean="0"/>
              <a:t>cd my-react-app</a:t>
            </a:r>
          </a:p>
          <a:p>
            <a:r>
              <a:rPr lang="ru-RU" dirty="0" smtClean="0"/>
              <a:t>Затем выполните: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install</a:t>
            </a:r>
          </a:p>
          <a:p>
            <a:r>
              <a:rPr lang="ru-RU" dirty="0" smtClean="0"/>
              <a:t>Это скачает все нужные библиотеки. </a:t>
            </a:r>
          </a:p>
          <a:p>
            <a:pPr marL="0" indent="0">
              <a:buNone/>
            </a:pPr>
            <a:r>
              <a:rPr lang="ru-RU" dirty="0" smtClean="0"/>
              <a:t>И наконец, запустите сервер разработки:</a:t>
            </a:r>
          </a:p>
          <a:p>
            <a:r>
              <a:rPr lang="ru-RU" dirty="0" smtClean="0"/>
              <a:t>Для </a:t>
            </a:r>
            <a:r>
              <a:rPr lang="en-US" dirty="0" err="1" smtClean="0"/>
              <a:t>Vite</a:t>
            </a:r>
            <a:r>
              <a:rPr lang="en-US" dirty="0" smtClean="0"/>
              <a:t>: </a:t>
            </a:r>
            <a:r>
              <a:rPr lang="en-US" dirty="0" err="1" smtClean="0"/>
              <a:t>npm</a:t>
            </a:r>
            <a:r>
              <a:rPr lang="en-US" dirty="0" smtClean="0"/>
              <a:t> run dev</a:t>
            </a:r>
          </a:p>
          <a:p>
            <a:r>
              <a:rPr lang="ru-RU" dirty="0" smtClean="0"/>
              <a:t>Для </a:t>
            </a:r>
            <a:r>
              <a:rPr lang="en-US" dirty="0" smtClean="0"/>
              <a:t>CRA: </a:t>
            </a:r>
            <a:r>
              <a:rPr lang="en-US" dirty="0" err="1" smtClean="0"/>
              <a:t>npm</a:t>
            </a:r>
            <a:r>
              <a:rPr lang="en-US" dirty="0" smtClean="0"/>
              <a:t> start</a:t>
            </a:r>
          </a:p>
          <a:p>
            <a:r>
              <a:rPr lang="ru-RU" dirty="0" smtClean="0"/>
              <a:t>Откройте в браузере </a:t>
            </a:r>
            <a:r>
              <a:rPr lang="en-US" dirty="0" smtClean="0"/>
              <a:t>http://localhost:3000 (</a:t>
            </a:r>
            <a:r>
              <a:rPr lang="ru-RU" dirty="0" smtClean="0"/>
              <a:t>для </a:t>
            </a:r>
            <a:r>
              <a:rPr lang="en-US" dirty="0" smtClean="0"/>
              <a:t>CRA) </a:t>
            </a:r>
            <a:r>
              <a:rPr lang="ru-RU" dirty="0" smtClean="0"/>
              <a:t>или </a:t>
            </a:r>
            <a:r>
              <a:rPr lang="en-US" dirty="0" smtClean="0"/>
              <a:t>http://localhost:5173 (</a:t>
            </a:r>
            <a:r>
              <a:rPr lang="ru-RU" dirty="0" smtClean="0"/>
              <a:t>для </a:t>
            </a:r>
            <a:r>
              <a:rPr lang="en-US" dirty="0" err="1" smtClean="0"/>
              <a:t>Vite</a:t>
            </a:r>
            <a:r>
              <a:rPr lang="en-US" dirty="0" smtClean="0"/>
              <a:t>) — </a:t>
            </a:r>
            <a:r>
              <a:rPr lang="ru-RU" dirty="0" smtClean="0"/>
              <a:t>вы увидите заготовку вашего </a:t>
            </a:r>
            <a:r>
              <a:rPr lang="en-US" dirty="0" smtClean="0"/>
              <a:t>React-</a:t>
            </a:r>
            <a:r>
              <a:rPr lang="ru-RU" dirty="0" smtClean="0"/>
              <a:t>приложения. </a:t>
            </a:r>
          </a:p>
        </p:txBody>
      </p:sp>
    </p:spTree>
    <p:extLst>
      <p:ext uri="{BB962C8B-B14F-4D97-AF65-F5344CB8AC3E}">
        <p14:creationId xmlns="" xmlns:p14="http://schemas.microsoft.com/office/powerpoint/2010/main" val="153718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4. Откройте проект в редакторе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Чтобы писать код, откройте папку проекта в удобном редакторе. </a:t>
            </a:r>
          </a:p>
          <a:p>
            <a:pPr marL="0" indent="0">
              <a:buNone/>
            </a:pPr>
            <a:r>
              <a:rPr lang="ru-RU" dirty="0" smtClean="0"/>
              <a:t>Редактор </a:t>
            </a:r>
            <a:r>
              <a:rPr lang="ru-RU" dirty="0" err="1" smtClean="0"/>
              <a:t>Visual</a:t>
            </a:r>
            <a:r>
              <a:rPr lang="ru-RU" dirty="0" smtClean="0"/>
              <a:t> </a:t>
            </a:r>
            <a:r>
              <a:rPr lang="ru-RU" dirty="0" err="1" smtClean="0"/>
              <a:t>Studio</a:t>
            </a:r>
            <a:r>
              <a:rPr lang="ru-RU" dirty="0" smtClean="0"/>
              <a:t> </a:t>
            </a:r>
            <a:r>
              <a:rPr lang="ru-RU" dirty="0" err="1" smtClean="0"/>
              <a:t>Code</a:t>
            </a:r>
            <a:r>
              <a:rPr lang="ru-RU" dirty="0" smtClean="0"/>
              <a:t> — у него отличная встроенная поддержка </a:t>
            </a:r>
            <a:r>
              <a:rPr lang="ru-RU" dirty="0" err="1" smtClean="0"/>
              <a:t>React</a:t>
            </a:r>
            <a:r>
              <a:rPr lang="ru-RU" dirty="0" smtClean="0"/>
              <a:t> (подсветка синтаксиса, </a:t>
            </a:r>
            <a:r>
              <a:rPr lang="ru-RU" dirty="0" err="1" smtClean="0"/>
              <a:t>автодополнение</a:t>
            </a:r>
            <a:r>
              <a:rPr lang="ru-RU" dirty="0" smtClean="0"/>
              <a:t>, расширения для отладки). </a:t>
            </a:r>
          </a:p>
          <a:p>
            <a:pPr marL="0" indent="0">
              <a:buNone/>
            </a:pPr>
            <a:r>
              <a:rPr lang="ru-RU" dirty="0" smtClean="0"/>
              <a:t>Несколько советов, чтобы избежать </a:t>
            </a:r>
            <a:r>
              <a:rPr lang="ru-RU" dirty="0" err="1" smtClean="0"/>
              <a:t>затыков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Права доступа. </a:t>
            </a:r>
            <a:r>
              <a:rPr lang="ru-RU" dirty="0" smtClean="0"/>
              <a:t>Если при </a:t>
            </a: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install</a:t>
            </a:r>
            <a:r>
              <a:rPr lang="ru-RU" dirty="0" smtClean="0"/>
              <a:t> выскочит ошибка прав, попробуйте запустить терминал от имени администратора или создайте проект в папке, куда у вас точно есть права на запись (не в </a:t>
            </a:r>
            <a:r>
              <a:rPr lang="ru-RU" dirty="0" err="1" smtClean="0"/>
              <a:t>Program</a:t>
            </a:r>
            <a:r>
              <a:rPr lang="ru-RU" dirty="0" smtClean="0"/>
              <a:t> </a:t>
            </a:r>
            <a:r>
              <a:rPr lang="ru-RU" dirty="0" err="1" smtClean="0"/>
              <a:t>Files</a:t>
            </a:r>
            <a:r>
              <a:rPr lang="ru-RU" dirty="0" smtClean="0"/>
              <a:t>). </a:t>
            </a:r>
          </a:p>
          <a:p>
            <a:pPr marL="0" indent="0">
              <a:buNone/>
            </a:pPr>
            <a:r>
              <a:rPr lang="ru-RU" b="1" dirty="0" smtClean="0"/>
              <a:t>Интернет. </a:t>
            </a:r>
            <a:r>
              <a:rPr lang="ru-RU" dirty="0" smtClean="0"/>
              <a:t>Для скачивания зависимостей и самого инструмента потребуется подключение к сети. </a:t>
            </a:r>
          </a:p>
          <a:p>
            <a:pPr marL="0" indent="0">
              <a:buNone/>
            </a:pPr>
            <a:r>
              <a:rPr lang="ru-RU" b="1" dirty="0" err="1" smtClean="0"/>
              <a:t>TypeScript</a:t>
            </a:r>
            <a:r>
              <a:rPr lang="ru-RU" b="1" dirty="0" smtClean="0"/>
              <a:t>. </a:t>
            </a:r>
            <a:r>
              <a:rPr lang="ru-RU" dirty="0" smtClean="0"/>
              <a:t>Если планируете писать более строгий код, при создании проекта через </a:t>
            </a:r>
            <a:r>
              <a:rPr lang="ru-RU" dirty="0" err="1" smtClean="0"/>
              <a:t>Vite</a:t>
            </a:r>
            <a:r>
              <a:rPr lang="ru-RU" dirty="0" smtClean="0"/>
              <a:t> сразу выберите </a:t>
            </a:r>
            <a:r>
              <a:rPr lang="ru-RU" dirty="0" err="1" smtClean="0"/>
              <a:t>TypeScript</a:t>
            </a:r>
            <a:r>
              <a:rPr lang="ru-RU" dirty="0" smtClean="0"/>
              <a:t> — тогда все файлы будут с расширением .</a:t>
            </a:r>
            <a:r>
              <a:rPr lang="ru-RU" dirty="0" err="1" smtClean="0"/>
              <a:t>tsx</a:t>
            </a:r>
            <a:r>
              <a:rPr lang="ru-RU" dirty="0" smtClean="0"/>
              <a:t>. </a:t>
            </a:r>
          </a:p>
          <a:p>
            <a:pPr marL="0" indent="0">
              <a:buNone/>
            </a:pPr>
            <a:r>
              <a:rPr lang="ru-RU" dirty="0" smtClean="0"/>
              <a:t>😊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7026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Запускаем </a:t>
            </a:r>
            <a:r>
              <a:rPr lang="ru-RU" dirty="0" err="1" smtClean="0"/>
              <a:t>React</a:t>
            </a:r>
            <a:r>
              <a:rPr lang="ru-RU" dirty="0" smtClean="0"/>
              <a:t> и смотрим, как это устроено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339" y="1825624"/>
            <a:ext cx="10850461" cy="50323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Цель: создать проект, запустить его, открыть в VS </a:t>
            </a:r>
            <a:r>
              <a:rPr lang="ru-RU" dirty="0" err="1" smtClean="0"/>
              <a:t>Code</a:t>
            </a:r>
            <a:r>
              <a:rPr lang="ru-RU" dirty="0" smtClean="0"/>
              <a:t> и сделать первый «</a:t>
            </a:r>
            <a:r>
              <a:rPr lang="ru-RU" dirty="0" err="1" smtClean="0"/>
              <a:t>Hello</a:t>
            </a:r>
            <a:r>
              <a:rPr lang="ru-RU" dirty="0" smtClean="0"/>
              <a:t> </a:t>
            </a:r>
            <a:r>
              <a:rPr lang="ru-RU" dirty="0" err="1" smtClean="0"/>
              <a:t>World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r>
              <a:rPr lang="ru-RU" dirty="0" smtClean="0"/>
              <a:t>3.	Открыть папку в VS </a:t>
            </a:r>
            <a:r>
              <a:rPr lang="ru-RU" dirty="0" err="1" smtClean="0"/>
              <a:t>Code</a:t>
            </a:r>
            <a:r>
              <a:rPr lang="ru-RU" dirty="0" smtClean="0"/>
              <a:t> (</a:t>
            </a:r>
            <a:r>
              <a:rPr lang="ru-RU" dirty="0" err="1" smtClean="0"/>
              <a:t>code</a:t>
            </a:r>
            <a:r>
              <a:rPr lang="ru-RU" dirty="0" smtClean="0"/>
              <a:t> .)</a:t>
            </a:r>
          </a:p>
          <a:p>
            <a:pPr marL="0" indent="0">
              <a:buNone/>
            </a:pPr>
            <a:r>
              <a:rPr lang="ru-RU" dirty="0" smtClean="0"/>
              <a:t>4.	Найти </a:t>
            </a:r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App.jsx</a:t>
            </a:r>
            <a:r>
              <a:rPr lang="ru-RU" dirty="0" smtClean="0"/>
              <a:t> и поменять текст.</a:t>
            </a:r>
          </a:p>
          <a:p>
            <a:pPr marL="0" indent="0">
              <a:buNone/>
            </a:pPr>
            <a:r>
              <a:rPr lang="ru-RU" dirty="0" smtClean="0"/>
              <a:t>Простыми словами:</a:t>
            </a:r>
          </a:p>
          <a:p>
            <a:pPr marL="0" indent="0">
              <a:buNone/>
            </a:pPr>
            <a:r>
              <a:rPr lang="ru-RU" dirty="0" smtClean="0"/>
              <a:t>•	«</a:t>
            </a:r>
            <a:r>
              <a:rPr lang="ru-RU" dirty="0" err="1" smtClean="0"/>
              <a:t>Vite</a:t>
            </a:r>
            <a:r>
              <a:rPr lang="ru-RU" dirty="0" smtClean="0"/>
              <a:t> собирает проект и отдаёт его в браузер. </a:t>
            </a:r>
            <a:r>
              <a:rPr lang="ru-RU" dirty="0" err="1" smtClean="0"/>
              <a:t>npm</a:t>
            </a:r>
            <a:r>
              <a:rPr lang="ru-RU" dirty="0" smtClean="0"/>
              <a:t> </a:t>
            </a:r>
            <a:r>
              <a:rPr lang="ru-RU" dirty="0" err="1" smtClean="0"/>
              <a:t>run</a:t>
            </a:r>
            <a:r>
              <a:rPr lang="ru-RU" dirty="0" smtClean="0"/>
              <a:t> </a:t>
            </a:r>
            <a:r>
              <a:rPr lang="ru-RU" dirty="0" err="1" smtClean="0"/>
              <a:t>dev</a:t>
            </a:r>
            <a:r>
              <a:rPr lang="ru-RU" dirty="0" smtClean="0"/>
              <a:t> — это команда, которая запускает сервер разработки.»</a:t>
            </a:r>
          </a:p>
          <a:p>
            <a:pPr marL="0" indent="0">
              <a:buNone/>
            </a:pPr>
            <a:r>
              <a:rPr lang="ru-RU" dirty="0" smtClean="0"/>
              <a:t>•	«В VS </a:t>
            </a:r>
            <a:r>
              <a:rPr lang="ru-RU" dirty="0" err="1" smtClean="0"/>
              <a:t>Code</a:t>
            </a:r>
            <a:r>
              <a:rPr lang="ru-RU" dirty="0" smtClean="0"/>
              <a:t> мы редактируем файлы, а браузер обновляется автоматически (HMR).»</a:t>
            </a:r>
          </a:p>
          <a:p>
            <a:pPr marL="0" indent="0">
              <a:buNone/>
            </a:pPr>
            <a:r>
              <a:rPr lang="ru-RU" dirty="0" smtClean="0"/>
              <a:t>•	«JSX — это HTML внутри </a:t>
            </a:r>
            <a:r>
              <a:rPr lang="ru-RU" dirty="0" err="1" smtClean="0"/>
              <a:t>JavaScript</a:t>
            </a:r>
            <a:r>
              <a:rPr lang="ru-RU" dirty="0" smtClean="0"/>
              <a:t>. Пока не нужно понимать, как это работает под капотом.»</a:t>
            </a:r>
          </a:p>
          <a:p>
            <a:pPr marL="0" indent="0">
              <a:buNone/>
            </a:pPr>
            <a:r>
              <a:rPr lang="ru-RU" dirty="0" smtClean="0"/>
              <a:t>Задание:</a:t>
            </a:r>
          </a:p>
          <a:p>
            <a:pPr marL="0" indent="0">
              <a:buNone/>
            </a:pPr>
            <a:r>
              <a:rPr lang="ru-RU" dirty="0" smtClean="0"/>
              <a:t>«Создайте проект на </a:t>
            </a:r>
            <a:r>
              <a:rPr lang="ru-RU" dirty="0" err="1" smtClean="0"/>
              <a:t>Vite</a:t>
            </a:r>
            <a:r>
              <a:rPr lang="ru-RU" dirty="0" smtClean="0"/>
              <a:t> + </a:t>
            </a:r>
            <a:r>
              <a:rPr lang="ru-RU" dirty="0" err="1" smtClean="0"/>
              <a:t>React</a:t>
            </a:r>
            <a:r>
              <a:rPr lang="ru-RU" dirty="0" smtClean="0"/>
              <a:t>. В </a:t>
            </a:r>
            <a:r>
              <a:rPr lang="ru-RU" dirty="0" err="1" smtClean="0"/>
              <a:t>App.jsx</a:t>
            </a:r>
            <a:r>
              <a:rPr lang="ru-RU" dirty="0" smtClean="0"/>
              <a:t> выведите заголовок “Мой первый </a:t>
            </a:r>
            <a:r>
              <a:rPr lang="ru-RU" dirty="0" err="1" smtClean="0"/>
              <a:t>React</a:t>
            </a:r>
            <a:r>
              <a:rPr lang="ru-RU" dirty="0" smtClean="0"/>
              <a:t>-проект” и абзац с вашим именем. </a:t>
            </a:r>
          </a:p>
          <a:p>
            <a:pPr marL="0" indent="0">
              <a:buNone/>
            </a:pPr>
            <a:r>
              <a:rPr lang="ru-RU" dirty="0" err="1" smtClean="0"/>
              <a:t>Закоммитьте</a:t>
            </a:r>
            <a:r>
              <a:rPr lang="ru-RU" dirty="0" smtClean="0"/>
              <a:t> изменения: </a:t>
            </a:r>
            <a:r>
              <a:rPr lang="ru-RU" dirty="0" err="1" smtClean="0">
                <a:solidFill>
                  <a:srgbClr val="FF0000"/>
                </a:solidFill>
              </a:rPr>
              <a:t>git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 err="1" smtClean="0">
                <a:solidFill>
                  <a:srgbClr val="FF0000"/>
                </a:solidFill>
              </a:rPr>
              <a:t>add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sz="4100" b="1" dirty="0" smtClean="0">
                <a:solidFill>
                  <a:srgbClr val="FF0000"/>
                </a:solidFill>
              </a:rPr>
              <a:t>.</a:t>
            </a:r>
            <a:r>
              <a:rPr lang="ru-RU" dirty="0" smtClean="0"/>
              <a:t> ,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commit</a:t>
            </a:r>
            <a:r>
              <a:rPr lang="ru-RU" dirty="0" smtClean="0"/>
              <a:t> -m "</a:t>
            </a:r>
            <a:r>
              <a:rPr lang="ru-RU" dirty="0" err="1" smtClean="0"/>
              <a:t>init</a:t>
            </a:r>
            <a:r>
              <a:rPr lang="ru-RU" dirty="0" smtClean="0"/>
              <a:t> </a:t>
            </a:r>
            <a:r>
              <a:rPr lang="ru-RU" dirty="0" err="1" smtClean="0"/>
              <a:t>project</a:t>
            </a:r>
            <a:r>
              <a:rPr lang="ru-RU" dirty="0" smtClean="0"/>
              <a:t>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031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🎯 Введение: От классического веба к современному </a:t>
            </a:r>
            <a:r>
              <a:rPr lang="en-US" dirty="0" smtClean="0"/>
              <a:t>React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Ключевая идея: </a:t>
            </a:r>
            <a:r>
              <a:rPr lang="en-US" dirty="0" smtClean="0"/>
              <a:t>React </a:t>
            </a:r>
            <a:r>
              <a:rPr lang="ru-RU" dirty="0" smtClean="0"/>
              <a:t>не заменяет основы веба, а надстраивается над ними. </a:t>
            </a:r>
          </a:p>
          <a:p>
            <a:pPr marL="0" indent="0">
              <a:buNone/>
            </a:pPr>
            <a:r>
              <a:rPr lang="ru-RU" dirty="0" smtClean="0"/>
              <a:t>Понимание </a:t>
            </a:r>
            <a:r>
              <a:rPr lang="en-US" dirty="0" smtClean="0"/>
              <a:t>HTML, CSS </a:t>
            </a:r>
            <a:r>
              <a:rPr lang="ru-RU" dirty="0" smtClean="0"/>
              <a:t>и </a:t>
            </a:r>
            <a:r>
              <a:rPr lang="en-US" dirty="0" smtClean="0"/>
              <a:t>HTTP - </a:t>
            </a:r>
            <a:r>
              <a:rPr lang="ru-RU" dirty="0" smtClean="0"/>
              <a:t>фундамент для любого </a:t>
            </a:r>
            <a:r>
              <a:rPr lang="en-US" dirty="0" smtClean="0"/>
              <a:t>React-</a:t>
            </a:r>
            <a:r>
              <a:rPr lang="ru-RU" dirty="0" smtClean="0"/>
              <a:t>разработчика.</a:t>
            </a:r>
          </a:p>
          <a:p>
            <a:pPr marL="0" indent="0">
              <a:buNone/>
            </a:pPr>
            <a:r>
              <a:rPr lang="en-US" dirty="0" smtClean="0"/>
              <a:t>// React </a:t>
            </a:r>
            <a:r>
              <a:rPr lang="ru-RU" dirty="0" smtClean="0"/>
              <a:t>компонент - это </a:t>
            </a:r>
            <a:r>
              <a:rPr lang="en-US" dirty="0" smtClean="0"/>
              <a:t>JSX, </a:t>
            </a:r>
            <a:r>
              <a:rPr lang="ru-RU" dirty="0" smtClean="0"/>
              <a:t>который компилируется в </a:t>
            </a:r>
            <a:r>
              <a:rPr lang="en-US" dirty="0" smtClean="0"/>
              <a:t>HTML</a:t>
            </a:r>
          </a:p>
          <a:p>
            <a:pPr marL="0" indent="0">
              <a:buNone/>
            </a:pPr>
            <a:r>
              <a:rPr lang="en-US" dirty="0" smtClean="0"/>
              <a:t>function App()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&lt;div </a:t>
            </a:r>
            <a:r>
              <a:rPr lang="en-US" dirty="0" err="1" smtClean="0"/>
              <a:t>className</a:t>
            </a:r>
            <a:r>
              <a:rPr lang="en-US" dirty="0" smtClean="0"/>
              <a:t>="container"&gt; {/* </a:t>
            </a:r>
            <a:r>
              <a:rPr lang="ru-RU" dirty="0" smtClean="0"/>
              <a:t>В итоге становится </a:t>
            </a:r>
            <a:r>
              <a:rPr lang="en-US" dirty="0" smtClean="0"/>
              <a:t>HTML + CSS */}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Привет, мир!&lt;/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  &lt;/div&gt;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7123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устроен веб: </a:t>
            </a:r>
            <a:r>
              <a:rPr lang="en-US" dirty="0" smtClean="0"/>
              <a:t>HTTP/HTTPS, </a:t>
            </a:r>
            <a:r>
              <a:rPr lang="ru-RU" dirty="0" smtClean="0"/>
              <a:t>клиент и сервер (в связке с </a:t>
            </a:r>
            <a:r>
              <a:rPr lang="en-US" dirty="0" smtClean="0"/>
              <a:t>React)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0622" y="1817236"/>
            <a:ext cx="10069689" cy="34880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Простыми </a:t>
            </a:r>
            <a:r>
              <a:rPr lang="ru-RU" b="1" dirty="0" err="1" smtClean="0"/>
              <a:t>словами:Браузер</a:t>
            </a:r>
            <a:r>
              <a:rPr lang="ru-RU" b="1" dirty="0" smtClean="0"/>
              <a:t> (клиент) запрашивает </a:t>
            </a:r>
            <a:r>
              <a:rPr lang="en-US" b="1" dirty="0" smtClean="0"/>
              <a:t>HTML/CSS/JS. </a:t>
            </a:r>
            <a:endParaRPr lang="ru-RU" b="1" dirty="0" smtClean="0"/>
          </a:p>
          <a:p>
            <a:pPr marL="0" indent="0">
              <a:buNone/>
            </a:pPr>
            <a:r>
              <a:rPr lang="ru-RU" b="1" dirty="0" smtClean="0"/>
              <a:t>Сервер отдаёт ресурсы. </a:t>
            </a:r>
          </a:p>
          <a:p>
            <a:pPr marL="0" indent="0">
              <a:buNone/>
            </a:pPr>
            <a:r>
              <a:rPr lang="en-US" b="1" dirty="0" smtClean="0"/>
              <a:t>React‑</a:t>
            </a:r>
            <a:r>
              <a:rPr lang="ru-RU" b="1" dirty="0" smtClean="0"/>
              <a:t>приложение — это </a:t>
            </a:r>
            <a:r>
              <a:rPr lang="en-US" b="1" dirty="0" smtClean="0"/>
              <a:t>JS‑</a:t>
            </a:r>
            <a:r>
              <a:rPr lang="ru-RU" b="1" dirty="0" err="1" smtClean="0"/>
              <a:t>бандл</a:t>
            </a:r>
            <a:r>
              <a:rPr lang="ru-RU" b="1" dirty="0" smtClean="0"/>
              <a:t> + статические файлы.</a:t>
            </a:r>
          </a:p>
          <a:p>
            <a:pPr marL="0" indent="0">
              <a:buNone/>
            </a:pPr>
            <a:r>
              <a:rPr lang="en-US" b="1" dirty="0" smtClean="0"/>
              <a:t>HTTP — </a:t>
            </a:r>
            <a:r>
              <a:rPr lang="ru-RU" b="1" dirty="0" smtClean="0"/>
              <a:t>передача данных, </a:t>
            </a:r>
            <a:r>
              <a:rPr lang="en-US" b="1" dirty="0" smtClean="0"/>
              <a:t>HTTPS — </a:t>
            </a:r>
            <a:r>
              <a:rPr lang="ru-RU" b="1" dirty="0" smtClean="0"/>
              <a:t>шифрование (</a:t>
            </a:r>
            <a:r>
              <a:rPr lang="en-US" b="1" dirty="0" smtClean="0"/>
              <a:t>TLS/SSL). </a:t>
            </a:r>
            <a:endParaRPr lang="ru-RU" b="1" dirty="0" smtClean="0"/>
          </a:p>
          <a:p>
            <a:pPr marL="0" indent="0">
              <a:buNone/>
            </a:pPr>
            <a:r>
              <a:rPr lang="ru-RU" b="1" dirty="0" smtClean="0"/>
              <a:t>Для реальных проектов (и тем более для </a:t>
            </a:r>
            <a:r>
              <a:rPr lang="en-US" b="1" dirty="0" smtClean="0"/>
              <a:t>API/LLM) HTTPS </a:t>
            </a:r>
            <a:r>
              <a:rPr lang="ru-RU" b="1" dirty="0" smtClean="0"/>
              <a:t>обязателен.</a:t>
            </a:r>
          </a:p>
          <a:p>
            <a:pPr marL="0" indent="0">
              <a:buNone/>
            </a:pPr>
            <a:r>
              <a:rPr lang="ru-RU" b="1" dirty="0" smtClean="0"/>
              <a:t>В парадигме </a:t>
            </a:r>
            <a:r>
              <a:rPr lang="en-US" b="1" dirty="0" smtClean="0"/>
              <a:t>React: </a:t>
            </a:r>
            <a:r>
              <a:rPr lang="ru-RU" b="1" dirty="0" smtClean="0"/>
              <a:t>браузер загружает </a:t>
            </a:r>
            <a:r>
              <a:rPr lang="en-US" b="1" dirty="0" smtClean="0"/>
              <a:t>index.html (</a:t>
            </a:r>
            <a:r>
              <a:rPr lang="ru-RU" b="1" dirty="0" smtClean="0"/>
              <a:t>один корневой &lt;</a:t>
            </a:r>
            <a:r>
              <a:rPr lang="en-US" b="1" dirty="0" smtClean="0"/>
              <a:t>div id="root"&gt;), </a:t>
            </a:r>
            <a:endParaRPr lang="ru-RU" b="1" dirty="0" smtClean="0"/>
          </a:p>
          <a:p>
            <a:pPr marL="0" indent="0">
              <a:buNone/>
            </a:pPr>
            <a:r>
              <a:rPr lang="ru-RU" b="1" dirty="0" smtClean="0"/>
              <a:t>затем </a:t>
            </a:r>
            <a:r>
              <a:rPr lang="en-US" b="1" dirty="0" smtClean="0"/>
              <a:t>React </a:t>
            </a:r>
            <a:r>
              <a:rPr lang="ru-RU" b="1" dirty="0" smtClean="0"/>
              <a:t>монтирует компоненты внутрь него.</a:t>
            </a:r>
          </a:p>
          <a:p>
            <a:pPr marL="0" indent="0">
              <a:buNone/>
            </a:pPr>
            <a:r>
              <a:rPr lang="ru-RU" b="1" dirty="0" smtClean="0"/>
              <a:t>Аналогия: заказ пиццы.</a:t>
            </a:r>
          </a:p>
          <a:p>
            <a:pPr marL="0" indent="0">
              <a:buNone/>
            </a:pPr>
            <a:r>
              <a:rPr lang="ru-RU" b="1" dirty="0" smtClean="0"/>
              <a:t> Вы (клиент) делаете запрос,-</a:t>
            </a:r>
            <a:r>
              <a:rPr lang="en-US" b="1" dirty="0" smtClean="0"/>
              <a:t>&gt;</a:t>
            </a:r>
            <a:r>
              <a:rPr lang="ru-RU" b="1" dirty="0" smtClean="0"/>
              <a:t> пиццерия (сервер) готовит и отдаёт, </a:t>
            </a:r>
            <a:r>
              <a:rPr lang="en-US" b="1" dirty="0" smtClean="0"/>
              <a:t>-&gt;</a:t>
            </a:r>
            <a:r>
              <a:rPr lang="ru-RU" b="1" dirty="0" smtClean="0"/>
              <a:t>курьер (сеть) привозит. </a:t>
            </a:r>
            <a:endParaRPr lang="en-US" b="1" dirty="0" smtClean="0"/>
          </a:p>
          <a:p>
            <a:pPr marL="0" indent="0">
              <a:buNone/>
            </a:pPr>
            <a:r>
              <a:rPr lang="ru-RU" b="1" dirty="0" smtClean="0"/>
              <a:t>В </a:t>
            </a:r>
            <a:r>
              <a:rPr lang="en-US" b="1" dirty="0" smtClean="0"/>
              <a:t>React «</a:t>
            </a:r>
            <a:r>
              <a:rPr lang="ru-RU" b="1" dirty="0" smtClean="0"/>
              <a:t>пиццу» собирают из кусочков‑компонентов уже в браузере.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1896534" y="5305333"/>
            <a:ext cx="63268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7030A0"/>
                </a:solidFill>
              </a:rPr>
              <a:t>Практика 1 открыть любой сайт, </a:t>
            </a:r>
            <a:r>
              <a:rPr lang="en-US" b="1" dirty="0" smtClean="0">
                <a:solidFill>
                  <a:srgbClr val="7030A0"/>
                </a:solidFill>
              </a:rPr>
              <a:t>F12 → Network, </a:t>
            </a:r>
            <a:r>
              <a:rPr lang="ru-RU" b="1" dirty="0" smtClean="0">
                <a:solidFill>
                  <a:srgbClr val="7030A0"/>
                </a:solidFill>
              </a:rPr>
              <a:t>показать один запрос и ответ: статус, заголовки, тело. Вопрос аудитории: «Что браузер делает сразу после получения </a:t>
            </a:r>
            <a:r>
              <a:rPr lang="en-US" b="1" dirty="0" smtClean="0">
                <a:solidFill>
                  <a:srgbClr val="7030A0"/>
                </a:solidFill>
              </a:rPr>
              <a:t>HTML?»</a:t>
            </a:r>
            <a:endParaRPr lang="ru-RU" b="1" dirty="0">
              <a:solidFill>
                <a:srgbClr val="7030A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03391" y="1104920"/>
            <a:ext cx="24601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Ключевые термины: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HTTP request/response, </a:t>
            </a:r>
          </a:p>
          <a:p>
            <a:r>
              <a:rPr lang="en-US" dirty="0" smtClean="0"/>
              <a:t>status codes (200, 404), </a:t>
            </a:r>
          </a:p>
          <a:p>
            <a:r>
              <a:rPr lang="en-US" dirty="0" smtClean="0"/>
              <a:t>headers, body,</a:t>
            </a:r>
          </a:p>
          <a:p>
            <a:r>
              <a:rPr lang="en-US" dirty="0" smtClean="0"/>
              <a:t> HTTPS = HTTP + TLS/SSL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839201" y="4812912"/>
            <a:ext cx="31726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solidFill>
                  <a:srgbClr val="FF0000"/>
                </a:solidFill>
              </a:rPr>
              <a:t>JS‑бандл</a:t>
            </a:r>
            <a:r>
              <a:rPr lang="ru-RU" sz="1600" dirty="0">
                <a:solidFill>
                  <a:srgbClr val="FF0000"/>
                </a:solidFill>
              </a:rPr>
              <a:t> (</a:t>
            </a:r>
            <a:r>
              <a:rPr lang="ru-RU" sz="1600" dirty="0" err="1">
                <a:solidFill>
                  <a:srgbClr val="FF0000"/>
                </a:solidFill>
              </a:rPr>
              <a:t>JavaScript</a:t>
            </a:r>
            <a:r>
              <a:rPr lang="ru-RU" sz="1600" dirty="0">
                <a:solidFill>
                  <a:srgbClr val="FF0000"/>
                </a:solidFill>
              </a:rPr>
              <a:t> </a:t>
            </a:r>
            <a:r>
              <a:rPr lang="ru-RU" sz="1600" dirty="0" err="1">
                <a:solidFill>
                  <a:srgbClr val="FF0000"/>
                </a:solidFill>
              </a:rPr>
              <a:t>bundle</a:t>
            </a:r>
            <a:r>
              <a:rPr lang="ru-RU" sz="1600" dirty="0">
                <a:solidFill>
                  <a:srgbClr val="FF0000"/>
                </a:solidFill>
              </a:rPr>
              <a:t>) </a:t>
            </a:r>
            <a:r>
              <a:rPr lang="ru-RU" sz="1600" dirty="0"/>
              <a:t> это единый файл (или набор файлов), в который собирают множество отдельных JS‑модулей, зависимостей и ресурсов, чтобы браузер мог эффективно их загрузить и выполнить. </a:t>
            </a:r>
          </a:p>
        </p:txBody>
      </p:sp>
    </p:spTree>
    <p:extLst>
      <p:ext uri="{BB962C8B-B14F-4D97-AF65-F5344CB8AC3E}">
        <p14:creationId xmlns="" xmlns:p14="http://schemas.microsoft.com/office/powerpoint/2010/main" val="3453166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🌐</a:t>
            </a:r>
            <a:r>
              <a:rPr lang="ru-RU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HTTP/HTTPS и Клиент-Серверная Архитектура</a:t>
            </a:r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Клиент-серверная модель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Клиент] ←→ [HTTP/HTTPS] ←→ [Сервер]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↓                              ↓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Браузер/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API/База данных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Ключевые понятия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Клиент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Отправляет запросы, отображает данные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SPA)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Сервер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Обрабатывает запросы, возвращает ответы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Точка взаимодействия (REST,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GraphQL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169166" y="1191237"/>
            <a:ext cx="25754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Клиент-Сервер –</a:t>
            </a:r>
            <a:r>
              <a:rPr lang="en-US" b="1" dirty="0" smtClean="0"/>
              <a:t>React</a:t>
            </a:r>
          </a:p>
          <a:p>
            <a:r>
              <a:rPr lang="ru-RU" dirty="0" smtClean="0"/>
              <a:t>[Пользователь] → (</a:t>
            </a:r>
            <a:r>
              <a:rPr lang="en-US" dirty="0" smtClean="0"/>
              <a:t>HTTP </a:t>
            </a:r>
            <a:r>
              <a:rPr lang="ru-RU" dirty="0" smtClean="0"/>
              <a:t>запрос) → [Сервер (</a:t>
            </a:r>
            <a:r>
              <a:rPr lang="en-US" dirty="0" smtClean="0"/>
              <a:t>Express)]                                     ↓                              [HTML + CSS + JS (</a:t>
            </a:r>
            <a:r>
              <a:rPr lang="ru-RU" dirty="0" err="1" smtClean="0"/>
              <a:t>бандл</a:t>
            </a:r>
            <a:r>
              <a:rPr lang="ru-RU" dirty="0" smtClean="0"/>
              <a:t>)]                                     ↓                             [Браузер]                                     ↓                             </a:t>
            </a:r>
            <a:endParaRPr lang="en-US" dirty="0" smtClean="0"/>
          </a:p>
          <a:p>
            <a:r>
              <a:rPr lang="ru-RU" dirty="0" smtClean="0"/>
              <a:t>&lt;</a:t>
            </a:r>
            <a:r>
              <a:rPr lang="en-US" dirty="0" smtClean="0"/>
              <a:t>div id="root"&gt;&lt;/div&gt;                                     ↓                           </a:t>
            </a:r>
          </a:p>
          <a:p>
            <a:r>
              <a:rPr lang="en-US" dirty="0" smtClean="0"/>
              <a:t>React </a:t>
            </a:r>
            <a:r>
              <a:rPr lang="ru-RU" dirty="0" smtClean="0"/>
              <a:t>монтирует компоненты                                     |                            </a:t>
            </a:r>
            <a:endParaRPr lang="en-US" dirty="0" smtClean="0"/>
          </a:p>
          <a:p>
            <a:r>
              <a:rPr lang="ru-RU" dirty="0" smtClean="0"/>
              <a:t> (</a:t>
            </a:r>
            <a:r>
              <a:rPr lang="en-US" dirty="0" smtClean="0"/>
              <a:t>SPA, </a:t>
            </a:r>
            <a:r>
              <a:rPr lang="ru-RU" dirty="0" err="1" smtClean="0"/>
              <a:t>роутинг</a:t>
            </a:r>
            <a:r>
              <a:rPr lang="ru-RU" dirty="0" smtClean="0"/>
              <a:t>, состояние)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15132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 HTTP протокол</a:t>
            </a:r>
            <a:r>
              <a:rPr lang="ru-RU" altLang="ru-RU" dirty="0"/>
              <a:t/>
            </a:r>
            <a:br>
              <a:rPr lang="ru-RU" altLang="ru-RU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522956065"/>
              </p:ext>
            </p:extLst>
          </p:nvPr>
        </p:nvGraphicFramePr>
        <p:xfrm>
          <a:off x="903912" y="4055398"/>
          <a:ext cx="10052109" cy="2639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0703">
                  <a:extLst>
                    <a:ext uri="{9D8B030D-6E8A-4147-A177-3AD203B41FA5}">
                      <a16:colId xmlns="" xmlns:a16="http://schemas.microsoft.com/office/drawing/2014/main" val="1853714248"/>
                    </a:ext>
                  </a:extLst>
                </a:gridCol>
                <a:gridCol w="3350703">
                  <a:extLst>
                    <a:ext uri="{9D8B030D-6E8A-4147-A177-3AD203B41FA5}">
                      <a16:colId xmlns="" xmlns:a16="http://schemas.microsoft.com/office/drawing/2014/main" val="121541101"/>
                    </a:ext>
                  </a:extLst>
                </a:gridCol>
                <a:gridCol w="3350703">
                  <a:extLst>
                    <a:ext uri="{9D8B030D-6E8A-4147-A177-3AD203B41FA5}">
                      <a16:colId xmlns="" xmlns:a16="http://schemas.microsoft.com/office/drawing/2014/main" val="3909496539"/>
                    </a:ext>
                  </a:extLst>
                </a:gridCol>
              </a:tblGrid>
              <a:tr h="4802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Метод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Назначение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В React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="" xmlns:a16="http://schemas.microsoft.com/office/drawing/2014/main" val="275718112"/>
                  </a:ext>
                </a:extLst>
              </a:tr>
              <a:tr h="4802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GET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Получение данных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fetch('/api/users')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="" xmlns:a16="http://schemas.microsoft.com/office/drawing/2014/main" val="2790590537"/>
                  </a:ext>
                </a:extLst>
              </a:tr>
              <a:tr h="4802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POST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Создание данных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fetch('/api/users', {method: 'POST'})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="" xmlns:a16="http://schemas.microsoft.com/office/drawing/2014/main" val="4122029975"/>
                  </a:ext>
                </a:extLst>
              </a:tr>
              <a:tr h="4802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PUT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Обновление данных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fetch('/api/users/1', {method: 'PUT'})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="" xmlns:a16="http://schemas.microsoft.com/office/drawing/2014/main" val="3130981130"/>
                  </a:ext>
                </a:extLst>
              </a:tr>
              <a:tr h="7182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DELETE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Удаление данных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fetch('/</a:t>
                      </a:r>
                      <a:r>
                        <a:rPr lang="en-US" sz="1600" dirty="0" err="1">
                          <a:effectLst/>
                        </a:rPr>
                        <a:t>api</a:t>
                      </a:r>
                      <a:r>
                        <a:rPr lang="en-US" sz="1600" dirty="0">
                          <a:effectLst/>
                        </a:rPr>
                        <a:t>/users/1', {method: 'DELETE'})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="" xmlns:a16="http://schemas.microsoft.com/office/drawing/2014/main" val="420328632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1553385"/>
            <a:ext cx="118564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Структура HTTP запроса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 /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/users HTTP/1.1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Host: example.com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Accept: application/</a:t>
            </a:r>
            <a:r>
              <a:rPr kumimoji="0" lang="en-US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Authorization: Bearer token123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HTTP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en-US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1678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1.3 HTTPS = HTTP + SSL/TLS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409" y="1380788"/>
            <a:ext cx="9423944" cy="25853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[</a:t>
            </a:r>
            <a:r>
              <a:rPr lang="ru-RU" dirty="0"/>
              <a:t>Клиент] --Шифрование--&gt; [Интернет] --Расшифровка--&gt; [Сервер]</a:t>
            </a:r>
          </a:p>
          <a:p>
            <a:pPr marL="0" indent="0">
              <a:buNone/>
            </a:pPr>
            <a:r>
              <a:rPr lang="ru-RU" dirty="0"/>
              <a:t>    ↑                          ↑                         ↑</a:t>
            </a:r>
          </a:p>
          <a:p>
            <a:pPr marL="0" indent="0">
              <a:buNone/>
            </a:pPr>
            <a:r>
              <a:rPr lang="ru-RU" dirty="0"/>
              <a:t>(Защита данных)         (SSL сертификат)         (Приватный ключ)</a:t>
            </a:r>
          </a:p>
          <a:p>
            <a:pPr marL="0" indent="0">
              <a:buNone/>
            </a:pPr>
            <a:r>
              <a:rPr lang="ru-RU" b="1" dirty="0"/>
              <a:t>Почему HTTPS важен в </a:t>
            </a:r>
            <a:r>
              <a:rPr lang="ru-RU" b="1" dirty="0" err="1"/>
              <a:t>React</a:t>
            </a:r>
            <a:r>
              <a:rPr lang="ru-RU" b="1" dirty="0"/>
              <a:t>?</a:t>
            </a:r>
            <a:endParaRPr lang="ru-RU" dirty="0"/>
          </a:p>
          <a:p>
            <a:r>
              <a:rPr lang="ru-RU" dirty="0"/>
              <a:t>Защита данных пользователей</a:t>
            </a:r>
          </a:p>
          <a:p>
            <a:r>
              <a:rPr lang="ru-RU" b="1" dirty="0" smtClean="0"/>
              <a:t>SEO</a:t>
            </a:r>
            <a:r>
              <a:rPr lang="en-US" b="1" dirty="0"/>
              <a:t>(Search Engine Optimization)</a:t>
            </a:r>
            <a:r>
              <a:rPr lang="en-US" dirty="0"/>
              <a:t> </a:t>
            </a:r>
            <a:r>
              <a:rPr lang="ru-RU" dirty="0" smtClean="0"/>
              <a:t> </a:t>
            </a:r>
          </a:p>
          <a:p>
            <a:r>
              <a:rPr lang="ru-RU" dirty="0" smtClean="0"/>
              <a:t>Необходим </a:t>
            </a:r>
            <a:r>
              <a:rPr lang="ru-RU" dirty="0"/>
              <a:t>для </a:t>
            </a:r>
            <a:r>
              <a:rPr lang="ru-RU" b="1" dirty="0" err="1"/>
              <a:t>Service</a:t>
            </a:r>
            <a:r>
              <a:rPr lang="ru-RU" b="1" dirty="0"/>
              <a:t> </a:t>
            </a:r>
            <a:r>
              <a:rPr lang="ru-RU" b="1" dirty="0" err="1"/>
              <a:t>Workers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PWA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952764" y="1542061"/>
            <a:ext cx="40938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/>
              <a:t>Service</a:t>
            </a:r>
            <a:r>
              <a:rPr lang="ru-RU" b="1" dirty="0" smtClean="0"/>
              <a:t> </a:t>
            </a:r>
            <a:r>
              <a:rPr lang="ru-RU" b="1" dirty="0" err="1" smtClean="0"/>
              <a:t>Worker</a:t>
            </a:r>
            <a:r>
              <a:rPr lang="ru-RU" b="1" dirty="0" smtClean="0"/>
              <a:t> (SW) </a:t>
            </a:r>
            <a:r>
              <a:rPr lang="ru-RU" dirty="0" smtClean="0"/>
              <a:t>— это фоновый </a:t>
            </a:r>
            <a:r>
              <a:rPr lang="ru-RU" dirty="0" err="1" smtClean="0"/>
              <a:t>JavaScript</a:t>
            </a:r>
            <a:r>
              <a:rPr lang="ru-RU" dirty="0" smtClean="0"/>
              <a:t>‑скрипт, который браузер запускает отдельно от веб‑страницы. Он работает как «привратник» между сайтом и сетью: перехватывает запросы, управляет кэшем, позволяет сайту работать офлайн, отправлять </a:t>
            </a:r>
            <a:r>
              <a:rPr lang="ru-RU" dirty="0" err="1" smtClean="0"/>
              <a:t>пуш</a:t>
            </a:r>
            <a:r>
              <a:rPr lang="ru-RU" dirty="0" smtClean="0"/>
              <a:t>‑уведомления и выполнять фоновую синхронизацию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952764" y="4288657"/>
            <a:ext cx="40938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PWA (</a:t>
            </a:r>
            <a:r>
              <a:rPr lang="ru-RU" b="1" dirty="0" err="1" smtClean="0"/>
              <a:t>Progressive</a:t>
            </a:r>
            <a:r>
              <a:rPr lang="ru-RU" b="1" dirty="0" smtClean="0"/>
              <a:t> </a:t>
            </a:r>
            <a:r>
              <a:rPr lang="ru-RU" b="1" dirty="0" err="1" smtClean="0"/>
              <a:t>Web</a:t>
            </a:r>
            <a:r>
              <a:rPr lang="ru-RU" b="1" dirty="0" smtClean="0"/>
              <a:t> </a:t>
            </a:r>
            <a:r>
              <a:rPr lang="ru-RU" b="1" dirty="0" err="1" smtClean="0"/>
              <a:t>App</a:t>
            </a:r>
            <a:r>
              <a:rPr lang="ru-RU" b="1" dirty="0" smtClean="0"/>
              <a:t>) </a:t>
            </a:r>
            <a:r>
              <a:rPr lang="ru-RU" dirty="0" smtClean="0"/>
              <a:t>— это прогрессивное веб‑приложение: по сути, сайт, который ведёт себя как мобильное приложение — его можно установить на экран телефона, он работает офлайн, присылает </a:t>
            </a:r>
            <a:r>
              <a:rPr lang="ru-RU" dirty="0" err="1" smtClean="0"/>
              <a:t>пуш</a:t>
            </a:r>
            <a:r>
              <a:rPr lang="ru-RU" dirty="0" smtClean="0"/>
              <a:t>‑уведомления и открывается почти мгновенно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10207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1825624"/>
            <a:ext cx="10642600" cy="46541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Базовая структура: </a:t>
            </a:r>
            <a:r>
              <a:rPr lang="ru-RU" b="1" dirty="0" smtClean="0"/>
              <a:t>&lt;!</a:t>
            </a:r>
            <a:r>
              <a:rPr lang="en-US" b="1" dirty="0" smtClean="0"/>
              <a:t>DOCTYPE html&gt;, &lt;html </a:t>
            </a:r>
            <a:r>
              <a:rPr lang="en-US" b="1" dirty="0" err="1" smtClean="0"/>
              <a:t>lang</a:t>
            </a:r>
            <a:r>
              <a:rPr lang="en-US" b="1" dirty="0" smtClean="0"/>
              <a:t>="</a:t>
            </a:r>
            <a:r>
              <a:rPr lang="en-US" b="1" dirty="0" err="1" smtClean="0"/>
              <a:t>ru</a:t>
            </a:r>
            <a:r>
              <a:rPr lang="en-US" b="1" dirty="0" smtClean="0"/>
              <a:t>"&gt;, &lt;head&gt;, &lt;body&gt;.</a:t>
            </a:r>
          </a:p>
          <a:p>
            <a:r>
              <a:rPr lang="ru-RU" b="1" dirty="0" smtClean="0"/>
              <a:t>&lt;!DOCTYPE </a:t>
            </a:r>
            <a:r>
              <a:rPr lang="ru-RU" b="1" dirty="0" err="1" smtClean="0"/>
              <a:t>html</a:t>
            </a:r>
            <a:r>
              <a:rPr lang="ru-RU" b="1" dirty="0" smtClean="0"/>
              <a:t>&gt; </a:t>
            </a:r>
            <a:r>
              <a:rPr lang="ru-RU" dirty="0" smtClean="0"/>
              <a:t>— объявление типа документа. Говорит браузеру: «Это современный HTML5, используй актуальные стандарты рендеринга». 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React</a:t>
            </a:r>
            <a:r>
              <a:rPr lang="ru-RU" dirty="0" smtClean="0"/>
              <a:t>-проектах этот тег остаётся в </a:t>
            </a:r>
            <a:r>
              <a:rPr lang="ru-RU" dirty="0" err="1" smtClean="0"/>
              <a:t>public</a:t>
            </a:r>
            <a:r>
              <a:rPr lang="ru-RU" dirty="0" smtClean="0"/>
              <a:t>/index.html (или в аналогичном корневом файле) — он не меняется и не выносится в компоненты.</a:t>
            </a:r>
          </a:p>
          <a:p>
            <a:r>
              <a:rPr lang="ru-RU" b="1" dirty="0" smtClean="0"/>
              <a:t>&lt;</a:t>
            </a:r>
            <a:r>
              <a:rPr lang="ru-RU" b="1" dirty="0" err="1" smtClean="0"/>
              <a:t>html</a:t>
            </a:r>
            <a:r>
              <a:rPr lang="ru-RU" b="1" dirty="0" smtClean="0"/>
              <a:t> </a:t>
            </a:r>
            <a:r>
              <a:rPr lang="ru-RU" b="1" dirty="0" err="1" smtClean="0"/>
              <a:t>lang</a:t>
            </a:r>
            <a:r>
              <a:rPr lang="ru-RU" b="1" dirty="0" smtClean="0"/>
              <a:t>="</a:t>
            </a:r>
            <a:r>
              <a:rPr lang="ru-RU" b="1" dirty="0" err="1" smtClean="0"/>
              <a:t>ru</a:t>
            </a:r>
            <a:r>
              <a:rPr lang="ru-RU" b="1" dirty="0" smtClean="0"/>
              <a:t>"&gt; </a:t>
            </a:r>
            <a:r>
              <a:rPr lang="ru-RU" dirty="0" smtClean="0"/>
              <a:t>— корневой элемент страницы с указанием языка. Атрибут </a:t>
            </a:r>
            <a:r>
              <a:rPr lang="ru-RU" dirty="0" err="1" smtClean="0"/>
              <a:t>lang</a:t>
            </a:r>
            <a:r>
              <a:rPr lang="ru-RU" dirty="0" smtClean="0"/>
              <a:t>="</a:t>
            </a:r>
            <a:r>
              <a:rPr lang="ru-RU" dirty="0" err="1" smtClean="0"/>
              <a:t>ru</a:t>
            </a:r>
            <a:r>
              <a:rPr lang="ru-RU" dirty="0" smtClean="0"/>
              <a:t>" критически важен для доступности (</a:t>
            </a:r>
            <a:r>
              <a:rPr lang="ru-RU" dirty="0" err="1" smtClean="0"/>
              <a:t>скринридеры</a:t>
            </a:r>
            <a:r>
              <a:rPr lang="ru-RU" dirty="0" smtClean="0"/>
              <a:t> читают текст с правильной озвучкой) и SEO. 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React</a:t>
            </a:r>
            <a:r>
              <a:rPr lang="ru-RU" dirty="0" smtClean="0"/>
              <a:t>-приложениях этот тег тоже остаётся в корневом HTML-файле, а не в JSX-компонентах.</a:t>
            </a:r>
          </a:p>
          <a:p>
            <a:r>
              <a:rPr lang="ru-RU" b="1" dirty="0" smtClean="0"/>
              <a:t>&lt;</a:t>
            </a:r>
            <a:r>
              <a:rPr lang="ru-RU" b="1" dirty="0" err="1" smtClean="0"/>
              <a:t>head</a:t>
            </a:r>
            <a:r>
              <a:rPr lang="ru-RU" b="1" dirty="0" smtClean="0"/>
              <a:t>&gt; </a:t>
            </a:r>
            <a:r>
              <a:rPr lang="ru-RU" dirty="0" smtClean="0"/>
              <a:t>— служебная часть страницы: метаданные, ссылки на CSS, настройки </a:t>
            </a:r>
            <a:r>
              <a:rPr lang="ru-RU" dirty="0" err="1" smtClean="0"/>
              <a:t>viewport</a:t>
            </a:r>
            <a:r>
              <a:rPr lang="ru-RU" dirty="0" smtClean="0"/>
              <a:t>, </a:t>
            </a:r>
            <a:r>
              <a:rPr lang="ru-RU" dirty="0" err="1" smtClean="0"/>
              <a:t>title</a:t>
            </a:r>
            <a:r>
              <a:rPr lang="ru-RU" dirty="0" smtClean="0"/>
              <a:t> и т. д. 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React</a:t>
            </a:r>
            <a:r>
              <a:rPr lang="ru-RU" dirty="0" smtClean="0"/>
              <a:t>-приложениях содержимое &lt;</a:t>
            </a:r>
            <a:r>
              <a:rPr lang="ru-RU" dirty="0" err="1" smtClean="0"/>
              <a:t>head</a:t>
            </a:r>
            <a:r>
              <a:rPr lang="ru-RU" dirty="0" smtClean="0"/>
              <a:t>&gt; часто управляют через библиотеки вроде </a:t>
            </a:r>
            <a:r>
              <a:rPr lang="ru-RU" dirty="0" err="1" smtClean="0"/>
              <a:t>react-helmet-async</a:t>
            </a:r>
            <a:r>
              <a:rPr lang="ru-RU" dirty="0" smtClean="0"/>
              <a:t> или встроенные механизмы </a:t>
            </a:r>
            <a:r>
              <a:rPr lang="ru-RU" dirty="0" err="1" smtClean="0"/>
              <a:t>фреймворков</a:t>
            </a:r>
            <a:r>
              <a:rPr lang="ru-RU" dirty="0" smtClean="0"/>
              <a:t> (Next.js, </a:t>
            </a:r>
            <a:r>
              <a:rPr lang="ru-RU" dirty="0" err="1" smtClean="0"/>
              <a:t>Remix</a:t>
            </a:r>
            <a:r>
              <a:rPr lang="ru-RU" dirty="0" smtClean="0"/>
              <a:t>).</a:t>
            </a:r>
          </a:p>
          <a:p>
            <a:r>
              <a:rPr lang="ru-RU" b="1" dirty="0" smtClean="0"/>
              <a:t>&lt;</a:t>
            </a:r>
            <a:r>
              <a:rPr lang="ru-RU" b="1" dirty="0" err="1" smtClean="0"/>
              <a:t>body</a:t>
            </a:r>
            <a:r>
              <a:rPr lang="ru-RU" b="1" dirty="0" smtClean="0"/>
              <a:t>&gt; </a:t>
            </a:r>
            <a:r>
              <a:rPr lang="ru-RU" dirty="0" smtClean="0"/>
              <a:t>— тело документа, видимая часть страницы. 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React</a:t>
            </a:r>
            <a:r>
              <a:rPr lang="ru-RU" dirty="0" smtClean="0"/>
              <a:t>-приложениях внутри &lt;</a:t>
            </a:r>
            <a:r>
              <a:rPr lang="ru-RU" dirty="0" err="1" smtClean="0"/>
              <a:t>body</a:t>
            </a:r>
            <a:r>
              <a:rPr lang="ru-RU" dirty="0" smtClean="0"/>
              <a:t>&gt; обычно оставляют один корневой элемент (например, &lt;</a:t>
            </a:r>
            <a:r>
              <a:rPr lang="ru-RU" dirty="0" err="1" smtClean="0"/>
              <a:t>div</a:t>
            </a:r>
            <a:r>
              <a:rPr lang="ru-RU" dirty="0" smtClean="0"/>
              <a:t> </a:t>
            </a:r>
            <a:r>
              <a:rPr lang="ru-RU" dirty="0" err="1" smtClean="0"/>
              <a:t>id</a:t>
            </a:r>
            <a:r>
              <a:rPr lang="ru-RU" dirty="0" smtClean="0"/>
              <a:t>="</a:t>
            </a:r>
            <a:r>
              <a:rPr lang="ru-RU" dirty="0" err="1" smtClean="0"/>
              <a:t>root</a:t>
            </a:r>
            <a:r>
              <a:rPr lang="ru-RU" dirty="0" smtClean="0"/>
              <a:t>"&gt;&lt;/</a:t>
            </a:r>
            <a:r>
              <a:rPr lang="ru-RU" dirty="0" err="1" smtClean="0"/>
              <a:t>div</a:t>
            </a:r>
            <a:r>
              <a:rPr lang="ru-RU" dirty="0" smtClean="0"/>
              <a:t>&gt;), куда </a:t>
            </a:r>
            <a:r>
              <a:rPr lang="ru-RU" dirty="0" err="1" smtClean="0"/>
              <a:t>React</a:t>
            </a:r>
            <a:r>
              <a:rPr lang="ru-RU" dirty="0" smtClean="0"/>
              <a:t> монтирует всё приложение.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6656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Файл </a:t>
            </a:r>
            <a:r>
              <a:rPr lang="en-US" dirty="0" smtClean="0"/>
              <a:t>public/index.html (</a:t>
            </a:r>
            <a:r>
              <a:rPr lang="ru-RU" dirty="0" smtClean="0"/>
              <a:t>то, что видно в браузере как исходный </a:t>
            </a:r>
            <a:r>
              <a:rPr lang="en-US" dirty="0" smtClean="0"/>
              <a:t>HTML):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4022" y="1688043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smtClean="0"/>
              <a:t>Как это выглядит в типичном </a:t>
            </a:r>
            <a:r>
              <a:rPr lang="en-US" dirty="0" smtClean="0"/>
              <a:t>React‑</a:t>
            </a:r>
            <a:r>
              <a:rPr lang="ru-RU" dirty="0" smtClean="0"/>
              <a:t>проекте</a:t>
            </a:r>
          </a:p>
          <a:p>
            <a:pPr marL="0" indent="0">
              <a:buNone/>
            </a:pPr>
            <a:r>
              <a:rPr lang="en-US" dirty="0" smtClean="0"/>
              <a:t>&lt;!DOCTYPE html&gt;</a:t>
            </a:r>
          </a:p>
          <a:p>
            <a:pPr marL="0" indent="0">
              <a:buNone/>
            </a:pPr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</a:t>
            </a:r>
            <a:r>
              <a:rPr lang="en-US" dirty="0" err="1" smtClean="0"/>
              <a:t>ru</a:t>
            </a:r>
            <a:r>
              <a:rPr lang="en-US" dirty="0" smtClean="0"/>
              <a:t>"&gt;</a:t>
            </a:r>
          </a:p>
          <a:p>
            <a:pPr marL="0" indent="0">
              <a:buNone/>
            </a:pPr>
            <a:r>
              <a:rPr lang="en-US" dirty="0" smtClean="0"/>
              <a:t>  &lt;head&gt;</a:t>
            </a:r>
          </a:p>
          <a:p>
            <a:pPr marL="0" indent="0">
              <a:buNone/>
            </a:pPr>
            <a:r>
              <a:rPr lang="en-US" dirty="0" smtClean="0"/>
              <a:t>    &lt;meta charset="utf-8" /&gt;</a:t>
            </a:r>
          </a:p>
          <a:p>
            <a:pPr marL="0" indent="0">
              <a:buNone/>
            </a:pPr>
            <a:r>
              <a:rPr lang="en-US" dirty="0" smtClean="0"/>
              <a:t>    &lt;meta name="viewport" content="width=device-width, initial-scale=1" /&gt;</a:t>
            </a:r>
          </a:p>
          <a:p>
            <a:pPr marL="0" indent="0">
              <a:buNone/>
            </a:pPr>
            <a:r>
              <a:rPr lang="en-US" dirty="0" smtClean="0"/>
              <a:t>    &lt;title&gt;React App&lt;/title&gt;</a:t>
            </a:r>
          </a:p>
          <a:p>
            <a:pPr marL="0" indent="0">
              <a:buNone/>
            </a:pPr>
            <a:r>
              <a:rPr lang="en-US" dirty="0" smtClean="0"/>
              <a:t>  &lt;/head&gt;</a:t>
            </a:r>
          </a:p>
          <a:p>
            <a:pPr marL="0" indent="0">
              <a:buNone/>
            </a:pPr>
            <a:r>
              <a:rPr lang="en-US" dirty="0" smtClean="0"/>
              <a:t>  &lt;body&gt;</a:t>
            </a:r>
          </a:p>
          <a:p>
            <a:pPr marL="0" indent="0"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noscript</a:t>
            </a:r>
            <a:r>
              <a:rPr lang="en-US" dirty="0" smtClean="0"/>
              <a:t>&gt;</a:t>
            </a:r>
            <a:r>
              <a:rPr lang="ru-RU" dirty="0" smtClean="0"/>
              <a:t>Пожалуйста, включите </a:t>
            </a:r>
            <a:r>
              <a:rPr lang="en-US" dirty="0" smtClean="0"/>
              <a:t>JavaScript </a:t>
            </a:r>
            <a:r>
              <a:rPr lang="ru-RU" dirty="0" smtClean="0"/>
              <a:t>для работы приложения.&lt;/</a:t>
            </a:r>
            <a:r>
              <a:rPr lang="en-US" dirty="0" err="1" smtClean="0"/>
              <a:t>noscript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&lt;div id="root"&gt;&lt;/div&gt;</a:t>
            </a:r>
          </a:p>
          <a:p>
            <a:pPr marL="0" indent="0">
              <a:buNone/>
            </a:pPr>
            <a:r>
              <a:rPr lang="en-US" dirty="0" smtClean="0"/>
              <a:t>  &lt;/body&gt;</a:t>
            </a:r>
          </a:p>
          <a:p>
            <a:pPr marL="0" indent="0">
              <a:buNone/>
            </a:pPr>
            <a:r>
              <a:rPr lang="en-US" dirty="0" smtClean="0"/>
              <a:t>&lt;/html&gt;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6413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main.jsx</a:t>
            </a:r>
            <a:r>
              <a:rPr lang="en-US" dirty="0" smtClean="0"/>
              <a:t> (</a:t>
            </a:r>
            <a:r>
              <a:rPr lang="ru-RU" dirty="0" smtClean="0"/>
              <a:t>точка входа </a:t>
            </a:r>
            <a:r>
              <a:rPr lang="en-US" dirty="0" smtClean="0"/>
              <a:t>React):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React from 'react';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ReactDOM</a:t>
            </a:r>
            <a:r>
              <a:rPr lang="en-US" dirty="0" smtClean="0"/>
              <a:t> from 'react-</a:t>
            </a:r>
            <a:r>
              <a:rPr lang="en-US" dirty="0" err="1" smtClean="0"/>
              <a:t>dom</a:t>
            </a:r>
            <a:r>
              <a:rPr lang="en-US" dirty="0" smtClean="0"/>
              <a:t>/client';</a:t>
            </a:r>
          </a:p>
          <a:p>
            <a:pPr marL="0" indent="0">
              <a:buNone/>
            </a:pPr>
            <a:r>
              <a:rPr lang="en-US" dirty="0" smtClean="0"/>
              <a:t>import App from './</a:t>
            </a:r>
            <a:r>
              <a:rPr lang="en-US" dirty="0" err="1" smtClean="0"/>
              <a:t>App.jsx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ReactDOM.createRoot</a:t>
            </a:r>
            <a:r>
              <a:rPr lang="en-US" dirty="0" smtClean="0"/>
              <a:t>(</a:t>
            </a:r>
            <a:r>
              <a:rPr lang="en-US" dirty="0" err="1" smtClean="0"/>
              <a:t>document.getElementById</a:t>
            </a:r>
            <a:r>
              <a:rPr lang="en-US" dirty="0" smtClean="0"/>
              <a:t>('root')).render(</a:t>
            </a:r>
          </a:p>
          <a:p>
            <a:pPr marL="0" indent="0">
              <a:buNone/>
            </a:pPr>
            <a:r>
              <a:rPr lang="en-US" dirty="0" smtClean="0"/>
              <a:t>  &lt;</a:t>
            </a:r>
            <a:r>
              <a:rPr lang="en-US" dirty="0" err="1" smtClean="0"/>
              <a:t>React.StrictMode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&lt;App /&gt;</a:t>
            </a:r>
          </a:p>
          <a:p>
            <a:pPr marL="0" indent="0">
              <a:buNone/>
            </a:pPr>
            <a:r>
              <a:rPr lang="en-US" dirty="0" smtClean="0"/>
              <a:t>  &lt;/</a:t>
            </a:r>
            <a:r>
              <a:rPr lang="en-US" dirty="0" err="1" smtClean="0"/>
              <a:t>React.StrictMode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1623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Файл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App.jsx</a:t>
            </a:r>
            <a:r>
              <a:rPr lang="en-US" dirty="0" smtClean="0"/>
              <a:t> (</a:t>
            </a:r>
            <a:r>
              <a:rPr lang="ru-RU" dirty="0" smtClean="0"/>
              <a:t>корневой компонент, который «живёт» внутри &lt;</a:t>
            </a:r>
            <a:r>
              <a:rPr lang="en-US" dirty="0" smtClean="0"/>
              <a:t>body&gt;):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function App()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&lt;main&gt;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Привет, </a:t>
            </a:r>
            <a:r>
              <a:rPr lang="en-US" dirty="0" smtClean="0"/>
              <a:t>React!&lt;/h1&gt;</a:t>
            </a:r>
          </a:p>
          <a:p>
            <a:pPr marL="0" indent="0">
              <a:buNone/>
            </a:pPr>
            <a:r>
              <a:rPr lang="en-US" dirty="0" smtClean="0"/>
              <a:t>      &lt;p&gt;</a:t>
            </a:r>
            <a:r>
              <a:rPr lang="ru-RU" dirty="0" smtClean="0"/>
              <a:t>Это содержимое, которое </a:t>
            </a:r>
            <a:r>
              <a:rPr lang="ru-RU" dirty="0" err="1" smtClean="0"/>
              <a:t>рендерится</a:t>
            </a:r>
            <a:r>
              <a:rPr lang="ru-RU" dirty="0" smtClean="0"/>
              <a:t> внутри #</a:t>
            </a:r>
            <a:r>
              <a:rPr lang="en-US" dirty="0" smtClean="0"/>
              <a:t>root.&lt;/p&gt;</a:t>
            </a:r>
          </a:p>
          <a:p>
            <a:pPr marL="0" indent="0">
              <a:buNone/>
            </a:pPr>
            <a:r>
              <a:rPr lang="en-US" dirty="0" smtClean="0"/>
              <a:t>    &lt;/main&gt;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App;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383746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7505" y="1177636"/>
            <a:ext cx="11357295" cy="5575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Calibri" pitchFamily="34" charset="0"/>
                <a:cs typeface="Calibri" pitchFamily="34" charset="0"/>
              </a:rPr>
              <a:t>«Семантика» = смысл. Почему семантика важна: доступность (</a:t>
            </a:r>
            <a:r>
              <a:rPr lang="ru-RU" dirty="0" err="1" smtClean="0">
                <a:latin typeface="Calibri" pitchFamily="34" charset="0"/>
                <a:cs typeface="Calibri" pitchFamily="34" charset="0"/>
              </a:rPr>
              <a:t>скринридеры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),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SEO, 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понятность кода, предсказуемость при конвертации в компоненты. Браузер и вспомогательные технологии (</a:t>
            </a:r>
            <a:r>
              <a:rPr lang="ru-RU" dirty="0" err="1" smtClean="0">
                <a:latin typeface="Calibri" pitchFamily="34" charset="0"/>
                <a:cs typeface="Calibri" pitchFamily="34" charset="0"/>
              </a:rPr>
              <a:t>скринридеры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 для незрячих, поисковые роботы) по названию тега понимают, какую роль играет этот кусок страницы. 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ru-RU" b="1" dirty="0" smtClean="0">
                <a:latin typeface="Calibri" pitchFamily="34" charset="0"/>
                <a:cs typeface="Calibri" pitchFamily="34" charset="0"/>
              </a:rPr>
              <a:t>Это не про красоту, а про структуру и доступность.</a:t>
            </a:r>
          </a:p>
          <a:p>
            <a:pPr marL="0" indent="0">
              <a:buNone/>
            </a:pPr>
            <a:r>
              <a:rPr lang="ru-RU" dirty="0" smtClean="0">
                <a:latin typeface="Calibri" pitchFamily="34" charset="0"/>
                <a:cs typeface="Calibri" pitchFamily="34" charset="0"/>
              </a:rPr>
              <a:t>Обычный &lt;</a:t>
            </a:r>
            <a:r>
              <a:rPr lang="ru-RU" dirty="0" err="1" smtClean="0">
                <a:latin typeface="Calibri" pitchFamily="34" charset="0"/>
                <a:cs typeface="Calibri" pitchFamily="34" charset="0"/>
              </a:rPr>
              <a:t>div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&gt; — это просто коробка без подписи. Вы не знаете, что внутри, пока не откроете. </a:t>
            </a:r>
          </a:p>
          <a:p>
            <a:pPr marL="0" indent="0">
              <a:buNone/>
            </a:pPr>
            <a:r>
              <a:rPr lang="ru-RU" b="1" dirty="0" smtClean="0">
                <a:latin typeface="Calibri" pitchFamily="34" charset="0"/>
                <a:cs typeface="Calibri" pitchFamily="34" charset="0"/>
              </a:rPr>
              <a:t>Семантический тег — это комната с табличкой на двери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: «Кухня», «Спальня», «Прихожая». Браузер и </a:t>
            </a:r>
            <a:r>
              <a:rPr lang="ru-RU" dirty="0" err="1" smtClean="0">
                <a:latin typeface="Calibri" pitchFamily="34" charset="0"/>
                <a:cs typeface="Calibri" pitchFamily="34" charset="0"/>
              </a:rPr>
              <a:t>скринридер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 сразу понимают назначение блока.:</a:t>
            </a:r>
          </a:p>
          <a:p>
            <a:pPr marL="0" indent="0">
              <a:buNone/>
            </a:pPr>
            <a:r>
              <a:rPr lang="ru-RU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ru-RU" b="1" dirty="0" err="1" smtClean="0">
                <a:latin typeface="Calibri" pitchFamily="34" charset="0"/>
                <a:cs typeface="Calibri" pitchFamily="34" charset="0"/>
              </a:rPr>
              <a:t>header</a:t>
            </a:r>
            <a:r>
              <a:rPr lang="ru-RU" b="1" dirty="0" smtClean="0">
                <a:latin typeface="Calibri" pitchFamily="34" charset="0"/>
                <a:cs typeface="Calibri" pitchFamily="34" charset="0"/>
              </a:rPr>
              <a:t>&gt; 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— вводная часть страницы или секции (логотип, заголовок, поиск).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23360" y="258408"/>
            <a:ext cx="103100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Семантические теги: &lt;</a:t>
            </a:r>
            <a:r>
              <a:rPr lang="en-US" sz="2800" dirty="0" smtClean="0"/>
              <a:t>header&gt;, &lt;main&gt;, &lt;section&gt;, &lt;article&gt;, &lt;footer&gt;, &lt;</a:t>
            </a:r>
            <a:r>
              <a:rPr lang="en-US" sz="2800" dirty="0" err="1" smtClean="0"/>
              <a:t>nav</a:t>
            </a:r>
            <a:r>
              <a:rPr lang="en-US" sz="2800" dirty="0" smtClean="0"/>
              <a:t>&gt;</a:t>
            </a:r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281843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>
                <a:latin typeface="+mn-lt"/>
                <a:cs typeface="Times New Roman" panose="02020603050405020304" pitchFamily="18" charset="0"/>
              </a:rPr>
              <a:t>В </a:t>
            </a:r>
            <a:r>
              <a:rPr lang="ru-RU" sz="2800" b="1" dirty="0" err="1" smtClean="0">
                <a:latin typeface="+mn-lt"/>
                <a:cs typeface="Times New Roman" panose="02020603050405020304" pitchFamily="18" charset="0"/>
              </a:rPr>
              <a:t>React</a:t>
            </a:r>
            <a:r>
              <a:rPr lang="ru-RU" sz="2800" b="1" dirty="0" smtClean="0">
                <a:latin typeface="+mn-lt"/>
                <a:cs typeface="Times New Roman" panose="02020603050405020304" pitchFamily="18" charset="0"/>
              </a:rPr>
              <a:t>: выносят в отдельный компонент </a:t>
            </a:r>
            <a:r>
              <a:rPr lang="ru-RU" sz="2800" b="1" dirty="0" err="1" smtClean="0">
                <a:latin typeface="+mn-lt"/>
                <a:cs typeface="Times New Roman" panose="02020603050405020304" pitchFamily="18" charset="0"/>
              </a:rPr>
              <a:t>Header</a:t>
            </a:r>
            <a:r>
              <a:rPr lang="ru-RU" sz="2800" b="1" dirty="0" smtClean="0">
                <a:latin typeface="+mn-lt"/>
                <a:cs typeface="Times New Roman" panose="02020603050405020304" pitchFamily="18" charset="0"/>
              </a:rPr>
              <a:t>, который </a:t>
            </a:r>
            <a:r>
              <a:rPr lang="ru-RU" sz="2800" b="1" dirty="0" err="1" smtClean="0">
                <a:latin typeface="+mn-lt"/>
                <a:cs typeface="Times New Roman" panose="02020603050405020304" pitchFamily="18" charset="0"/>
              </a:rPr>
              <a:t>рендерится</a:t>
            </a:r>
            <a:r>
              <a:rPr lang="ru-RU" sz="2800" b="1" dirty="0" smtClean="0">
                <a:latin typeface="+mn-lt"/>
                <a:cs typeface="Times New Roman" panose="02020603050405020304" pitchFamily="18" charset="0"/>
              </a:rPr>
              <a:t> на всех страницах.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Пример:</a:t>
            </a:r>
          </a:p>
          <a:p>
            <a:pPr marL="0" indent="0">
              <a:buNone/>
            </a:pPr>
            <a:r>
              <a:rPr lang="ru-RU" dirty="0" err="1" smtClean="0">
                <a:cs typeface="Times New Roman" panose="02020603050405020304" pitchFamily="18" charset="0"/>
              </a:rPr>
              <a:t>function</a:t>
            </a:r>
            <a:r>
              <a:rPr lang="ru-RU" dirty="0" smtClean="0"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cs typeface="Times New Roman" panose="02020603050405020304" pitchFamily="18" charset="0"/>
              </a:rPr>
              <a:t>Header</a:t>
            </a:r>
            <a:r>
              <a:rPr lang="ru-RU" dirty="0" smtClean="0"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  </a:t>
            </a:r>
            <a:r>
              <a:rPr lang="ru-RU" dirty="0" err="1" smtClean="0">
                <a:cs typeface="Times New Roman" panose="02020603050405020304" pitchFamily="18" charset="0"/>
              </a:rPr>
              <a:t>return</a:t>
            </a:r>
            <a:r>
              <a:rPr lang="ru-RU" dirty="0" smtClean="0">
                <a:cs typeface="Times New Roman" panose="02020603050405020304" pitchFamily="18" charset="0"/>
              </a:rPr>
              <a:t> (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    &lt;</a:t>
            </a:r>
            <a:r>
              <a:rPr lang="ru-RU" dirty="0" err="1" smtClean="0">
                <a:cs typeface="Times New Roman" panose="02020603050405020304" pitchFamily="18" charset="0"/>
              </a:rPr>
              <a:t>header</a:t>
            </a:r>
            <a:r>
              <a:rPr lang="ru-RU" dirty="0" smtClean="0"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cs typeface="Times New Roman" panose="02020603050405020304" pitchFamily="18" charset="0"/>
              </a:rPr>
              <a:t>className=</a:t>
            </a:r>
            <a:r>
              <a:rPr lang="ru-RU" dirty="0" smtClean="0">
                <a:cs typeface="Times New Roman" panose="02020603050405020304" pitchFamily="18" charset="0"/>
              </a:rPr>
              <a:t>"</a:t>
            </a:r>
            <a:r>
              <a:rPr lang="ru-RU" dirty="0" err="1" smtClean="0">
                <a:cs typeface="Times New Roman" panose="02020603050405020304" pitchFamily="18" charset="0"/>
              </a:rPr>
              <a:t>site-header</a:t>
            </a:r>
            <a:r>
              <a:rPr lang="ru-RU" dirty="0" smtClean="0"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      &lt;</a:t>
            </a:r>
            <a:r>
              <a:rPr lang="ru-RU" dirty="0" err="1" smtClean="0">
                <a:cs typeface="Times New Roman" panose="02020603050405020304" pitchFamily="18" charset="0"/>
              </a:rPr>
              <a:t>Logo</a:t>
            </a:r>
            <a:r>
              <a:rPr lang="ru-RU" dirty="0" smtClean="0">
                <a:cs typeface="Times New Roman" panose="02020603050405020304" pitchFamily="18" charset="0"/>
              </a:rPr>
              <a:t> /&gt;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      &lt;</a:t>
            </a:r>
            <a:r>
              <a:rPr lang="ru-RU" dirty="0" err="1" smtClean="0">
                <a:cs typeface="Times New Roman" panose="02020603050405020304" pitchFamily="18" charset="0"/>
              </a:rPr>
              <a:t>Search</a:t>
            </a:r>
            <a:r>
              <a:rPr lang="ru-RU" dirty="0" smtClean="0">
                <a:cs typeface="Times New Roman" panose="02020603050405020304" pitchFamily="18" charset="0"/>
              </a:rPr>
              <a:t> /&gt;</a:t>
            </a:r>
          </a:p>
          <a:p>
            <a:pPr marL="0" indent="0">
              <a:buNone/>
            </a:pPr>
            <a:r>
              <a:rPr lang="ru-RU" dirty="0" smtClean="0">
                <a:cs typeface="Times New Roman" panose="02020603050405020304" pitchFamily="18" charset="0"/>
              </a:rPr>
              <a:t>    &lt;/</a:t>
            </a:r>
            <a:r>
              <a:rPr lang="ru-RU" dirty="0" err="1" smtClean="0">
                <a:cs typeface="Times New Roman" panose="02020603050405020304" pitchFamily="18" charset="0"/>
              </a:rPr>
              <a:t>header</a:t>
            </a:r>
            <a:r>
              <a:rPr lang="ru-RU" dirty="0" smtClean="0">
                <a:cs typeface="Times New Roman" panose="02020603050405020304" pitchFamily="18" charset="0"/>
              </a:rPr>
              <a:t>&gt;  );}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&lt;</a:t>
            </a:r>
            <a:r>
              <a:rPr lang="ru-RU" dirty="0" err="1" smtClean="0"/>
              <a:t>main</a:t>
            </a:r>
            <a:r>
              <a:rPr lang="ru-RU" dirty="0" smtClean="0"/>
              <a:t>&gt; — основное содержимое страницы (уникальный контент)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На странице должен быть только один &lt;</a:t>
            </a:r>
            <a:r>
              <a:rPr lang="ru-RU" b="1" dirty="0" err="1" smtClean="0">
                <a:solidFill>
                  <a:srgbClr val="FF0000"/>
                </a:solidFill>
              </a:rPr>
              <a:t>main</a:t>
            </a:r>
            <a:r>
              <a:rPr lang="ru-RU" b="1" dirty="0" smtClean="0">
                <a:solidFill>
                  <a:srgbClr val="FF0000"/>
                </a:solidFill>
              </a:rPr>
              <a:t>&gt;.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React</a:t>
            </a:r>
            <a:r>
              <a:rPr lang="ru-RU" dirty="0" smtClean="0"/>
              <a:t>: часто оборачивают в него «тело» страницы, чтобы </a:t>
            </a:r>
            <a:r>
              <a:rPr lang="ru-RU" dirty="0" err="1" smtClean="0"/>
              <a:t>скринридеры</a:t>
            </a:r>
            <a:r>
              <a:rPr lang="ru-RU" dirty="0" smtClean="0"/>
              <a:t> сразу переходили к сути.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Page</a:t>
            </a:r>
            <a:r>
              <a:rPr lang="ru-RU" dirty="0" smtClean="0"/>
              <a:t>() {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ru-RU" dirty="0" err="1" smtClean="0"/>
              <a:t>return</a:t>
            </a:r>
            <a:r>
              <a:rPr lang="ru-RU" dirty="0" smtClean="0"/>
              <a:t> (</a:t>
            </a:r>
          </a:p>
          <a:p>
            <a:pPr marL="0" indent="0">
              <a:buNone/>
            </a:pPr>
            <a:r>
              <a:rPr lang="ru-RU" dirty="0" smtClean="0"/>
              <a:t>    &lt;</a:t>
            </a:r>
            <a:r>
              <a:rPr lang="ru-RU" dirty="0" err="1" smtClean="0"/>
              <a:t>main</a:t>
            </a:r>
            <a:r>
              <a:rPr lang="ru-RU" dirty="0" smtClean="0"/>
              <a:t> </a:t>
            </a:r>
            <a:r>
              <a:rPr lang="ru-RU" dirty="0" err="1" smtClean="0"/>
              <a:t>className</a:t>
            </a:r>
            <a:r>
              <a:rPr lang="ru-RU" dirty="0" smtClean="0"/>
              <a:t>="</a:t>
            </a:r>
            <a:r>
              <a:rPr lang="ru-RU" dirty="0" err="1" smtClean="0"/>
              <a:t>page-main</a:t>
            </a:r>
            <a:r>
              <a:rPr lang="ru-RU" dirty="0" smtClean="0"/>
              <a:t>"&gt;</a:t>
            </a:r>
          </a:p>
          <a:p>
            <a:pPr marL="0" indent="0">
              <a:buNone/>
            </a:pPr>
            <a:r>
              <a:rPr lang="ru-RU" dirty="0" smtClean="0"/>
              <a:t>      &lt;</a:t>
            </a:r>
            <a:r>
              <a:rPr lang="ru-RU" dirty="0" err="1" smtClean="0"/>
              <a:t>Hero</a:t>
            </a:r>
            <a:r>
              <a:rPr lang="ru-RU" dirty="0" smtClean="0"/>
              <a:t> /&gt;</a:t>
            </a:r>
          </a:p>
          <a:p>
            <a:pPr marL="0" indent="0">
              <a:buNone/>
            </a:pPr>
            <a:r>
              <a:rPr lang="ru-RU" dirty="0" smtClean="0"/>
              <a:t>      &lt;</a:t>
            </a:r>
            <a:r>
              <a:rPr lang="ru-RU" dirty="0" err="1" smtClean="0"/>
              <a:t>Features</a:t>
            </a:r>
            <a:r>
              <a:rPr lang="ru-RU" dirty="0" smtClean="0"/>
              <a:t> /&gt;</a:t>
            </a:r>
          </a:p>
          <a:p>
            <a:pPr marL="0" indent="0">
              <a:buNone/>
            </a:pPr>
            <a:r>
              <a:rPr lang="ru-RU" dirty="0" smtClean="0"/>
              <a:t>    &lt;/</a:t>
            </a:r>
            <a:r>
              <a:rPr lang="ru-RU" dirty="0" err="1" smtClean="0"/>
              <a:t>main</a:t>
            </a:r>
            <a:r>
              <a:rPr lang="ru-RU" dirty="0" smtClean="0"/>
              <a:t>&gt;</a:t>
            </a:r>
          </a:p>
          <a:p>
            <a:pPr marL="0" indent="0">
              <a:buNone/>
            </a:pPr>
            <a:r>
              <a:rPr lang="ru-RU" dirty="0" smtClean="0"/>
              <a:t>  );</a:t>
            </a:r>
          </a:p>
          <a:p>
            <a:pPr marL="0" indent="0">
              <a:buNone/>
            </a:pPr>
            <a:r>
              <a:rPr lang="ru-RU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172535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&lt;section&gt; — </a:t>
            </a:r>
            <a:r>
              <a:rPr lang="ru-RU" dirty="0" smtClean="0"/>
              <a:t>тематическая секция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6611224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Например блок «О нас», «Преимущества», «Тарифы». 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FF0000"/>
                </a:solidFill>
              </a:rPr>
              <a:t>Это смысловая группировка, а не просто контейнер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en-US" dirty="0" smtClean="0"/>
              <a:t>React: </a:t>
            </a:r>
            <a:r>
              <a:rPr lang="ru-RU" dirty="0" smtClean="0"/>
              <a:t>удобно делать компонент </a:t>
            </a:r>
            <a:r>
              <a:rPr lang="en-US" dirty="0" smtClean="0"/>
              <a:t>Section </a:t>
            </a:r>
            <a:r>
              <a:rPr lang="ru-RU" dirty="0" smtClean="0"/>
              <a:t>с пропсами </a:t>
            </a:r>
            <a:r>
              <a:rPr lang="en-US" dirty="0" smtClean="0"/>
              <a:t>title </a:t>
            </a:r>
            <a:r>
              <a:rPr lang="ru-RU" dirty="0" smtClean="0"/>
              <a:t>и </a:t>
            </a:r>
            <a:r>
              <a:rPr lang="en-US" dirty="0" smtClean="0"/>
              <a:t>children, </a:t>
            </a:r>
            <a:r>
              <a:rPr lang="ru-RU" dirty="0" smtClean="0"/>
              <a:t>чтобы </a:t>
            </a:r>
            <a:r>
              <a:rPr lang="ru-RU" dirty="0" err="1" smtClean="0"/>
              <a:t>переиспользовать</a:t>
            </a:r>
            <a:r>
              <a:rPr lang="ru-RU" dirty="0" smtClean="0"/>
              <a:t> структуру.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en-US" dirty="0" smtClean="0"/>
              <a:t>function Section({ title, children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&lt;section aria-</a:t>
            </a:r>
            <a:r>
              <a:rPr lang="en-US" dirty="0" err="1" smtClean="0"/>
              <a:t>labelledby</a:t>
            </a:r>
            <a:r>
              <a:rPr lang="en-US" dirty="0" smtClean="0"/>
              <a:t>={`section-\${title}`}&gt;</a:t>
            </a:r>
          </a:p>
          <a:p>
            <a:pPr marL="0" indent="0">
              <a:buNone/>
            </a:pPr>
            <a:r>
              <a:rPr lang="en-US" dirty="0" smtClean="0"/>
              <a:t>      &lt;h2 id={`section-\${title}`}&gt;{title}&lt;/h2&gt;</a:t>
            </a:r>
          </a:p>
          <a:p>
            <a:pPr marL="0" indent="0">
              <a:buNone/>
            </a:pPr>
            <a:r>
              <a:rPr lang="en-US" dirty="0" smtClean="0"/>
              <a:t>      {children}</a:t>
            </a:r>
          </a:p>
          <a:p>
            <a:pPr marL="0" indent="0">
              <a:buNone/>
            </a:pPr>
            <a:r>
              <a:rPr lang="en-US" dirty="0" smtClean="0"/>
              <a:t>    &lt;/section&gt;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162800" y="1432451"/>
            <a:ext cx="5029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Компонент </a:t>
            </a:r>
            <a:r>
              <a:rPr lang="ru-RU" dirty="0" err="1" smtClean="0"/>
              <a:t>Section</a:t>
            </a:r>
            <a:r>
              <a:rPr lang="ru-RU" dirty="0" smtClean="0"/>
              <a:t>. Он принимает два пропса: </a:t>
            </a:r>
            <a:r>
              <a:rPr lang="ru-RU" dirty="0" err="1" smtClean="0"/>
              <a:t>title</a:t>
            </a:r>
            <a:r>
              <a:rPr lang="ru-RU" dirty="0" smtClean="0"/>
              <a:t> (строка с заголовком раздела) и </a:t>
            </a:r>
            <a:r>
              <a:rPr lang="ru-RU" dirty="0" err="1" smtClean="0"/>
              <a:t>children</a:t>
            </a:r>
            <a:r>
              <a:rPr lang="ru-RU" dirty="0" smtClean="0"/>
              <a:t> (содержимое раздела).</a:t>
            </a:r>
          </a:p>
          <a:p>
            <a:r>
              <a:rPr lang="ru-RU" dirty="0" smtClean="0"/>
              <a:t>Тег &lt;</a:t>
            </a:r>
            <a:r>
              <a:rPr lang="ru-RU" dirty="0" err="1" smtClean="0"/>
              <a:t>section</a:t>
            </a:r>
            <a:r>
              <a:rPr lang="ru-RU" dirty="0" smtClean="0"/>
              <a:t>&gt;. Это семантический HTML-элемент, который обозначает самостоятельный раздел контента.</a:t>
            </a:r>
          </a:p>
          <a:p>
            <a:r>
              <a:rPr lang="ru-RU" dirty="0" smtClean="0"/>
              <a:t>Атрибут </a:t>
            </a:r>
            <a:r>
              <a:rPr lang="ru-RU" dirty="0" err="1" smtClean="0"/>
              <a:t>aria-labelledby</a:t>
            </a:r>
            <a:r>
              <a:rPr lang="ru-RU" dirty="0" smtClean="0"/>
              <a:t>. Он задаёт идентификатор (в данном случае </a:t>
            </a:r>
            <a:r>
              <a:rPr lang="ru-RU" dirty="0" err="1" smtClean="0"/>
              <a:t>section</a:t>
            </a:r>
            <a:r>
              <a:rPr lang="ru-RU" dirty="0" smtClean="0"/>
              <a:t>-${</a:t>
            </a:r>
            <a:r>
              <a:rPr lang="ru-RU" dirty="0" err="1" smtClean="0"/>
              <a:t>title</a:t>
            </a:r>
            <a:r>
              <a:rPr lang="ru-RU" dirty="0" smtClean="0"/>
              <a:t>}), на основе которого экранная читалка определит название раздела.</a:t>
            </a:r>
          </a:p>
          <a:p>
            <a:r>
              <a:rPr lang="ru-RU" dirty="0" smtClean="0"/>
              <a:t>Элемент &lt;h2&gt; с уникальным </a:t>
            </a:r>
            <a:r>
              <a:rPr lang="ru-RU" dirty="0" err="1" smtClean="0"/>
              <a:t>id</a:t>
            </a:r>
            <a:r>
              <a:rPr lang="ru-RU" dirty="0" smtClean="0"/>
              <a:t>. Именно этот заголовок становится источником названия для секции. ID должен быть уникальным в рамках всего документа, поэтому к нему и привязывается атрибут </a:t>
            </a:r>
            <a:r>
              <a:rPr lang="ru-RU" dirty="0" err="1" smtClean="0"/>
              <a:t>aria-labelledby</a:t>
            </a:r>
            <a:r>
              <a:rPr lang="ru-RU" dirty="0" smtClean="0"/>
              <a:t> элемента &lt;</a:t>
            </a:r>
            <a:r>
              <a:rPr lang="ru-RU" dirty="0" err="1" smtClean="0"/>
              <a:t>section</a:t>
            </a:r>
            <a:r>
              <a:rPr lang="ru-RU" dirty="0" smtClean="0"/>
              <a:t>&gt;.</a:t>
            </a:r>
          </a:p>
          <a:p>
            <a:r>
              <a:rPr lang="ru-RU" dirty="0" smtClean="0"/>
              <a:t>Содержимое {</a:t>
            </a:r>
            <a:r>
              <a:rPr lang="ru-RU" dirty="0" err="1" smtClean="0"/>
              <a:t>children</a:t>
            </a:r>
            <a:r>
              <a:rPr lang="ru-RU" dirty="0" smtClean="0"/>
              <a:t>}. Это то, что будет отображаться внутри раздела — текст, другие компоненты или элементы.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65428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пропсы простыми словами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Пропсы (</a:t>
            </a:r>
            <a:r>
              <a:rPr lang="ru-RU" dirty="0" err="1" smtClean="0"/>
              <a:t>props</a:t>
            </a:r>
            <a:r>
              <a:rPr lang="ru-RU" dirty="0" smtClean="0"/>
              <a:t> = </a:t>
            </a:r>
            <a:r>
              <a:rPr lang="ru-RU" dirty="0" err="1" smtClean="0"/>
              <a:t>properties</a:t>
            </a:r>
            <a:r>
              <a:rPr lang="ru-RU" dirty="0" smtClean="0"/>
              <a:t>) — это аргументы, которые родительский компонент передаёт дочернему. </a:t>
            </a:r>
          </a:p>
          <a:p>
            <a:pPr marL="0" indent="0">
              <a:buNone/>
            </a:pPr>
            <a:r>
              <a:rPr lang="ru-RU" dirty="0" smtClean="0"/>
              <a:t>Аналогия : родитель даёт ребёнку коробку с надписью «что внутри». Ребёнок (дочерний компонент) не придумывает содержимое, а берёт то, что положили.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контексте семантических тегов это значит: &lt;</a:t>
            </a:r>
            <a:r>
              <a:rPr lang="ru-RU" dirty="0" err="1" smtClean="0"/>
              <a:t>header</a:t>
            </a:r>
            <a:r>
              <a:rPr lang="ru-RU" dirty="0" smtClean="0"/>
              <a:t>&gt;, &lt;</a:t>
            </a:r>
            <a:r>
              <a:rPr lang="ru-RU" dirty="0" err="1" smtClean="0"/>
              <a:t>main</a:t>
            </a:r>
            <a:r>
              <a:rPr lang="ru-RU" dirty="0" smtClean="0"/>
              <a:t>&gt;, &lt;</a:t>
            </a:r>
            <a:r>
              <a:rPr lang="ru-RU" dirty="0" err="1" smtClean="0"/>
              <a:t>nav</a:t>
            </a:r>
            <a:r>
              <a:rPr lang="ru-RU" dirty="0" smtClean="0"/>
              <a:t>&gt; и т. д. остаются семантикой, а данные (заголовки, ссылки, текст) передаются через пропсы.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9090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&lt;article&gt; — </a:t>
            </a:r>
            <a:r>
              <a:rPr lang="ru-RU" dirty="0" smtClean="0"/>
              <a:t>самодостаточный фрагмент контента (новость, пост, товар).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Его можно вынести на другую страницу или в </a:t>
            </a:r>
            <a:r>
              <a:rPr lang="en-US" dirty="0" smtClean="0"/>
              <a:t>RSS — </a:t>
            </a:r>
            <a:r>
              <a:rPr lang="ru-RU" dirty="0" smtClean="0"/>
              <a:t>смысл не потеряется.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en-US" dirty="0" smtClean="0"/>
              <a:t>React: </a:t>
            </a:r>
            <a:r>
              <a:rPr lang="ru-RU" dirty="0" smtClean="0"/>
              <a:t>идеальный кандидат для компонента </a:t>
            </a:r>
            <a:r>
              <a:rPr lang="en-US" dirty="0" smtClean="0"/>
              <a:t>Card </a:t>
            </a:r>
            <a:r>
              <a:rPr lang="ru-RU" dirty="0" smtClean="0"/>
              <a:t>или </a:t>
            </a:r>
            <a:r>
              <a:rPr lang="en-US" dirty="0" smtClean="0"/>
              <a:t>Post, </a:t>
            </a:r>
            <a:r>
              <a:rPr lang="ru-RU" dirty="0" smtClean="0"/>
              <a:t>который </a:t>
            </a:r>
            <a:r>
              <a:rPr lang="ru-RU" dirty="0" err="1" smtClean="0"/>
              <a:t>рендерится</a:t>
            </a:r>
            <a:r>
              <a:rPr lang="ru-RU" dirty="0" smtClean="0"/>
              <a:t> в цикле.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en-US" dirty="0" smtClean="0"/>
              <a:t>function Article({ post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&lt;article </a:t>
            </a:r>
            <a:r>
              <a:rPr lang="en-US" dirty="0" err="1" smtClean="0"/>
              <a:t>className</a:t>
            </a:r>
            <a:r>
              <a:rPr lang="en-US" dirty="0" smtClean="0"/>
              <a:t>="post-card"&gt;</a:t>
            </a:r>
          </a:p>
          <a:p>
            <a:pPr marL="0" indent="0">
              <a:buNone/>
            </a:pPr>
            <a:r>
              <a:rPr lang="en-US" dirty="0" smtClean="0"/>
              <a:t>      &lt;h3&gt;{</a:t>
            </a:r>
            <a:r>
              <a:rPr lang="en-US" dirty="0" err="1" smtClean="0"/>
              <a:t>post.title</a:t>
            </a:r>
            <a:r>
              <a:rPr lang="en-US" dirty="0" smtClean="0"/>
              <a:t>}&lt;/h3&gt;</a:t>
            </a:r>
          </a:p>
          <a:p>
            <a:pPr marL="0" indent="0">
              <a:buNone/>
            </a:pPr>
            <a:r>
              <a:rPr lang="en-US" dirty="0" smtClean="0"/>
              <a:t>      &lt;p&gt;{</a:t>
            </a:r>
            <a:r>
              <a:rPr lang="en-US" dirty="0" err="1" smtClean="0"/>
              <a:t>post.summary</a:t>
            </a:r>
            <a:r>
              <a:rPr lang="en-US" dirty="0" smtClean="0"/>
              <a:t>}&lt;/p&gt;</a:t>
            </a:r>
          </a:p>
          <a:p>
            <a:pPr marL="0" indent="0">
              <a:buNone/>
            </a:pPr>
            <a:r>
              <a:rPr lang="en-US" dirty="0" smtClean="0"/>
              <a:t>    &lt;/article&gt;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5202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&lt;footer&gt; — </a:t>
            </a:r>
            <a:r>
              <a:rPr lang="ru-RU" dirty="0" smtClean="0"/>
              <a:t>заключительная часть страницы или секции (контакты, копирайт, ссылки)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В </a:t>
            </a:r>
            <a:r>
              <a:rPr lang="en-US" dirty="0" smtClean="0"/>
              <a:t>React: </a:t>
            </a:r>
            <a:r>
              <a:rPr lang="ru-RU" dirty="0" smtClean="0"/>
              <a:t>компонент </a:t>
            </a:r>
            <a:r>
              <a:rPr lang="en-US" dirty="0" smtClean="0"/>
              <a:t>Footer, </a:t>
            </a:r>
            <a:r>
              <a:rPr lang="ru-RU" dirty="0" smtClean="0"/>
              <a:t>который обычно </a:t>
            </a:r>
            <a:r>
              <a:rPr lang="ru-RU" dirty="0" err="1" smtClean="0"/>
              <a:t>рендерится</a:t>
            </a:r>
            <a:r>
              <a:rPr lang="ru-RU" dirty="0" smtClean="0"/>
              <a:t> один раз на уровне макета (</a:t>
            </a:r>
            <a:r>
              <a:rPr lang="en-US" dirty="0" smtClean="0"/>
              <a:t>Layout).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en-US" dirty="0" smtClean="0"/>
              <a:t>function Footer()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&lt;footer </a:t>
            </a:r>
            <a:r>
              <a:rPr lang="en-US" dirty="0" err="1" smtClean="0"/>
              <a:t>className</a:t>
            </a:r>
            <a:r>
              <a:rPr lang="en-US" dirty="0" smtClean="0"/>
              <a:t>="site-footer"&gt;</a:t>
            </a:r>
          </a:p>
          <a:p>
            <a:pPr marL="0" indent="0">
              <a:buNone/>
            </a:pPr>
            <a:r>
              <a:rPr lang="en-US" dirty="0" smtClean="0"/>
              <a:t>      &lt;p&gt;© 2024 </a:t>
            </a:r>
            <a:r>
              <a:rPr lang="ru-RU" dirty="0" smtClean="0"/>
              <a:t>Моя компания&lt;/</a:t>
            </a:r>
            <a:r>
              <a:rPr lang="en-US" dirty="0" smtClean="0"/>
              <a:t>p&gt;</a:t>
            </a:r>
          </a:p>
          <a:p>
            <a:pPr marL="0" indent="0">
              <a:buNone/>
            </a:pPr>
            <a:r>
              <a:rPr lang="en-US" dirty="0" smtClean="0"/>
              <a:t>    &lt;/footer&gt;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58413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dirty="0" err="1" smtClean="0"/>
              <a:t>nav</a:t>
            </a:r>
            <a:r>
              <a:rPr lang="en-US" dirty="0" smtClean="0"/>
              <a:t>&gt; — </a:t>
            </a:r>
            <a:r>
              <a:rPr lang="ru-RU" dirty="0" smtClean="0"/>
              <a:t>навигация (меню, список ссылок)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В </a:t>
            </a:r>
            <a:r>
              <a:rPr lang="en-US" dirty="0" smtClean="0"/>
              <a:t>React: </a:t>
            </a:r>
            <a:r>
              <a:rPr lang="ru-RU" dirty="0" smtClean="0"/>
              <a:t>компонент </a:t>
            </a:r>
            <a:r>
              <a:rPr lang="en-US" dirty="0" err="1" smtClean="0"/>
              <a:t>Nav</a:t>
            </a:r>
            <a:r>
              <a:rPr lang="en-US" dirty="0" smtClean="0"/>
              <a:t> </a:t>
            </a:r>
            <a:r>
              <a:rPr lang="ru-RU" dirty="0" smtClean="0"/>
              <a:t>с правильной структурой списка &lt;</a:t>
            </a:r>
            <a:r>
              <a:rPr lang="en-US" dirty="0" err="1" smtClean="0"/>
              <a:t>ul</a:t>
            </a:r>
            <a:r>
              <a:rPr lang="en-US" dirty="0" smtClean="0"/>
              <a:t>&gt;&lt;li&gt;&lt;a&gt; </a:t>
            </a:r>
            <a:r>
              <a:rPr lang="ru-RU" dirty="0" smtClean="0"/>
              <a:t>для доступности.</a:t>
            </a:r>
          </a:p>
          <a:p>
            <a:pPr marL="0" indent="0">
              <a:buNone/>
            </a:pPr>
            <a:r>
              <a:rPr lang="ru-RU" dirty="0" smtClean="0"/>
              <a:t>Пример:</a:t>
            </a:r>
          </a:p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Nav</a:t>
            </a:r>
            <a:r>
              <a:rPr lang="en-US" dirty="0" smtClean="0"/>
              <a:t>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nav</a:t>
            </a:r>
            <a:r>
              <a:rPr lang="en-US" dirty="0" smtClean="0"/>
              <a:t> aria-label="</a:t>
            </a:r>
            <a:r>
              <a:rPr lang="ru-RU" dirty="0" smtClean="0"/>
              <a:t>Основное меню"&gt;</a:t>
            </a:r>
          </a:p>
          <a:p>
            <a:pPr marL="0" indent="0">
              <a:buNone/>
            </a:pPr>
            <a:r>
              <a:rPr lang="ru-RU" dirty="0" smtClean="0"/>
              <a:t>      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&lt;li&gt;&lt;a </a:t>
            </a:r>
            <a:r>
              <a:rPr lang="en-US" dirty="0" err="1" smtClean="0"/>
              <a:t>href</a:t>
            </a:r>
            <a:r>
              <a:rPr lang="en-US" dirty="0" smtClean="0"/>
              <a:t>="/"&gt;</a:t>
            </a:r>
            <a:r>
              <a:rPr lang="ru-RU" dirty="0" smtClean="0"/>
              <a:t>Главная&lt;/</a:t>
            </a:r>
            <a:r>
              <a:rPr lang="en-US" dirty="0" smtClean="0"/>
              <a:t>a&gt;&lt;/li&gt;</a:t>
            </a:r>
          </a:p>
          <a:p>
            <a:pPr marL="0" indent="0">
              <a:buNone/>
            </a:pPr>
            <a:r>
              <a:rPr lang="en-US" dirty="0" smtClean="0"/>
              <a:t>        &lt;li&gt;&lt;a </a:t>
            </a:r>
            <a:r>
              <a:rPr lang="en-US" dirty="0" err="1" smtClean="0"/>
              <a:t>href</a:t>
            </a:r>
            <a:r>
              <a:rPr lang="en-US" dirty="0" smtClean="0"/>
              <a:t>="/about"&gt;</a:t>
            </a:r>
            <a:r>
              <a:rPr lang="ru-RU" dirty="0" smtClean="0"/>
              <a:t>О нас&lt;/</a:t>
            </a:r>
            <a:r>
              <a:rPr lang="en-US" dirty="0" smtClean="0"/>
              <a:t>a&gt;&lt;/li&gt;</a:t>
            </a:r>
          </a:p>
          <a:p>
            <a:pPr marL="0" indent="0">
              <a:buNone/>
            </a:pPr>
            <a:r>
              <a:rPr lang="en-US" dirty="0" smtClean="0"/>
              <a:t>     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33596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Мини‑шпаргалка: «что где лежит» (простыми словами)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9842" y="1825624"/>
            <a:ext cx="10623958" cy="4491285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Тег	Что это простыми словами	Где чаще всего используют в </a:t>
            </a:r>
            <a:r>
              <a:rPr lang="ru-RU" dirty="0" err="1" smtClean="0"/>
              <a:t>React</a:t>
            </a:r>
            <a:endParaRPr lang="ru-RU" dirty="0" smtClean="0"/>
          </a:p>
          <a:p>
            <a:r>
              <a:rPr lang="ru-RU" dirty="0" smtClean="0"/>
              <a:t>&lt;</a:t>
            </a:r>
            <a:r>
              <a:rPr lang="ru-RU" dirty="0" err="1" smtClean="0"/>
              <a:t>header</a:t>
            </a:r>
            <a:r>
              <a:rPr lang="ru-RU" dirty="0" smtClean="0"/>
              <a:t>&gt;	«Шапка» страницы: логотип, поиск, меню	Компонент </a:t>
            </a:r>
            <a:r>
              <a:rPr lang="ru-RU" dirty="0" err="1" smtClean="0"/>
              <a:t>Header</a:t>
            </a:r>
            <a:r>
              <a:rPr lang="ru-RU" dirty="0" smtClean="0"/>
              <a:t> — выносят отдельно, используют на всех страницах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main</a:t>
            </a:r>
            <a:r>
              <a:rPr lang="ru-RU" dirty="0" smtClean="0"/>
              <a:t>&gt;	«Суть» страницы: то, ради чего сюда пришли	Один на страницу; оборачивают основной контент, чтобы </a:t>
            </a:r>
            <a:r>
              <a:rPr lang="ru-RU" dirty="0" err="1" smtClean="0"/>
              <a:t>скринридеры</a:t>
            </a:r>
            <a:r>
              <a:rPr lang="ru-RU" dirty="0" smtClean="0"/>
              <a:t> сразу переходили к нему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section</a:t>
            </a:r>
            <a:r>
              <a:rPr lang="ru-RU" dirty="0" smtClean="0"/>
              <a:t>&gt;	«Раздел»: блок «О нас», «Преимущества», «Тарифы»	Компонент </a:t>
            </a:r>
            <a:r>
              <a:rPr lang="ru-RU" dirty="0" err="1" smtClean="0"/>
              <a:t>Section</a:t>
            </a:r>
            <a:r>
              <a:rPr lang="ru-RU" dirty="0" smtClean="0"/>
              <a:t> с заголовком и контентом; удобно </a:t>
            </a:r>
            <a:r>
              <a:rPr lang="ru-RU" dirty="0" err="1" smtClean="0"/>
              <a:t>переиспользовать</a:t>
            </a:r>
            <a:endParaRPr lang="ru-RU" dirty="0" smtClean="0"/>
          </a:p>
          <a:p>
            <a:r>
              <a:rPr lang="ru-RU" dirty="0" smtClean="0"/>
              <a:t>&lt;</a:t>
            </a:r>
            <a:r>
              <a:rPr lang="ru-RU" dirty="0" err="1" smtClean="0"/>
              <a:t>article</a:t>
            </a:r>
            <a:r>
              <a:rPr lang="ru-RU" dirty="0" smtClean="0"/>
              <a:t>&gt;	«Самостоятельный кусок»: новость, пост, товар	Компонент </a:t>
            </a:r>
            <a:r>
              <a:rPr lang="ru-RU" dirty="0" err="1" smtClean="0"/>
              <a:t>Card</a:t>
            </a:r>
            <a:r>
              <a:rPr lang="ru-RU" dirty="0" smtClean="0"/>
              <a:t> или </a:t>
            </a:r>
            <a:r>
              <a:rPr lang="ru-RU" dirty="0" err="1" smtClean="0"/>
              <a:t>Post</a:t>
            </a:r>
            <a:r>
              <a:rPr lang="ru-RU" dirty="0" smtClean="0"/>
              <a:t>; можно вынести на другую страницу — смысл не потеряется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footer</a:t>
            </a:r>
            <a:r>
              <a:rPr lang="ru-RU" dirty="0" smtClean="0"/>
              <a:t>&gt;	«Подвал»: контакты, копирайт, ссылки	Компонент </a:t>
            </a:r>
            <a:r>
              <a:rPr lang="ru-RU" dirty="0" err="1" smtClean="0"/>
              <a:t>Footer</a:t>
            </a:r>
            <a:r>
              <a:rPr lang="ru-RU" dirty="0" smtClean="0"/>
              <a:t> — обычно один на весь сайт, </a:t>
            </a:r>
            <a:r>
              <a:rPr lang="ru-RU" dirty="0" err="1" smtClean="0"/>
              <a:t>рендерится</a:t>
            </a:r>
            <a:r>
              <a:rPr lang="ru-RU" dirty="0" smtClean="0"/>
              <a:t> в </a:t>
            </a:r>
            <a:r>
              <a:rPr lang="ru-RU" dirty="0" err="1" smtClean="0"/>
              <a:t>Layout</a:t>
            </a:r>
            <a:endParaRPr lang="ru-RU" dirty="0" smtClean="0"/>
          </a:p>
          <a:p>
            <a:r>
              <a:rPr lang="ru-RU" dirty="0" smtClean="0"/>
              <a:t>&lt;</a:t>
            </a:r>
            <a:r>
              <a:rPr lang="ru-RU" dirty="0" err="1" smtClean="0"/>
              <a:t>nav</a:t>
            </a:r>
            <a:r>
              <a:rPr lang="ru-RU" dirty="0" smtClean="0"/>
              <a:t>&gt;	«Навигация»: меню, список ссылок	Компонент </a:t>
            </a:r>
            <a:r>
              <a:rPr lang="ru-RU" dirty="0" err="1" smtClean="0"/>
              <a:t>Nav</a:t>
            </a:r>
            <a:r>
              <a:rPr lang="ru-RU" dirty="0" smtClean="0"/>
              <a:t> с &lt;</a:t>
            </a:r>
            <a:r>
              <a:rPr lang="ru-RU" dirty="0" err="1" smtClean="0"/>
              <a:t>ul</a:t>
            </a:r>
            <a:r>
              <a:rPr lang="ru-RU" dirty="0" smtClean="0"/>
              <a:t>&gt;&lt;</a:t>
            </a:r>
            <a:r>
              <a:rPr lang="ru-RU" dirty="0" err="1" smtClean="0"/>
              <a:t>li</a:t>
            </a:r>
            <a:r>
              <a:rPr lang="ru-RU" dirty="0" smtClean="0"/>
              <a:t>&gt;&lt;a&gt;; добавляют </a:t>
            </a:r>
            <a:r>
              <a:rPr lang="ru-RU" dirty="0" err="1" smtClean="0"/>
              <a:t>aria-label</a:t>
            </a:r>
            <a:r>
              <a:rPr lang="ru-RU" dirty="0" smtClean="0"/>
              <a:t> для доступности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99615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Импортируем компоненты в </a:t>
            </a:r>
            <a:r>
              <a:rPr lang="en-US" dirty="0" smtClean="0"/>
              <a:t>App()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618" y="1122218"/>
            <a:ext cx="10841182" cy="56476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 smtClean="0"/>
              <a:t>В файле </a:t>
            </a:r>
            <a:r>
              <a:rPr lang="en-US" sz="1800" dirty="0" err="1" smtClean="0"/>
              <a:t>App.jsx</a:t>
            </a:r>
            <a:r>
              <a:rPr lang="en-US" sz="1800" dirty="0" smtClean="0"/>
              <a:t> </a:t>
            </a:r>
            <a:r>
              <a:rPr lang="ru-RU" sz="1800" dirty="0" smtClean="0"/>
              <a:t>делаем </a:t>
            </a:r>
            <a:r>
              <a:rPr lang="en-US" sz="1800" dirty="0" smtClean="0"/>
              <a:t>import </a:t>
            </a:r>
            <a:r>
              <a:rPr lang="ru-RU" sz="1800" dirty="0" smtClean="0"/>
              <a:t>всех компонентов и собираем их в единую структуру.</a:t>
            </a:r>
          </a:p>
          <a:p>
            <a:pPr marL="0" indent="0">
              <a:buNone/>
            </a:pPr>
            <a:r>
              <a:rPr lang="ru-RU" sz="1800" dirty="0" smtClean="0"/>
              <a:t> Обратите внимание: в </a:t>
            </a:r>
            <a:r>
              <a:rPr lang="en-US" sz="1800" dirty="0" smtClean="0"/>
              <a:t>App </a:t>
            </a:r>
            <a:r>
              <a:rPr lang="ru-RU" sz="1800" dirty="0" smtClean="0"/>
              <a:t>мы не пишем семантические теги напрямую — мы используем наши компоненты, которые уже содержат эти теги.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import Header from './Header';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Nav</a:t>
            </a:r>
            <a:r>
              <a:rPr lang="en-US" sz="1800" dirty="0" smtClean="0"/>
              <a:t> from './</a:t>
            </a:r>
            <a:r>
              <a:rPr lang="en-US" sz="1800" dirty="0" err="1" smtClean="0"/>
              <a:t>Nav</a:t>
            </a:r>
            <a:r>
              <a:rPr lang="en-US" sz="1800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MainContent</a:t>
            </a:r>
            <a:r>
              <a:rPr lang="en-US" sz="1800" dirty="0" smtClean="0"/>
              <a:t> from './</a:t>
            </a:r>
            <a:r>
              <a:rPr lang="en-US" sz="1800" dirty="0" err="1" smtClean="0"/>
              <a:t>MainContent</a:t>
            </a:r>
            <a:r>
              <a:rPr lang="en-US" sz="1800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import Footer from './Footer';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function App()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return (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&lt;div </a:t>
            </a:r>
            <a:r>
              <a:rPr lang="en-US" sz="1800" dirty="0" err="1" smtClean="0"/>
              <a:t>className</a:t>
            </a:r>
            <a:r>
              <a:rPr lang="en-US" sz="1800" dirty="0" smtClean="0"/>
              <a:t>="App"&gt;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  &lt;Header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  &lt;</a:t>
            </a:r>
            <a:r>
              <a:rPr lang="en-US" sz="1800" dirty="0" err="1" smtClean="0"/>
              <a:t>Nav</a:t>
            </a:r>
            <a:r>
              <a:rPr lang="en-US" sz="1800" dirty="0" smtClean="0"/>
              <a:t>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  &lt;</a:t>
            </a:r>
            <a:r>
              <a:rPr lang="en-US" sz="1800" dirty="0" err="1" smtClean="0"/>
              <a:t>MainContent</a:t>
            </a:r>
            <a:r>
              <a:rPr lang="en-US" sz="1800" dirty="0" smtClean="0"/>
              <a:t>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  &lt;Footer 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    &lt;/div&gt; </a:t>
            </a:r>
            <a:r>
              <a:rPr lang="en-US" sz="1800" dirty="0" smtClean="0"/>
              <a:t> );}</a:t>
            </a:r>
            <a:r>
              <a:rPr lang="ru-RU" sz="1800" dirty="0" smtClean="0"/>
              <a:t>  </a:t>
            </a:r>
            <a:endParaRPr lang="ru-RU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smtClean="0"/>
              <a:t>export default App</a:t>
            </a:r>
            <a:r>
              <a:rPr lang="en-US" sz="1600" dirty="0" smtClean="0"/>
              <a:t>;</a:t>
            </a:r>
            <a:endParaRPr lang="ru-RU" sz="1600" dirty="0"/>
          </a:p>
        </p:txBody>
      </p:sp>
    </p:spTree>
    <p:extLst>
      <p:ext uri="{BB962C8B-B14F-4D97-AF65-F5344CB8AC3E}">
        <p14:creationId xmlns="" xmlns:p14="http://schemas.microsoft.com/office/powerpoint/2010/main" val="574935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происходит «под капотом»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9116" y="1417739"/>
            <a:ext cx="10984684" cy="53689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4800" b="1" dirty="0" smtClean="0"/>
              <a:t>Когда </a:t>
            </a:r>
            <a:r>
              <a:rPr lang="en-US" sz="4800" b="1" dirty="0" smtClean="0"/>
              <a:t>React </a:t>
            </a:r>
            <a:r>
              <a:rPr lang="ru-RU" sz="4800" b="1" dirty="0" err="1" smtClean="0"/>
              <a:t>рендерит</a:t>
            </a:r>
            <a:r>
              <a:rPr lang="ru-RU" sz="4800" b="1" dirty="0" smtClean="0"/>
              <a:t> </a:t>
            </a:r>
            <a:r>
              <a:rPr lang="en-US" sz="4800" b="1" dirty="0" smtClean="0"/>
              <a:t>App, </a:t>
            </a:r>
            <a:r>
              <a:rPr lang="ru-RU" sz="4800" b="1" dirty="0" smtClean="0"/>
              <a:t>он заменяет компоненты на их </a:t>
            </a:r>
            <a:r>
              <a:rPr lang="en-US" sz="4800" b="1" dirty="0" smtClean="0"/>
              <a:t>JSX‑</a:t>
            </a:r>
            <a:r>
              <a:rPr lang="ru-RU" sz="4800" b="1" dirty="0" smtClean="0"/>
              <a:t>содержимое. В итоге в </a:t>
            </a:r>
            <a:r>
              <a:rPr lang="en-US" sz="4800" b="1" dirty="0" smtClean="0"/>
              <a:t>DOM </a:t>
            </a:r>
            <a:r>
              <a:rPr lang="ru-RU" sz="4800" b="1" dirty="0" smtClean="0"/>
              <a:t>попадает настоящая семантическая разметка: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&lt;div class="App"&gt;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&lt;header class="site-header"&gt;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&lt;h1&gt;</a:t>
            </a:r>
            <a:r>
              <a:rPr lang="ru-RU" b="1" dirty="0" smtClean="0"/>
              <a:t>Мой сайт&lt;/</a:t>
            </a:r>
            <a:r>
              <a:rPr lang="en-US" b="1" dirty="0" smtClean="0"/>
              <a:t>h1&gt;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&lt;/header&gt;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</a:t>
            </a:r>
            <a:r>
              <a:rPr lang="en-US" b="1" dirty="0" err="1" smtClean="0"/>
              <a:t>nav</a:t>
            </a:r>
            <a:r>
              <a:rPr lang="en-US" b="1" dirty="0" smtClean="0"/>
              <a:t> aria-label="</a:t>
            </a:r>
            <a:r>
              <a:rPr lang="ru-RU" b="1" dirty="0" smtClean="0"/>
              <a:t>Основное меню" </a:t>
            </a:r>
            <a:r>
              <a:rPr lang="en-US" b="1" dirty="0" smtClean="0"/>
              <a:t>class="site-</a:t>
            </a:r>
            <a:r>
              <a:rPr lang="en-US" b="1" dirty="0" err="1" smtClean="0"/>
              <a:t>nav</a:t>
            </a:r>
            <a:r>
              <a:rPr lang="en-US" b="1" dirty="0" smtClean="0"/>
              <a:t>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</a:t>
            </a:r>
            <a:r>
              <a:rPr lang="en-US" b="1" dirty="0" err="1" smtClean="0"/>
              <a:t>ul</a:t>
            </a:r>
            <a:r>
              <a:rPr lang="en-US" b="1" dirty="0" smtClean="0"/>
              <a:t>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  &lt;li&gt;&lt;a </a:t>
            </a:r>
            <a:r>
              <a:rPr lang="en-US" b="1" dirty="0" err="1" smtClean="0"/>
              <a:t>href</a:t>
            </a:r>
            <a:r>
              <a:rPr lang="en-US" b="1" dirty="0" smtClean="0"/>
              <a:t>="/"&gt;</a:t>
            </a:r>
            <a:r>
              <a:rPr lang="ru-RU" b="1" dirty="0" smtClean="0"/>
              <a:t>Главная&lt;/</a:t>
            </a:r>
            <a:r>
              <a:rPr lang="en-US" b="1" dirty="0" smtClean="0"/>
              <a:t>a&gt;&lt;/li&gt;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  &lt;li&gt;&lt;a </a:t>
            </a:r>
            <a:r>
              <a:rPr lang="en-US" b="1" dirty="0" err="1" smtClean="0"/>
              <a:t>href</a:t>
            </a:r>
            <a:r>
              <a:rPr lang="en-US" b="1" dirty="0" smtClean="0"/>
              <a:t>="/about"&gt;</a:t>
            </a:r>
            <a:r>
              <a:rPr lang="ru-RU" b="1" dirty="0" smtClean="0"/>
              <a:t>О нас&lt;/</a:t>
            </a:r>
            <a:r>
              <a:rPr lang="en-US" b="1" dirty="0" smtClean="0"/>
              <a:t>a&gt;&lt;/li&gt;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&lt;/</a:t>
            </a:r>
            <a:r>
              <a:rPr lang="en-US" b="1" dirty="0" err="1" smtClean="0"/>
              <a:t>ul</a:t>
            </a:r>
            <a:r>
              <a:rPr lang="en-US" b="1" dirty="0" smtClean="0"/>
              <a:t>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&lt;/</a:t>
            </a:r>
            <a:r>
              <a:rPr lang="en-US" b="1" dirty="0" err="1" smtClean="0"/>
              <a:t>nav</a:t>
            </a:r>
            <a:r>
              <a:rPr lang="en-US" b="1" dirty="0" smtClean="0"/>
              <a:t>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&lt;main class="page-main"&gt;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&lt;article class="post-card"&gt;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  &lt;h2&gt;</a:t>
            </a:r>
            <a:r>
              <a:rPr lang="ru-RU" b="1" dirty="0" smtClean="0"/>
              <a:t>Первая статья&lt;/</a:t>
            </a:r>
            <a:r>
              <a:rPr lang="en-US" b="1" dirty="0" smtClean="0"/>
              <a:t>h2&gt;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  &lt;p&gt;</a:t>
            </a:r>
            <a:r>
              <a:rPr lang="ru-RU" b="1" dirty="0" smtClean="0"/>
              <a:t>Текст статьи.&lt;/</a:t>
            </a:r>
            <a:r>
              <a:rPr lang="en-US" b="1" dirty="0" smtClean="0"/>
              <a:t>p&gt;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&lt;/article&gt;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&lt;/main&gt;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&lt;footer class="site-footer"&gt;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  &lt;p&gt;© 2024 </a:t>
            </a:r>
            <a:r>
              <a:rPr lang="ru-RU" b="1" dirty="0" smtClean="0"/>
              <a:t>Моя компания&lt;/</a:t>
            </a:r>
            <a:r>
              <a:rPr lang="en-US" b="1" dirty="0" smtClean="0"/>
              <a:t>p&gt;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  &lt;/footer&gt;</a:t>
            </a:r>
          </a:p>
          <a:p>
            <a:pPr marL="36000" indent="0">
              <a:spcBef>
                <a:spcPts val="600"/>
              </a:spcBef>
              <a:buNone/>
            </a:pPr>
            <a:r>
              <a:rPr lang="en-US" b="1" dirty="0" smtClean="0"/>
              <a:t>&lt;/div&gt;</a:t>
            </a:r>
            <a:endParaRPr lang="ru-RU" b="1" dirty="0" smtClean="0"/>
          </a:p>
          <a:p>
            <a:pPr marL="0" indent="0">
              <a:buNone/>
            </a:pPr>
            <a:r>
              <a:rPr lang="ru-RU" sz="3700" b="1" dirty="0" smtClean="0"/>
              <a:t>Это и есть главный принцип: семантика живёт внутри компонентов, а </a:t>
            </a:r>
            <a:r>
              <a:rPr lang="en-US" sz="3700" b="1" dirty="0" smtClean="0"/>
              <a:t>App </a:t>
            </a:r>
            <a:r>
              <a:rPr lang="ru-RU" sz="3700" b="1" dirty="0" smtClean="0"/>
              <a:t>собирает их в единую страницу.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92473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Простой пример: «было» и «стало»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3673" y="1154504"/>
            <a:ext cx="4311942" cy="5502160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5600" b="1" dirty="0" smtClean="0"/>
              <a:t>Было (новички часто пишут так):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function Page() {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return (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="page"&gt;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="header"&gt;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&lt;h1&gt;</a:t>
            </a:r>
            <a:r>
              <a:rPr lang="ru-RU" sz="5600" b="1" dirty="0" smtClean="0"/>
              <a:t>Мой сайт&lt;/</a:t>
            </a:r>
            <a:r>
              <a:rPr lang="en-US" sz="5600" b="1" dirty="0" smtClean="0"/>
              <a:t>h1&gt;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&lt;/div&gt;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</a:t>
            </a:r>
            <a:r>
              <a:rPr lang="en-US" sz="5600" b="1" dirty="0" err="1" smtClean="0"/>
              <a:t>nav</a:t>
            </a:r>
            <a:r>
              <a:rPr lang="en-US" sz="5600" b="1" dirty="0" smtClean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</a:t>
            </a:r>
            <a:r>
              <a:rPr lang="en-US" sz="5600" b="1" dirty="0" err="1" smtClean="0"/>
              <a:t>ul</a:t>
            </a:r>
            <a:r>
              <a:rPr lang="en-US" sz="5600" b="1" dirty="0" smtClean="0"/>
              <a:t>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  &lt;li&gt;&lt;a </a:t>
            </a:r>
            <a:r>
              <a:rPr lang="en-US" sz="5600" b="1" dirty="0" err="1" smtClean="0"/>
              <a:t>href</a:t>
            </a:r>
            <a:r>
              <a:rPr lang="en-US" sz="5600" b="1" dirty="0" smtClean="0"/>
              <a:t>="/"&gt;</a:t>
            </a:r>
            <a:r>
              <a:rPr lang="ru-RU" sz="5600" b="1" dirty="0" smtClean="0"/>
              <a:t>Главная&lt;/</a:t>
            </a:r>
            <a:r>
              <a:rPr lang="en-US" sz="5600" b="1" dirty="0" smtClean="0"/>
              <a:t>a&gt;&lt;/li&gt;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  &lt;li&gt;&lt;a </a:t>
            </a:r>
            <a:r>
              <a:rPr lang="en-US" sz="5600" b="1" dirty="0" err="1" smtClean="0"/>
              <a:t>href</a:t>
            </a:r>
            <a:r>
              <a:rPr lang="en-US" sz="5600" b="1" dirty="0" smtClean="0"/>
              <a:t>="/about"&gt;</a:t>
            </a:r>
            <a:r>
              <a:rPr lang="ru-RU" sz="5600" b="1" dirty="0" smtClean="0"/>
              <a:t>О нас&lt;/</a:t>
            </a:r>
            <a:r>
              <a:rPr lang="en-US" sz="5600" b="1" dirty="0" smtClean="0"/>
              <a:t>a&gt;&lt;/li&gt;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&lt;/</a:t>
            </a:r>
            <a:r>
              <a:rPr lang="en-US" sz="5600" b="1" dirty="0" err="1" smtClean="0"/>
              <a:t>ul</a:t>
            </a:r>
            <a:r>
              <a:rPr lang="en-US" sz="5600" b="1" dirty="0" smtClean="0"/>
              <a:t>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&lt;/div&gt;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="main"&gt;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="article"&gt;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  &lt;h2&gt;</a:t>
            </a:r>
            <a:r>
              <a:rPr lang="ru-RU" sz="5600" b="1" dirty="0" smtClean="0"/>
              <a:t>Первая статья&lt;/</a:t>
            </a:r>
            <a:r>
              <a:rPr lang="en-US" sz="5600" b="1" dirty="0" smtClean="0"/>
              <a:t>h2&gt;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  &lt;p&gt;</a:t>
            </a:r>
            <a:r>
              <a:rPr lang="ru-RU" sz="5600" b="1" dirty="0" smtClean="0"/>
              <a:t>Текст статьи.&lt;/</a:t>
            </a:r>
            <a:r>
              <a:rPr lang="en-US" sz="5600" b="1" dirty="0" smtClean="0"/>
              <a:t>p&gt;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&lt;/div&gt;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&lt;/div&gt;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&lt;div </a:t>
            </a:r>
            <a:r>
              <a:rPr lang="en-US" sz="5600" b="1" dirty="0" err="1" smtClean="0"/>
              <a:t>className</a:t>
            </a:r>
            <a:r>
              <a:rPr lang="en-US" sz="5600" b="1" dirty="0" smtClean="0"/>
              <a:t>="footer"&gt;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  &lt;p&gt;© 2024&lt;/p&gt;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  &lt;/div&gt;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5600" b="1" dirty="0" smtClean="0"/>
              <a:t>    &lt;/div&gt;  );</a:t>
            </a:r>
            <a:endParaRPr lang="ru-RU" sz="5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924338" y="1057013"/>
            <a:ext cx="417771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/>
              <a:t>Стало (семантика + классы для стилей):</a:t>
            </a:r>
          </a:p>
          <a:p>
            <a:r>
              <a:rPr lang="en-US" sz="1600" b="1" dirty="0" smtClean="0"/>
              <a:t>function Page() {</a:t>
            </a:r>
          </a:p>
          <a:p>
            <a:r>
              <a:rPr lang="en-US" sz="1600" b="1" dirty="0" smtClean="0"/>
              <a:t>  return (</a:t>
            </a:r>
          </a:p>
          <a:p>
            <a:r>
              <a:rPr lang="en-US" sz="1600" b="1" dirty="0" smtClean="0"/>
              <a:t>    &lt;div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="page"&gt;</a:t>
            </a:r>
          </a:p>
          <a:p>
            <a:r>
              <a:rPr lang="en-US" sz="1600" b="1" dirty="0" smtClean="0"/>
              <a:t>      &lt;header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="site-header"&gt;</a:t>
            </a:r>
          </a:p>
          <a:p>
            <a:r>
              <a:rPr lang="en-US" sz="1600" b="1" dirty="0" smtClean="0"/>
              <a:t>        &lt;h1&gt;</a:t>
            </a:r>
            <a:r>
              <a:rPr lang="ru-RU" sz="1600" b="1" dirty="0" smtClean="0"/>
              <a:t>Мой сайт&lt;/</a:t>
            </a:r>
            <a:r>
              <a:rPr lang="en-US" sz="1600" b="1" dirty="0" smtClean="0"/>
              <a:t>h1&gt;</a:t>
            </a:r>
          </a:p>
          <a:p>
            <a:r>
              <a:rPr lang="en-US" sz="1600" b="1" dirty="0" smtClean="0"/>
              <a:t>      &lt;/header&gt;</a:t>
            </a:r>
          </a:p>
          <a:p>
            <a:r>
              <a:rPr lang="en-US" sz="1600" b="1" dirty="0" smtClean="0"/>
              <a:t>      &lt;</a:t>
            </a:r>
            <a:r>
              <a:rPr lang="en-US" sz="1600" b="1" dirty="0" err="1" smtClean="0"/>
              <a:t>nav</a:t>
            </a:r>
            <a:r>
              <a:rPr lang="en-US" sz="1600" b="1" dirty="0" smtClean="0"/>
              <a:t> aria-label="</a:t>
            </a:r>
            <a:r>
              <a:rPr lang="ru-RU" sz="1600" b="1" dirty="0" smtClean="0"/>
              <a:t>Основное меню"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="site-</a:t>
            </a:r>
            <a:r>
              <a:rPr lang="en-US" sz="1600" b="1" dirty="0" err="1" smtClean="0"/>
              <a:t>nav</a:t>
            </a:r>
            <a:r>
              <a:rPr lang="en-US" sz="1600" b="1" dirty="0" smtClean="0"/>
              <a:t>"&gt;</a:t>
            </a:r>
          </a:p>
          <a:p>
            <a:r>
              <a:rPr lang="en-US" sz="1600" b="1" dirty="0" smtClean="0"/>
              <a:t>        &lt;</a:t>
            </a:r>
            <a:r>
              <a:rPr lang="en-US" sz="1600" b="1" dirty="0" err="1" smtClean="0"/>
              <a:t>ul</a:t>
            </a:r>
            <a:r>
              <a:rPr lang="en-US" sz="1600" b="1" dirty="0" smtClean="0"/>
              <a:t>&gt;</a:t>
            </a:r>
          </a:p>
          <a:p>
            <a:r>
              <a:rPr lang="en-US" sz="1600" b="1" dirty="0" smtClean="0"/>
              <a:t>          &lt;li&gt;&lt;a </a:t>
            </a:r>
            <a:r>
              <a:rPr lang="en-US" sz="1600" b="1" dirty="0" err="1" smtClean="0"/>
              <a:t>href</a:t>
            </a:r>
            <a:r>
              <a:rPr lang="en-US" sz="1600" b="1" dirty="0" smtClean="0"/>
              <a:t>="/"&gt;</a:t>
            </a:r>
            <a:r>
              <a:rPr lang="ru-RU" sz="1600" b="1" dirty="0" smtClean="0"/>
              <a:t>Главная&lt;/</a:t>
            </a:r>
            <a:r>
              <a:rPr lang="en-US" sz="1600" b="1" dirty="0" smtClean="0"/>
              <a:t>a&gt;&lt;/li&gt;</a:t>
            </a:r>
          </a:p>
          <a:p>
            <a:r>
              <a:rPr lang="en-US" sz="1600" b="1" dirty="0" smtClean="0"/>
              <a:t>          &lt;li&gt;&lt;a </a:t>
            </a:r>
            <a:r>
              <a:rPr lang="en-US" sz="1600" b="1" dirty="0" err="1" smtClean="0"/>
              <a:t>href</a:t>
            </a:r>
            <a:r>
              <a:rPr lang="en-US" sz="1600" b="1" dirty="0" smtClean="0"/>
              <a:t>="/about"&gt;</a:t>
            </a:r>
            <a:r>
              <a:rPr lang="ru-RU" sz="1600" b="1" dirty="0" smtClean="0"/>
              <a:t>О нас&lt;/</a:t>
            </a:r>
            <a:r>
              <a:rPr lang="en-US" sz="1600" b="1" dirty="0" smtClean="0"/>
              <a:t>a&gt;&lt;/li&gt;</a:t>
            </a:r>
          </a:p>
          <a:p>
            <a:r>
              <a:rPr lang="en-US" sz="1600" b="1" dirty="0" smtClean="0"/>
              <a:t>        &lt;/</a:t>
            </a:r>
            <a:r>
              <a:rPr lang="en-US" sz="1600" b="1" dirty="0" err="1" smtClean="0"/>
              <a:t>ul</a:t>
            </a:r>
            <a:r>
              <a:rPr lang="en-US" sz="1600" b="1" dirty="0" smtClean="0"/>
              <a:t>&gt;</a:t>
            </a:r>
          </a:p>
          <a:p>
            <a:r>
              <a:rPr lang="en-US" sz="1600" b="1" dirty="0" smtClean="0"/>
              <a:t>      &lt;/</a:t>
            </a:r>
            <a:r>
              <a:rPr lang="en-US" sz="1600" b="1" dirty="0" err="1" smtClean="0"/>
              <a:t>nav</a:t>
            </a:r>
            <a:r>
              <a:rPr lang="en-US" sz="1600" b="1" dirty="0" smtClean="0"/>
              <a:t>&gt;</a:t>
            </a:r>
          </a:p>
          <a:p>
            <a:r>
              <a:rPr lang="en-US" sz="1600" b="1" dirty="0" smtClean="0"/>
              <a:t>      &lt;main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="page-main"&gt;</a:t>
            </a:r>
          </a:p>
          <a:p>
            <a:r>
              <a:rPr lang="en-US" sz="1600" b="1" dirty="0" smtClean="0"/>
              <a:t>        &lt;article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="post-card"&gt;</a:t>
            </a:r>
          </a:p>
          <a:p>
            <a:r>
              <a:rPr lang="en-US" sz="1600" b="1" dirty="0" smtClean="0"/>
              <a:t>          &lt;h2&gt;</a:t>
            </a:r>
            <a:r>
              <a:rPr lang="ru-RU" sz="1600" b="1" dirty="0" smtClean="0"/>
              <a:t>Первая статья&lt;/</a:t>
            </a:r>
            <a:r>
              <a:rPr lang="en-US" sz="1600" b="1" dirty="0" smtClean="0"/>
              <a:t>h2&gt;</a:t>
            </a:r>
          </a:p>
          <a:p>
            <a:r>
              <a:rPr lang="en-US" sz="1600" b="1" dirty="0" smtClean="0"/>
              <a:t>          &lt;p&gt;</a:t>
            </a:r>
            <a:r>
              <a:rPr lang="ru-RU" sz="1600" b="1" dirty="0" smtClean="0"/>
              <a:t>Текст статьи.&lt;/</a:t>
            </a:r>
            <a:r>
              <a:rPr lang="en-US" sz="1600" b="1" dirty="0" smtClean="0"/>
              <a:t>p&gt;</a:t>
            </a:r>
          </a:p>
          <a:p>
            <a:r>
              <a:rPr lang="en-US" sz="1600" b="1" dirty="0" smtClean="0"/>
              <a:t>        &lt;/article&gt;</a:t>
            </a:r>
          </a:p>
          <a:p>
            <a:r>
              <a:rPr lang="en-US" sz="1600" b="1" dirty="0" smtClean="0"/>
              <a:t>      &lt;/main&gt;</a:t>
            </a:r>
          </a:p>
          <a:p>
            <a:r>
              <a:rPr lang="en-US" sz="1600" b="1" dirty="0" smtClean="0"/>
              <a:t>      &lt;footer </a:t>
            </a:r>
            <a:r>
              <a:rPr lang="en-US" sz="1600" b="1" dirty="0" err="1" smtClean="0"/>
              <a:t>className</a:t>
            </a:r>
            <a:r>
              <a:rPr lang="en-US" sz="1600" b="1" dirty="0" smtClean="0"/>
              <a:t>="site-footer"&gt;</a:t>
            </a:r>
          </a:p>
          <a:p>
            <a:r>
              <a:rPr lang="en-US" sz="1600" b="1" dirty="0" smtClean="0"/>
              <a:t>        &lt;p&gt;© 2024&lt;/p&gt;</a:t>
            </a:r>
          </a:p>
          <a:p>
            <a:r>
              <a:rPr lang="en-US" sz="1600" b="1" dirty="0" smtClean="0"/>
              <a:t>      &lt;/footer&gt;    &lt;/div&gt;  );}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219501" y="2306973"/>
            <a:ext cx="27767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Что изменилось:</a:t>
            </a:r>
          </a:p>
          <a:p>
            <a:endParaRPr lang="ru-RU" dirty="0" smtClean="0"/>
          </a:p>
          <a:p>
            <a:r>
              <a:rPr lang="ru-RU" dirty="0" smtClean="0"/>
              <a:t>Смысл стал понятен сразу: браузер, </a:t>
            </a:r>
            <a:r>
              <a:rPr lang="ru-RU" dirty="0" err="1" smtClean="0"/>
              <a:t>скринридер</a:t>
            </a:r>
            <a:r>
              <a:rPr lang="ru-RU" dirty="0" smtClean="0"/>
              <a:t> и другой разработчик видят назначение блоков.</a:t>
            </a:r>
          </a:p>
          <a:p>
            <a:r>
              <a:rPr lang="ru-RU" dirty="0" smtClean="0"/>
              <a:t>Классы остались для CSS — семантика не отменяет стилизацию.</a:t>
            </a:r>
          </a:p>
          <a:p>
            <a:r>
              <a:rPr lang="ru-RU" dirty="0" smtClean="0"/>
              <a:t>Добавили </a:t>
            </a:r>
            <a:r>
              <a:rPr lang="ru-RU" dirty="0" err="1" smtClean="0"/>
              <a:t>aria-label</a:t>
            </a:r>
            <a:r>
              <a:rPr lang="ru-RU" dirty="0" smtClean="0"/>
              <a:t> для &lt;</a:t>
            </a:r>
            <a:r>
              <a:rPr lang="ru-RU" dirty="0" err="1" smtClean="0"/>
              <a:t>nav</a:t>
            </a:r>
            <a:r>
              <a:rPr lang="ru-RU" dirty="0" smtClean="0"/>
              <a:t>&gt; — это простой шаг к доступности.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27970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Важные нюансы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Один &lt;</a:t>
            </a:r>
            <a:r>
              <a:rPr lang="ru-RU" dirty="0" err="1" smtClean="0"/>
              <a:t>main</a:t>
            </a:r>
            <a:r>
              <a:rPr lang="ru-RU" dirty="0" smtClean="0"/>
              <a:t>&gt; на страницу. В нашем примере он находится внутри </a:t>
            </a:r>
            <a:r>
              <a:rPr lang="ru-RU" dirty="0" err="1" smtClean="0"/>
              <a:t>MainContent</a:t>
            </a:r>
            <a:r>
              <a:rPr lang="ru-RU" dirty="0" smtClean="0"/>
              <a:t>. Не создавайте второй &lt;</a:t>
            </a:r>
            <a:r>
              <a:rPr lang="ru-RU" dirty="0" err="1" smtClean="0"/>
              <a:t>main</a:t>
            </a:r>
            <a:r>
              <a:rPr lang="ru-RU" dirty="0" smtClean="0"/>
              <a:t>&gt; в других компонентах — это ломает доступность.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nav</a:t>
            </a:r>
            <a:r>
              <a:rPr lang="ru-RU" dirty="0" smtClean="0"/>
              <a:t>&gt; — только для навигации. Не оборачивайте в него кнопки действий («Купить», «Войти»).</a:t>
            </a:r>
          </a:p>
          <a:p>
            <a:r>
              <a:rPr lang="ru-RU" dirty="0" smtClean="0"/>
              <a:t>Классы для стилей, семантика для смысла. Мы используем </a:t>
            </a:r>
            <a:r>
              <a:rPr lang="ru-RU" dirty="0" err="1" smtClean="0"/>
              <a:t>className</a:t>
            </a:r>
            <a:r>
              <a:rPr lang="ru-RU" dirty="0" smtClean="0"/>
              <a:t> для CSS, но не заменяем семантические теги на </a:t>
            </a:r>
            <a:r>
              <a:rPr lang="ru-RU" dirty="0" err="1" smtClean="0"/>
              <a:t>div</a:t>
            </a:r>
            <a:r>
              <a:rPr lang="ru-RU" dirty="0" smtClean="0"/>
              <a:t> ради стилей.</a:t>
            </a:r>
          </a:p>
          <a:p>
            <a:r>
              <a:rPr lang="ru-RU" dirty="0" smtClean="0"/>
              <a:t>Порядок важен. В </a:t>
            </a:r>
            <a:r>
              <a:rPr lang="ru-RU" dirty="0" err="1" smtClean="0"/>
              <a:t>App</a:t>
            </a:r>
            <a:r>
              <a:rPr lang="ru-RU" dirty="0" smtClean="0"/>
              <a:t> компоненты идут в логическом порядке: шапка → навигация → основной контент → подвал. Это помогает </a:t>
            </a:r>
            <a:r>
              <a:rPr lang="ru-RU" dirty="0" err="1" smtClean="0"/>
              <a:t>скринридерам</a:t>
            </a:r>
            <a:r>
              <a:rPr lang="ru-RU" dirty="0" smtClean="0"/>
              <a:t> и поисковикам правильно понимать структуру.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99398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это выглядит в файловой структуре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Для наглядности полезно показать, где лежат файлы:</a:t>
            </a:r>
          </a:p>
          <a:p>
            <a:pPr marL="0" indent="0">
              <a:buNone/>
            </a:pPr>
            <a:r>
              <a:rPr lang="en-US" dirty="0" err="1" smtClean="0"/>
              <a:t>src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 smtClean="0"/>
              <a:t>├── </a:t>
            </a:r>
            <a:r>
              <a:rPr lang="en-US" dirty="0" err="1" smtClean="0"/>
              <a:t>App.jsx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├── components/</a:t>
            </a:r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Header.jsx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Nav.jsx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MainContent.jsx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└── </a:t>
            </a:r>
            <a:r>
              <a:rPr lang="en-US" dirty="0" err="1" smtClean="0"/>
              <a:t>Footer.jsx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└── App.css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93860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Практическое задание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Создать компоненты. </a:t>
            </a:r>
          </a:p>
          <a:p>
            <a:r>
              <a:rPr lang="ru-RU" dirty="0" smtClean="0"/>
              <a:t>Создать 4 файла: </a:t>
            </a:r>
            <a:r>
              <a:rPr lang="ru-RU" dirty="0" err="1" smtClean="0"/>
              <a:t>Header.jsx</a:t>
            </a:r>
            <a:r>
              <a:rPr lang="ru-RU" dirty="0" smtClean="0"/>
              <a:t>, </a:t>
            </a:r>
            <a:r>
              <a:rPr lang="ru-RU" dirty="0" err="1" smtClean="0"/>
              <a:t>Nav.jsx</a:t>
            </a:r>
            <a:r>
              <a:rPr lang="ru-RU" dirty="0" smtClean="0"/>
              <a:t>, </a:t>
            </a:r>
            <a:r>
              <a:rPr lang="ru-RU" dirty="0" err="1" smtClean="0"/>
              <a:t>MainContent.jsx</a:t>
            </a:r>
            <a:r>
              <a:rPr lang="ru-RU" dirty="0" smtClean="0"/>
              <a:t>, </a:t>
            </a:r>
            <a:r>
              <a:rPr lang="ru-RU" dirty="0" err="1" smtClean="0"/>
              <a:t>Footer.jsx</a:t>
            </a:r>
            <a:r>
              <a:rPr lang="ru-RU" dirty="0" smtClean="0"/>
              <a:t> и наполнить их семантическими тегами.</a:t>
            </a:r>
          </a:p>
          <a:p>
            <a:r>
              <a:rPr lang="ru-RU" dirty="0" smtClean="0"/>
              <a:t>Собрать в </a:t>
            </a:r>
            <a:r>
              <a:rPr lang="ru-RU" dirty="0" err="1" smtClean="0"/>
              <a:t>App</a:t>
            </a:r>
            <a:r>
              <a:rPr lang="ru-RU" dirty="0" smtClean="0"/>
              <a:t>. В </a:t>
            </a:r>
            <a:r>
              <a:rPr lang="ru-RU" dirty="0" err="1" smtClean="0"/>
              <a:t>App.jsx</a:t>
            </a:r>
            <a:r>
              <a:rPr lang="ru-RU" dirty="0" smtClean="0"/>
              <a:t> импортировать и </a:t>
            </a:r>
            <a:r>
              <a:rPr lang="ru-RU" dirty="0" err="1" smtClean="0"/>
              <a:t>отрендерить</a:t>
            </a:r>
            <a:r>
              <a:rPr lang="ru-RU" dirty="0" smtClean="0"/>
              <a:t> все компоненты.</a:t>
            </a:r>
          </a:p>
          <a:p>
            <a:r>
              <a:rPr lang="ru-RU" dirty="0" smtClean="0"/>
              <a:t>Проверить результат. Открыть </a:t>
            </a:r>
            <a:r>
              <a:rPr lang="ru-RU" dirty="0" err="1" smtClean="0"/>
              <a:t>DevTools</a:t>
            </a:r>
            <a:r>
              <a:rPr lang="ru-RU" dirty="0" smtClean="0"/>
              <a:t> → </a:t>
            </a:r>
            <a:r>
              <a:rPr lang="ru-RU" dirty="0" err="1" smtClean="0"/>
              <a:t>Elements</a:t>
            </a:r>
            <a:r>
              <a:rPr lang="ru-RU" dirty="0" smtClean="0"/>
              <a:t> и убедиться, что в DOM есть теги &lt;</a:t>
            </a:r>
            <a:r>
              <a:rPr lang="ru-RU" dirty="0" err="1" smtClean="0"/>
              <a:t>header</a:t>
            </a:r>
            <a:r>
              <a:rPr lang="ru-RU" dirty="0" smtClean="0"/>
              <a:t>&gt;, &lt;</a:t>
            </a:r>
            <a:r>
              <a:rPr lang="ru-RU" dirty="0" err="1" smtClean="0"/>
              <a:t>nav</a:t>
            </a:r>
            <a:r>
              <a:rPr lang="ru-RU" dirty="0" smtClean="0"/>
              <a:t>&gt;, &lt;</a:t>
            </a:r>
            <a:r>
              <a:rPr lang="ru-RU" dirty="0" err="1" smtClean="0"/>
              <a:t>main</a:t>
            </a:r>
            <a:r>
              <a:rPr lang="ru-RU" dirty="0" smtClean="0"/>
              <a:t>&gt;, &lt;</a:t>
            </a:r>
            <a:r>
              <a:rPr lang="ru-RU" dirty="0" err="1" smtClean="0"/>
              <a:t>article</a:t>
            </a:r>
            <a:r>
              <a:rPr lang="ru-RU" dirty="0" smtClean="0"/>
              <a:t>&gt;, &lt;</a:t>
            </a:r>
            <a:r>
              <a:rPr lang="ru-RU" dirty="0" err="1" smtClean="0"/>
              <a:t>footer</a:t>
            </a:r>
            <a:r>
              <a:rPr lang="ru-RU" dirty="0" smtClean="0"/>
              <a:t>&gt;.</a:t>
            </a:r>
          </a:p>
          <a:p>
            <a:r>
              <a:rPr lang="ru-RU" dirty="0" smtClean="0"/>
              <a:t>Добавить стили. В App.css прописать простые стили для классов (например, .</a:t>
            </a:r>
            <a:r>
              <a:rPr lang="ru-RU" dirty="0" err="1" smtClean="0"/>
              <a:t>site-header</a:t>
            </a:r>
            <a:r>
              <a:rPr lang="ru-RU" dirty="0" smtClean="0"/>
              <a:t> { </a:t>
            </a:r>
            <a:r>
              <a:rPr lang="ru-RU" dirty="0" err="1" smtClean="0"/>
              <a:t>background</a:t>
            </a:r>
            <a:r>
              <a:rPr lang="ru-RU" dirty="0" smtClean="0"/>
              <a:t>: #333; </a:t>
            </a:r>
            <a:r>
              <a:rPr lang="ru-RU" dirty="0" err="1" smtClean="0"/>
              <a:t>color</a:t>
            </a:r>
            <a:r>
              <a:rPr lang="ru-RU" dirty="0" smtClean="0"/>
              <a:t>: #</a:t>
            </a:r>
            <a:r>
              <a:rPr lang="ru-RU" dirty="0" err="1" smtClean="0"/>
              <a:t>fff</a:t>
            </a:r>
            <a:r>
              <a:rPr lang="ru-RU" dirty="0" smtClean="0"/>
              <a:t>; }) и проверить, что стили применились.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44734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Блочная модель (</a:t>
            </a:r>
            <a:r>
              <a:rPr lang="en-US" dirty="0" smtClean="0"/>
              <a:t>Box Model) </a:t>
            </a:r>
            <a:r>
              <a:rPr lang="ru-RU" dirty="0" smtClean="0"/>
              <a:t>и отступы (критично для </a:t>
            </a:r>
            <a:r>
              <a:rPr lang="en-US" dirty="0" smtClean="0"/>
              <a:t>React‑</a:t>
            </a:r>
            <a:r>
              <a:rPr lang="ru-RU" dirty="0" smtClean="0"/>
              <a:t>вёрстки)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4 </a:t>
            </a:r>
            <a:r>
              <a:rPr lang="ru-RU" dirty="0" smtClean="0"/>
              <a:t>составляющие:</a:t>
            </a:r>
            <a:endParaRPr lang="en-US" dirty="0" smtClean="0"/>
          </a:p>
          <a:p>
            <a:r>
              <a:rPr lang="en-US" dirty="0" smtClean="0"/>
              <a:t>width/height — </a:t>
            </a:r>
            <a:r>
              <a:rPr lang="ru-RU" dirty="0" smtClean="0"/>
              <a:t>контент.</a:t>
            </a:r>
            <a:endParaRPr lang="en-US" dirty="0" smtClean="0"/>
          </a:p>
          <a:p>
            <a:r>
              <a:rPr lang="en-US" dirty="0" smtClean="0"/>
              <a:t>padding — </a:t>
            </a:r>
            <a:r>
              <a:rPr lang="ru-RU" dirty="0" smtClean="0"/>
              <a:t>внутренние отступы.</a:t>
            </a:r>
            <a:endParaRPr lang="en-US" dirty="0" smtClean="0"/>
          </a:p>
          <a:p>
            <a:r>
              <a:rPr lang="en-US" dirty="0" smtClean="0"/>
              <a:t>border — </a:t>
            </a:r>
            <a:r>
              <a:rPr lang="ru-RU" dirty="0" smtClean="0"/>
              <a:t>рамка.</a:t>
            </a:r>
            <a:endParaRPr lang="en-US" dirty="0" smtClean="0"/>
          </a:p>
          <a:p>
            <a:r>
              <a:rPr lang="en-US" dirty="0" smtClean="0"/>
              <a:t>margin — </a:t>
            </a:r>
            <a:r>
              <a:rPr lang="ru-RU" dirty="0" smtClean="0"/>
              <a:t>внешние отступы.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Самое важное правило:</a:t>
            </a:r>
            <a:r>
              <a:rPr lang="en-US" dirty="0" smtClean="0"/>
              <a:t> </a:t>
            </a:r>
            <a:r>
              <a:rPr lang="en-US" dirty="0" err="1"/>
              <a:t>c</a:t>
            </a:r>
            <a:r>
              <a:rPr lang="en-US" dirty="0" err="1" smtClean="0"/>
              <a:t>ss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* {  box-sizing: border-box;}</a:t>
            </a:r>
          </a:p>
          <a:p>
            <a:pPr marL="0" indent="0">
              <a:buNone/>
            </a:pPr>
            <a:r>
              <a:rPr lang="ru-RU" dirty="0" smtClean="0"/>
              <a:t>Теперь </a:t>
            </a:r>
            <a:r>
              <a:rPr lang="en-US" dirty="0" smtClean="0"/>
              <a:t>width </a:t>
            </a:r>
            <a:r>
              <a:rPr lang="ru-RU" dirty="0" smtClean="0"/>
              <a:t>включает </a:t>
            </a:r>
            <a:r>
              <a:rPr lang="en-US" dirty="0" smtClean="0"/>
              <a:t>padding </a:t>
            </a:r>
            <a:r>
              <a:rPr lang="ru-RU" dirty="0" smtClean="0"/>
              <a:t>и </a:t>
            </a:r>
            <a:r>
              <a:rPr lang="en-US" dirty="0" smtClean="0"/>
              <a:t>border. </a:t>
            </a:r>
            <a:r>
              <a:rPr lang="ru-RU" dirty="0" smtClean="0"/>
              <a:t>Это спасает от «прыгающих» вёрсток в </a:t>
            </a:r>
            <a:r>
              <a:rPr lang="en-US" dirty="0" smtClean="0"/>
              <a:t>React.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02429" y="1825625"/>
            <a:ext cx="3044457" cy="30483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9367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CSS‑селекторы, каскад и специфичность (и почему это важно в </a:t>
            </a:r>
            <a:r>
              <a:rPr lang="ru-RU" dirty="0" err="1" smtClean="0"/>
              <a:t>React</a:t>
            </a:r>
            <a:r>
              <a:rPr lang="ru-RU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0785" y="1551963"/>
            <a:ext cx="10733015" cy="49578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Базовые селекторы:</a:t>
            </a:r>
            <a:endParaRPr lang="en-US" b="1" dirty="0" smtClean="0"/>
          </a:p>
          <a:p>
            <a:pPr marL="0" indent="0">
              <a:buNone/>
            </a:pPr>
            <a:r>
              <a:rPr lang="ru-RU" dirty="0" smtClean="0"/>
              <a:t>По тегу: </a:t>
            </a:r>
            <a:r>
              <a:rPr lang="ru-RU" dirty="0" err="1" smtClean="0"/>
              <a:t>header</a:t>
            </a:r>
            <a:r>
              <a:rPr lang="ru-RU" dirty="0" smtClean="0"/>
              <a:t>, </a:t>
            </a:r>
            <a:r>
              <a:rPr lang="ru-RU" dirty="0" err="1" smtClean="0"/>
              <a:t>section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 классу: .</a:t>
            </a:r>
            <a:r>
              <a:rPr lang="ru-RU" dirty="0" err="1" smtClean="0"/>
              <a:t>hero</a:t>
            </a:r>
            <a:r>
              <a:rPr lang="ru-RU" dirty="0" smtClean="0"/>
              <a:t>, .</a:t>
            </a:r>
            <a:r>
              <a:rPr lang="ru-RU" dirty="0" err="1" smtClean="0"/>
              <a:t>contacts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 вложенности: </a:t>
            </a:r>
            <a:r>
              <a:rPr lang="ru-RU" dirty="0" err="1" smtClean="0"/>
              <a:t>header</a:t>
            </a:r>
            <a:r>
              <a:rPr lang="ru-RU" dirty="0" smtClean="0"/>
              <a:t> a.</a:t>
            </a:r>
            <a:endParaRPr lang="en-US" dirty="0" smtClean="0"/>
          </a:p>
          <a:p>
            <a:pPr marL="0" indent="0">
              <a:buNone/>
            </a:pPr>
            <a:r>
              <a:rPr lang="ru-RU" dirty="0" err="1" smtClean="0"/>
              <a:t>Псевдоклассы</a:t>
            </a:r>
            <a:r>
              <a:rPr lang="ru-RU" dirty="0" smtClean="0"/>
              <a:t>: :</a:t>
            </a:r>
            <a:r>
              <a:rPr lang="ru-RU" dirty="0" err="1" smtClean="0"/>
              <a:t>hover</a:t>
            </a:r>
            <a:r>
              <a:rPr lang="ru-RU" dirty="0" smtClean="0"/>
              <a:t>, :</a:t>
            </a:r>
            <a:r>
              <a:rPr lang="ru-RU" dirty="0" err="1" smtClean="0"/>
              <a:t>focus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Каскад и специфичность: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Порядок правил в CSS имеет значение.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Специфичность: ID &gt; классы &gt; теги.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ru-RU" dirty="0" smtClean="0"/>
              <a:t>!</a:t>
            </a:r>
            <a:r>
              <a:rPr lang="ru-RU" dirty="0" err="1" smtClean="0"/>
              <a:t>important</a:t>
            </a:r>
            <a:r>
              <a:rPr lang="ru-RU" dirty="0" smtClean="0"/>
              <a:t> — как «крик» в коде: лучше не использовать.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 парадигме </a:t>
            </a:r>
            <a:r>
              <a:rPr lang="ru-RU" dirty="0" err="1" smtClean="0"/>
              <a:t>React</a:t>
            </a:r>
            <a:r>
              <a:rPr lang="ru-RU" dirty="0" smtClean="0"/>
              <a:t> и CSS </a:t>
            </a:r>
            <a:r>
              <a:rPr lang="ru-RU" dirty="0" err="1" smtClean="0"/>
              <a:t>Modules</a:t>
            </a:r>
            <a:r>
              <a:rPr lang="ru-RU" dirty="0" smtClean="0"/>
              <a:t>: классы становятся локальными, поэтому глобальные конфликты стилей почти исчезают.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Но каскад и специфичность всё равно работают внутри одного компонента.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Аналогия: правила в семье: побеждает правило с большей «властью» (специфичностью).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90904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Селекторы по тегу: </a:t>
            </a:r>
            <a:r>
              <a:rPr lang="ru-RU" dirty="0" err="1" smtClean="0"/>
              <a:t>header</a:t>
            </a:r>
            <a:r>
              <a:rPr lang="ru-RU" dirty="0" smtClean="0"/>
              <a:t>, </a:t>
            </a:r>
            <a:r>
              <a:rPr lang="ru-RU" dirty="0" err="1" smtClean="0"/>
              <a:t>section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 smtClean="0"/>
              <a:t>css</a:t>
            </a:r>
            <a:endParaRPr lang="ru-RU" dirty="0" smtClean="0"/>
          </a:p>
          <a:p>
            <a:pPr marL="0" indent="0">
              <a:buNone/>
            </a:pPr>
            <a:r>
              <a:rPr lang="ru-RU" dirty="0" err="1" smtClean="0"/>
              <a:t>header</a:t>
            </a:r>
            <a:r>
              <a:rPr lang="ru-RU" dirty="0" smtClean="0"/>
              <a:t> {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ru-RU" dirty="0" err="1" smtClean="0"/>
              <a:t>padding</a:t>
            </a:r>
            <a:r>
              <a:rPr lang="ru-RU" dirty="0" smtClean="0"/>
              <a:t>: 1rem;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ru-RU" dirty="0" err="1" smtClean="0"/>
              <a:t>background</a:t>
            </a:r>
            <a:r>
              <a:rPr lang="ru-RU" dirty="0" smtClean="0"/>
              <a:t>: #f5f5f5;</a:t>
            </a:r>
          </a:p>
          <a:p>
            <a:pPr marL="0" indent="0">
              <a:buNone/>
            </a:pPr>
            <a:r>
              <a:rPr lang="ru-RU" dirty="0" smtClean="0"/>
              <a:t>}</a:t>
            </a:r>
          </a:p>
          <a:p>
            <a:pPr marL="0" indent="0">
              <a:buNone/>
            </a:pPr>
            <a:r>
              <a:rPr lang="ru-RU" dirty="0" err="1" smtClean="0"/>
              <a:t>section</a:t>
            </a:r>
            <a:r>
              <a:rPr lang="ru-RU" dirty="0" smtClean="0"/>
              <a:t> {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ru-RU" dirty="0" err="1" smtClean="0"/>
              <a:t>padding</a:t>
            </a:r>
            <a:r>
              <a:rPr lang="ru-RU" dirty="0" smtClean="0"/>
              <a:t>: 1.5rem;</a:t>
            </a:r>
          </a:p>
          <a:p>
            <a:pPr marL="0" indent="0">
              <a:buNone/>
            </a:pPr>
            <a:r>
              <a:rPr lang="ru-RU" dirty="0" smtClean="0"/>
              <a:t>}</a:t>
            </a:r>
          </a:p>
          <a:p>
            <a:pPr marL="0" indent="0">
              <a:buNone/>
            </a:pPr>
            <a:r>
              <a:rPr lang="ru-RU" dirty="0" smtClean="0"/>
              <a:t>Где применять в компонентах: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Header.jsx</a:t>
            </a:r>
            <a:r>
              <a:rPr lang="ru-RU" dirty="0" smtClean="0"/>
              <a:t> — тег &lt;</a:t>
            </a:r>
            <a:r>
              <a:rPr lang="ru-RU" dirty="0" err="1" smtClean="0"/>
              <a:t>header</a:t>
            </a:r>
            <a:r>
              <a:rPr lang="ru-RU" dirty="0" smtClean="0"/>
              <a:t>&gt; сразу получит эти стили.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 err="1" smtClean="0"/>
              <a:t>MainContent.jsx</a:t>
            </a:r>
            <a:r>
              <a:rPr lang="ru-RU" dirty="0" smtClean="0"/>
              <a:t> — каждый &lt;</a:t>
            </a:r>
            <a:r>
              <a:rPr lang="ru-RU" dirty="0" err="1" smtClean="0"/>
              <a:t>section</a:t>
            </a:r>
            <a:r>
              <a:rPr lang="ru-RU" dirty="0" smtClean="0"/>
              <a:t>&gt; будет иметь отступы.</a:t>
            </a:r>
          </a:p>
          <a:p>
            <a:pPr marL="0" indent="0">
              <a:buNone/>
            </a:pPr>
            <a:r>
              <a:rPr lang="ru-RU" dirty="0" smtClean="0"/>
              <a:t>Нюанс для обучения: селекторы по тегу лучше использовать осторожно — они затрагивают все такие элементы на странице. Для компонентов чаще берут классы.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27349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Селекторы по классу: .</a:t>
            </a:r>
            <a:r>
              <a:rPr lang="en-US" dirty="0" smtClean="0"/>
              <a:t>hero, .contacts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.hero {</a:t>
            </a:r>
          </a:p>
          <a:p>
            <a:pPr marL="0" indent="0">
              <a:buNone/>
            </a:pPr>
            <a:r>
              <a:rPr lang="en-US" dirty="0" smtClean="0"/>
              <a:t>  padding: 3rem 1rem;</a:t>
            </a:r>
          </a:p>
          <a:p>
            <a:pPr marL="0" indent="0">
              <a:buNone/>
            </a:pPr>
            <a:r>
              <a:rPr lang="en-US" dirty="0" smtClean="0"/>
              <a:t>  text-align: center;</a:t>
            </a:r>
          </a:p>
          <a:p>
            <a:pPr marL="0" indent="0">
              <a:buNone/>
            </a:pPr>
            <a:r>
              <a:rPr lang="en-US" dirty="0" smtClean="0"/>
              <a:t>  background: linear-gradient(135deg, #2c3e50, #4ca1af);</a:t>
            </a:r>
          </a:p>
          <a:p>
            <a:pPr marL="0" indent="0">
              <a:buNone/>
            </a:pPr>
            <a:r>
              <a:rPr lang="en-US" dirty="0" smtClean="0"/>
              <a:t>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.contacts {</a:t>
            </a:r>
          </a:p>
          <a:p>
            <a:pPr marL="0" indent="0">
              <a:buNone/>
            </a:pPr>
            <a:r>
              <a:rPr lang="en-US" dirty="0" smtClean="0"/>
              <a:t>  display: flex;</a:t>
            </a:r>
          </a:p>
          <a:p>
            <a:pPr marL="0" indent="0">
              <a:buNone/>
            </a:pPr>
            <a:r>
              <a:rPr lang="en-US" dirty="0" smtClean="0"/>
              <a:t>  flex-direction: column;</a:t>
            </a:r>
          </a:p>
          <a:p>
            <a:pPr marL="0" indent="0">
              <a:buNone/>
            </a:pPr>
            <a:r>
              <a:rPr lang="en-US" dirty="0" smtClean="0"/>
              <a:t>  gap: 1rem;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295740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компонентах: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16182"/>
            <a:ext cx="10515600" cy="48607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Hero()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&lt;section </a:t>
            </a:r>
            <a:r>
              <a:rPr lang="en-US" dirty="0" err="1" smtClean="0"/>
              <a:t>className</a:t>
            </a:r>
            <a:r>
              <a:rPr lang="en-US" dirty="0" smtClean="0"/>
              <a:t>="hero"&gt;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Добро пожаловать&lt;/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    &lt;p&gt;</a:t>
            </a:r>
            <a:r>
              <a:rPr lang="ru-RU" dirty="0" smtClean="0"/>
              <a:t>Лучший проект этого семестра&lt;/</a:t>
            </a:r>
            <a:r>
              <a:rPr lang="en-US" dirty="0" smtClean="0"/>
              <a:t>p&gt;</a:t>
            </a:r>
          </a:p>
          <a:p>
            <a:pPr marL="0" indent="0">
              <a:buNone/>
            </a:pPr>
            <a:r>
              <a:rPr lang="en-US" dirty="0" smtClean="0"/>
              <a:t>    &lt;/section&gt;  );}</a:t>
            </a:r>
          </a:p>
          <a:p>
            <a:pPr marL="0" indent="0">
              <a:buNone/>
            </a:pPr>
            <a:r>
              <a:rPr lang="en-US" dirty="0" smtClean="0"/>
              <a:t>function Contacts()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&lt;section </a:t>
            </a:r>
            <a:r>
              <a:rPr lang="en-US" dirty="0" err="1" smtClean="0"/>
              <a:t>className</a:t>
            </a:r>
            <a:r>
              <a:rPr lang="en-US" dirty="0" smtClean="0"/>
              <a:t>="contacts"&gt;</a:t>
            </a:r>
          </a:p>
          <a:p>
            <a:pPr marL="0" indent="0">
              <a:buNone/>
            </a:pPr>
            <a:r>
              <a:rPr lang="en-US" dirty="0" smtClean="0"/>
              <a:t>      &lt;h2&gt;</a:t>
            </a:r>
            <a:r>
              <a:rPr lang="ru-RU" dirty="0" smtClean="0"/>
              <a:t>Контакты&lt;/</a:t>
            </a:r>
            <a:r>
              <a:rPr lang="en-US" dirty="0" smtClean="0"/>
              <a:t>h2&gt;</a:t>
            </a:r>
          </a:p>
          <a:p>
            <a:pPr marL="0" indent="0">
              <a:buNone/>
            </a:pPr>
            <a:r>
              <a:rPr lang="en-US" dirty="0" smtClean="0"/>
              <a:t>      &lt;p&gt;Email: info@example.com&lt;/p&gt;</a:t>
            </a:r>
          </a:p>
          <a:p>
            <a:pPr marL="0" indent="0">
              <a:buNone/>
            </a:pPr>
            <a:r>
              <a:rPr lang="en-US" dirty="0" smtClean="0"/>
              <a:t>      &lt;p&gt;</a:t>
            </a:r>
            <a:r>
              <a:rPr lang="ru-RU" dirty="0" smtClean="0"/>
              <a:t>Телефон: +7 (999) 000-00-00&lt;/</a:t>
            </a:r>
            <a:r>
              <a:rPr lang="en-US" dirty="0" smtClean="0"/>
              <a:t>p&gt;</a:t>
            </a:r>
          </a:p>
          <a:p>
            <a:pPr marL="0" indent="0">
              <a:buNone/>
            </a:pPr>
            <a:r>
              <a:rPr lang="en-US" dirty="0" smtClean="0"/>
              <a:t>    &lt;/section&gt;  );}</a:t>
            </a:r>
          </a:p>
          <a:p>
            <a:pPr marL="0" indent="0">
              <a:buNone/>
            </a:pPr>
            <a:r>
              <a:rPr lang="ru-RU" b="1" dirty="0" smtClean="0"/>
              <a:t>Почему это важно: классы дают точечный контроль и не ломают другие части сайта.</a:t>
            </a:r>
            <a:endParaRPr lang="ru-RU" b="1" dirty="0"/>
          </a:p>
        </p:txBody>
      </p:sp>
    </p:spTree>
    <p:extLst>
      <p:ext uri="{BB962C8B-B14F-4D97-AF65-F5344CB8AC3E}">
        <p14:creationId xmlns="" xmlns:p14="http://schemas.microsoft.com/office/powerpoint/2010/main" val="2959303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Селекторы по вложенности: </a:t>
            </a:r>
            <a:r>
              <a:rPr lang="en-US" dirty="0" smtClean="0"/>
              <a:t>header a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header a {</a:t>
            </a:r>
          </a:p>
          <a:p>
            <a:pPr marL="0" indent="0">
              <a:buNone/>
            </a:pPr>
            <a:r>
              <a:rPr lang="en-US" dirty="0" smtClean="0"/>
              <a:t>  color: #333;</a:t>
            </a:r>
          </a:p>
          <a:p>
            <a:pPr marL="0" indent="0">
              <a:buNone/>
            </a:pPr>
            <a:r>
              <a:rPr lang="en-US" dirty="0" smtClean="0"/>
              <a:t>  text-decoration: none;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header a:hover {</a:t>
            </a:r>
          </a:p>
          <a:p>
            <a:pPr marL="0" indent="0">
              <a:buNone/>
            </a:pPr>
            <a:r>
              <a:rPr lang="en-US" dirty="0" smtClean="0"/>
              <a:t>  color: #007bff;</a:t>
            </a:r>
          </a:p>
          <a:p>
            <a:pPr marL="0" indent="0">
              <a:buNone/>
            </a:pPr>
            <a:r>
              <a:rPr lang="en-US" dirty="0" smtClean="0"/>
              <a:t>  text-decoration: underline;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81576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компоненте: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96622"/>
            <a:ext cx="10515600" cy="49803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Header()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&lt;header&gt;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Мой сайт&lt;/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    &lt;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&lt;a </a:t>
            </a:r>
            <a:r>
              <a:rPr lang="en-US" dirty="0" err="1" smtClean="0"/>
              <a:t>href</a:t>
            </a:r>
            <a:r>
              <a:rPr lang="en-US" dirty="0" smtClean="0"/>
              <a:t>="/"&gt;</a:t>
            </a:r>
            <a:r>
              <a:rPr lang="ru-RU" dirty="0" smtClean="0"/>
              <a:t>Главная&lt;/</a:t>
            </a:r>
            <a:r>
              <a:rPr lang="en-US" dirty="0" smtClean="0"/>
              <a:t>a&gt;</a:t>
            </a:r>
          </a:p>
          <a:p>
            <a:pPr marL="0" indent="0">
              <a:buNone/>
            </a:pPr>
            <a:r>
              <a:rPr lang="en-US" dirty="0" smtClean="0"/>
              <a:t>        &lt;a </a:t>
            </a:r>
            <a:r>
              <a:rPr lang="en-US" dirty="0" err="1" smtClean="0"/>
              <a:t>href</a:t>
            </a:r>
            <a:r>
              <a:rPr lang="en-US" dirty="0" smtClean="0"/>
              <a:t>="/about"&gt;</a:t>
            </a:r>
            <a:r>
              <a:rPr lang="ru-RU" dirty="0" smtClean="0"/>
              <a:t>О нас&lt;/</a:t>
            </a:r>
            <a:r>
              <a:rPr lang="en-US" dirty="0" smtClean="0"/>
              <a:t>a&gt;</a:t>
            </a:r>
          </a:p>
          <a:p>
            <a:pPr marL="0" indent="0">
              <a:buNone/>
            </a:pPr>
            <a:r>
              <a:rPr lang="en-US" dirty="0" smtClean="0"/>
              <a:t>    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&lt;/header&gt;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ru-RU" dirty="0" smtClean="0"/>
              <a:t>Что это даёт: стили применяются только к ссылкам внутри &lt;</a:t>
            </a:r>
            <a:r>
              <a:rPr lang="en-US" dirty="0" smtClean="0"/>
              <a:t>header&gt;, </a:t>
            </a:r>
            <a:r>
              <a:rPr lang="ru-RU" dirty="0" smtClean="0"/>
              <a:t>а не ко всем ссылкам на сайте. Это удобно для навигации.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46116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Псевдоклассы</a:t>
            </a:r>
            <a:r>
              <a:rPr lang="ru-RU" dirty="0" smtClean="0"/>
              <a:t>: :</a:t>
            </a:r>
            <a:r>
              <a:rPr lang="en-US" dirty="0" smtClean="0"/>
              <a:t>hover, :focus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button:hover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background: #0056b3;</a:t>
            </a:r>
          </a:p>
          <a:p>
            <a:pPr marL="0" indent="0">
              <a:buNone/>
            </a:pPr>
            <a:r>
              <a:rPr lang="en-US" dirty="0" smtClean="0"/>
              <a:t>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err="1" smtClean="0"/>
              <a:t>button:focus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outline: 3px solid #007bff;</a:t>
            </a:r>
          </a:p>
          <a:p>
            <a:pPr marL="0" indent="0">
              <a:buNone/>
            </a:pPr>
            <a:r>
              <a:rPr lang="en-US" dirty="0" smtClean="0"/>
              <a:t>  outline-offset: 2px;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article-card:hover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transform: </a:t>
            </a:r>
            <a:r>
              <a:rPr lang="en-US" dirty="0" err="1" smtClean="0"/>
              <a:t>translateY</a:t>
            </a:r>
            <a:r>
              <a:rPr lang="en-US" dirty="0" smtClean="0"/>
              <a:t>(-4px);</a:t>
            </a:r>
          </a:p>
          <a:p>
            <a:pPr marL="0" indent="0">
              <a:buNone/>
            </a:pPr>
            <a:r>
              <a:rPr lang="en-US" dirty="0" smtClean="0"/>
              <a:t>  box-shadow: 0 8px 16px </a:t>
            </a:r>
            <a:r>
              <a:rPr lang="en-US" dirty="0" err="1" smtClean="0"/>
              <a:t>rgba</a:t>
            </a:r>
            <a:r>
              <a:rPr lang="en-US" dirty="0" smtClean="0"/>
              <a:t>(0,0,0,0.15);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176654" y="1371600"/>
            <a:ext cx="42117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Этот CSS‑фрагмент задаёт стиль для кнопки в состоянии фокуса — то есть когда пользователь выделяет её с клавиатуры </a:t>
            </a:r>
          </a:p>
          <a:p>
            <a:r>
              <a:rPr lang="en-US" dirty="0" smtClean="0"/>
              <a:t> outline: 3px solid #007bff;</a:t>
            </a:r>
            <a:r>
              <a:rPr lang="ru-RU" dirty="0" smtClean="0"/>
              <a:t> — создаёт внешнюю обводку толщиной 3 пикселя, сплошную, цвета #007bff (это классический ярко‑синий оттенок, часто используется как акцентный  </a:t>
            </a:r>
            <a:r>
              <a:rPr lang="ru-RU" dirty="0" err="1" smtClean="0"/>
              <a:t>outline</a:t>
            </a:r>
            <a:r>
              <a:rPr lang="ru-RU" dirty="0" smtClean="0"/>
              <a:t> не влияет на поток документа и не сдвигает соседние элементы.</a:t>
            </a:r>
          </a:p>
          <a:p>
            <a:r>
              <a:rPr lang="ru-RU" dirty="0" err="1" smtClean="0"/>
              <a:t>outline-offset</a:t>
            </a:r>
            <a:r>
              <a:rPr lang="ru-RU" dirty="0" smtClean="0"/>
              <a:t>: 2px; — отодвигает эту обводку на 2 пикселя от границ кнопки. Получается эффект «свечения» или заметного отступа вокруг элемента — так фокус становится ещё более различимым.</a:t>
            </a:r>
            <a:endParaRPr lang="ru-RU" dirty="0"/>
          </a:p>
        </p:txBody>
      </p:sp>
      <p:sp>
        <p:nvSpPr>
          <p:cNvPr id="7" name="Стрелка вправо 6"/>
          <p:cNvSpPr/>
          <p:nvPr/>
        </p:nvSpPr>
        <p:spPr>
          <a:xfrm>
            <a:off x="4835236" y="3408218"/>
            <a:ext cx="1676400" cy="4156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6902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компоненте: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27018"/>
            <a:ext cx="10515600" cy="47499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ArticleCard</a:t>
            </a:r>
            <a:r>
              <a:rPr lang="en-US" dirty="0" smtClean="0"/>
              <a:t>({ title, summary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&lt;article </a:t>
            </a:r>
            <a:r>
              <a:rPr lang="en-US" dirty="0" err="1" smtClean="0"/>
              <a:t>className</a:t>
            </a:r>
            <a:r>
              <a:rPr lang="en-US" dirty="0" smtClean="0"/>
              <a:t>="article-card"&gt;</a:t>
            </a:r>
          </a:p>
          <a:p>
            <a:pPr marL="0" indent="0">
              <a:buNone/>
            </a:pPr>
            <a:r>
              <a:rPr lang="en-US" dirty="0" smtClean="0"/>
              <a:t>      &lt;h3&gt;{title}&lt;/h3&gt;</a:t>
            </a:r>
          </a:p>
          <a:p>
            <a:pPr marL="0" indent="0">
              <a:buNone/>
            </a:pPr>
            <a:r>
              <a:rPr lang="en-US" dirty="0" smtClean="0"/>
              <a:t>      &lt;p&gt;{summary}&lt;/p&gt;</a:t>
            </a:r>
          </a:p>
          <a:p>
            <a:pPr marL="0" indent="0">
              <a:buNone/>
            </a:pPr>
            <a:r>
              <a:rPr lang="en-US" dirty="0" smtClean="0"/>
              <a:t>      &lt;button&gt;</a:t>
            </a:r>
            <a:r>
              <a:rPr lang="ru-RU" dirty="0" smtClean="0"/>
              <a:t>Подробнее&lt;/</a:t>
            </a:r>
            <a:r>
              <a:rPr lang="en-US" dirty="0" smtClean="0"/>
              <a:t>button&gt;</a:t>
            </a:r>
          </a:p>
          <a:p>
            <a:pPr marL="0" indent="0">
              <a:buNone/>
            </a:pPr>
            <a:r>
              <a:rPr lang="en-US" dirty="0" smtClean="0"/>
              <a:t>    &lt;/article&gt;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ru-RU" dirty="0" smtClean="0"/>
              <a:t>Важный момент для доступности: :</a:t>
            </a:r>
            <a:r>
              <a:rPr lang="en-US" dirty="0" smtClean="0"/>
              <a:t>focus </a:t>
            </a:r>
            <a:r>
              <a:rPr lang="ru-RU" dirty="0" smtClean="0"/>
              <a:t>критически важен для навигации с клавиатуры. Всегда интерактивные элементы должны иметь видимый фокус.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02068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Как это собрать в учебном проекте (</a:t>
            </a:r>
            <a:r>
              <a:rPr lang="en-US" dirty="0" err="1" smtClean="0"/>
              <a:t>Vite</a:t>
            </a:r>
            <a:r>
              <a:rPr lang="en-US" dirty="0" smtClean="0"/>
              <a:t>/CRA)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1867" y="1411112"/>
            <a:ext cx="10811933" cy="50348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Файл </a:t>
            </a:r>
            <a:r>
              <a:rPr lang="en-US" b="1" dirty="0" err="1" smtClean="0"/>
              <a:t>src</a:t>
            </a:r>
            <a:r>
              <a:rPr lang="en-US" b="1" dirty="0" smtClean="0"/>
              <a:t>/index.css (</a:t>
            </a:r>
            <a:r>
              <a:rPr lang="ru-RU" b="1" dirty="0" smtClean="0"/>
              <a:t>глобальные базовые стили):</a:t>
            </a:r>
          </a:p>
          <a:p>
            <a:pPr marL="0" indent="0">
              <a:buNone/>
            </a:pPr>
            <a:r>
              <a:rPr lang="en-US" dirty="0" smtClean="0"/>
              <a:t>* { box-sizing: border-box; }</a:t>
            </a:r>
          </a:p>
          <a:p>
            <a:pPr marL="0" indent="0">
              <a:buNone/>
            </a:pPr>
            <a:r>
              <a:rPr lang="en-US" dirty="0" smtClean="0"/>
              <a:t>body { margin: 0; font-family: system-</a:t>
            </a:r>
            <a:r>
              <a:rPr lang="en-US" dirty="0" err="1" smtClean="0"/>
              <a:t>ui</a:t>
            </a:r>
            <a:r>
              <a:rPr lang="en-US" dirty="0" smtClean="0"/>
              <a:t>, -apple-system, sans-serif; }</a:t>
            </a:r>
          </a:p>
          <a:p>
            <a:pPr marL="0" indent="0">
              <a:buNone/>
            </a:pPr>
            <a:r>
              <a:rPr lang="en-US" dirty="0" smtClean="0"/>
              <a:t>a { text-decoration: none; }</a:t>
            </a:r>
          </a:p>
          <a:p>
            <a:pPr marL="0" indent="0">
              <a:buNone/>
            </a:pPr>
            <a:r>
              <a:rPr lang="en-US" dirty="0" err="1" smtClean="0"/>
              <a:t>ul</a:t>
            </a:r>
            <a:r>
              <a:rPr lang="en-US" dirty="0" smtClean="0"/>
              <a:t> { margin: 0; padding: 0; list-style: none; }</a:t>
            </a:r>
          </a:p>
          <a:p>
            <a:pPr marL="0" indent="0">
              <a:buNone/>
            </a:pPr>
            <a:r>
              <a:rPr lang="ru-RU" b="1" dirty="0" smtClean="0"/>
              <a:t>Файл </a:t>
            </a:r>
            <a:r>
              <a:rPr lang="en-US" b="1" dirty="0" err="1" smtClean="0"/>
              <a:t>src</a:t>
            </a:r>
            <a:r>
              <a:rPr lang="en-US" b="1" dirty="0" smtClean="0"/>
              <a:t>/components/Header/Header.css:</a:t>
            </a:r>
          </a:p>
          <a:p>
            <a:pPr marL="0" indent="0">
              <a:buNone/>
            </a:pPr>
            <a:r>
              <a:rPr lang="en-US" dirty="0" smtClean="0"/>
              <a:t>header {</a:t>
            </a:r>
          </a:p>
          <a:p>
            <a:pPr marL="0" indent="0">
              <a:buNone/>
            </a:pPr>
            <a:r>
              <a:rPr lang="en-US" dirty="0" smtClean="0"/>
              <a:t>  padding: 0.75rem 1rem;</a:t>
            </a:r>
          </a:p>
          <a:p>
            <a:pPr marL="0" indent="0">
              <a:buNone/>
            </a:pPr>
            <a:r>
              <a:rPr lang="en-US" dirty="0" smtClean="0"/>
              <a:t>  background: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  border-bottom: 1px solid #</a:t>
            </a:r>
            <a:r>
              <a:rPr lang="en-US" dirty="0" err="1" smtClean="0"/>
              <a:t>ddd</a:t>
            </a:r>
            <a:r>
              <a:rPr lang="en-US" dirty="0" smtClean="0"/>
              <a:t>;}</a:t>
            </a:r>
          </a:p>
          <a:p>
            <a:pPr marL="0" indent="0">
              <a:buNone/>
            </a:pPr>
            <a:r>
              <a:rPr lang="en-US" dirty="0" smtClean="0"/>
              <a:t>header a {</a:t>
            </a:r>
          </a:p>
          <a:p>
            <a:pPr marL="0" indent="0">
              <a:buNone/>
            </a:pPr>
            <a:r>
              <a:rPr lang="en-US" dirty="0" smtClean="0"/>
              <a:t>  color: #333;}</a:t>
            </a:r>
          </a:p>
          <a:p>
            <a:pPr marL="0" indent="0">
              <a:buNone/>
            </a:pPr>
            <a:r>
              <a:rPr lang="en-US" dirty="0" smtClean="0"/>
              <a:t>header a:hover {</a:t>
            </a:r>
          </a:p>
          <a:p>
            <a:pPr marL="0" indent="0">
              <a:buNone/>
            </a:pPr>
            <a:r>
              <a:rPr lang="en-US" dirty="0" smtClean="0"/>
              <a:t>  color: #007bff;}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90654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 </a:t>
            </a:r>
            <a:r>
              <a:rPr lang="en-US" dirty="0" err="1" smtClean="0"/>
              <a:t>src</a:t>
            </a:r>
            <a:r>
              <a:rPr lang="en-US" dirty="0" smtClean="0"/>
              <a:t>/components/Header/</a:t>
            </a:r>
            <a:r>
              <a:rPr lang="en-US" dirty="0" err="1" smtClean="0"/>
              <a:t>Header.jsx</a:t>
            </a:r>
            <a:r>
              <a:rPr lang="en-US" dirty="0" smtClean="0"/>
              <a:t>: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9911" y="1825625"/>
            <a:ext cx="10653889" cy="47670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'./Header.css';</a:t>
            </a:r>
          </a:p>
          <a:p>
            <a:pPr marL="0" indent="0">
              <a:buNone/>
            </a:pPr>
            <a:r>
              <a:rPr lang="en-US" dirty="0" smtClean="0"/>
              <a:t>function Header()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&lt;header&gt;</a:t>
            </a:r>
          </a:p>
          <a:p>
            <a:pPr marL="0" indent="0">
              <a:buNone/>
            </a:pPr>
            <a:r>
              <a:rPr lang="en-US" dirty="0" smtClean="0"/>
              <a:t>      &lt;h1&gt;</a:t>
            </a:r>
            <a:r>
              <a:rPr lang="ru-RU" dirty="0" smtClean="0"/>
              <a:t>Мой проект&lt;/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    &lt;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&lt;a </a:t>
            </a:r>
            <a:r>
              <a:rPr lang="en-US" dirty="0" err="1" smtClean="0"/>
              <a:t>href</a:t>
            </a:r>
            <a:r>
              <a:rPr lang="en-US" dirty="0" smtClean="0"/>
              <a:t>="/"&gt;</a:t>
            </a:r>
            <a:r>
              <a:rPr lang="ru-RU" dirty="0" smtClean="0"/>
              <a:t>Главная&lt;/</a:t>
            </a:r>
            <a:r>
              <a:rPr lang="en-US" dirty="0" smtClean="0"/>
              <a:t>a&gt;</a:t>
            </a:r>
          </a:p>
          <a:p>
            <a:pPr marL="0" indent="0">
              <a:buNone/>
            </a:pPr>
            <a:r>
              <a:rPr lang="en-US" dirty="0" smtClean="0"/>
              <a:t>        &lt;a </a:t>
            </a:r>
            <a:r>
              <a:rPr lang="en-US" dirty="0" err="1" smtClean="0"/>
              <a:t>href</a:t>
            </a:r>
            <a:r>
              <a:rPr lang="en-US" dirty="0" smtClean="0"/>
              <a:t>="/about"&gt;</a:t>
            </a:r>
            <a:r>
              <a:rPr lang="ru-RU" dirty="0" smtClean="0"/>
              <a:t>О нас&lt;/</a:t>
            </a:r>
            <a:r>
              <a:rPr lang="en-US" dirty="0" smtClean="0"/>
              <a:t>a&gt;</a:t>
            </a:r>
          </a:p>
          <a:p>
            <a:pPr marL="0" indent="0">
              <a:buNone/>
            </a:pPr>
            <a:r>
              <a:rPr lang="en-US" dirty="0" smtClean="0"/>
              <a:t>    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&lt;/header&gt;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Header;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55375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Частые ошибки и как их избежать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smtClean="0"/>
              <a:t>Ошибка</a:t>
            </a:r>
            <a:r>
              <a:rPr lang="ru-RU" dirty="0" smtClean="0"/>
              <a:t>			Как правильно		Почему важно</a:t>
            </a:r>
          </a:p>
          <a:p>
            <a:pPr marL="0" indent="0">
              <a:buNone/>
            </a:pPr>
            <a:r>
              <a:rPr lang="ru-RU" dirty="0" smtClean="0"/>
              <a:t>Пишут </a:t>
            </a:r>
            <a:r>
              <a:rPr lang="ru-RU" b="1" dirty="0" err="1" smtClean="0"/>
              <a:t>header.hero</a:t>
            </a:r>
            <a:r>
              <a:rPr lang="ru-RU" dirty="0" smtClean="0"/>
              <a:t> вместо </a:t>
            </a:r>
            <a:r>
              <a:rPr lang="ru-RU" b="1" dirty="0" err="1" smtClean="0"/>
              <a:t>header</a:t>
            </a:r>
            <a:r>
              <a:rPr lang="ru-RU" b="1" dirty="0" smtClean="0"/>
              <a:t> .</a:t>
            </a:r>
            <a:r>
              <a:rPr lang="ru-RU" b="1" dirty="0" err="1" smtClean="0"/>
              <a:t>hero</a:t>
            </a:r>
            <a:r>
              <a:rPr lang="ru-RU" dirty="0" smtClean="0"/>
              <a:t>		Пробел меняет смысл селектора: вложенность </a:t>
            </a:r>
            <a:r>
              <a:rPr lang="ru-RU" dirty="0" err="1" smtClean="0"/>
              <a:t>vs</a:t>
            </a:r>
            <a:r>
              <a:rPr lang="ru-RU" dirty="0" smtClean="0"/>
              <a:t> один элемент с двумя классами</a:t>
            </a:r>
          </a:p>
          <a:p>
            <a:pPr marL="0" indent="0">
              <a:buNone/>
            </a:pPr>
            <a:r>
              <a:rPr lang="ru-RU" dirty="0" smtClean="0"/>
              <a:t>Делают </a:t>
            </a:r>
            <a:r>
              <a:rPr lang="ru-RU" b="1" dirty="0" smtClean="0"/>
              <a:t>a:hover</a:t>
            </a:r>
            <a:r>
              <a:rPr lang="ru-RU" dirty="0" smtClean="0"/>
              <a:t> без базового стиля </a:t>
            </a:r>
            <a:r>
              <a:rPr lang="ru-RU" b="1" dirty="0" smtClean="0"/>
              <a:t>a</a:t>
            </a:r>
            <a:r>
              <a:rPr lang="ru-RU" dirty="0" smtClean="0"/>
              <a:t>	Иначе при наведении может «прыгать» размер или появляться подчёркивание, которого не было</a:t>
            </a:r>
          </a:p>
          <a:p>
            <a:pPr marL="0" indent="0">
              <a:buNone/>
            </a:pPr>
            <a:r>
              <a:rPr lang="ru-RU" dirty="0" smtClean="0"/>
              <a:t>Забывают </a:t>
            </a:r>
            <a:r>
              <a:rPr lang="ru-RU" b="1" dirty="0" smtClean="0"/>
              <a:t>:</a:t>
            </a:r>
            <a:r>
              <a:rPr lang="ru-RU" b="1" dirty="0" err="1" smtClean="0"/>
              <a:t>focus</a:t>
            </a:r>
            <a:r>
              <a:rPr lang="ru-RU" b="1" dirty="0" smtClean="0"/>
              <a:t> у кнопок и ссылок</a:t>
            </a:r>
            <a:r>
              <a:rPr lang="ru-RU" dirty="0" smtClean="0"/>
              <a:t>		Доступность: пользователи с клавиатурой должны видеть, какой элемент активен</a:t>
            </a:r>
          </a:p>
          <a:p>
            <a:pPr marL="0" indent="0">
              <a:buNone/>
            </a:pPr>
            <a:r>
              <a:rPr lang="ru-RU" dirty="0" smtClean="0"/>
              <a:t>Используют </a:t>
            </a:r>
            <a:r>
              <a:rPr lang="ru-RU" b="1" dirty="0" smtClean="0"/>
              <a:t>слишком общие селекторы </a:t>
            </a:r>
            <a:r>
              <a:rPr lang="ru-RU" dirty="0" smtClean="0"/>
              <a:t>(например, </a:t>
            </a:r>
            <a:r>
              <a:rPr lang="ru-RU" dirty="0" err="1" smtClean="0"/>
              <a:t>section</a:t>
            </a:r>
            <a:r>
              <a:rPr lang="ru-RU" dirty="0" smtClean="0"/>
              <a:t>)	Добавлять классы: .</a:t>
            </a:r>
            <a:r>
              <a:rPr lang="ru-RU" dirty="0" err="1" smtClean="0"/>
              <a:t>hero-section</a:t>
            </a:r>
            <a:r>
              <a:rPr lang="ru-RU" dirty="0" smtClean="0"/>
              <a:t>, .</a:t>
            </a:r>
            <a:r>
              <a:rPr lang="ru-RU" dirty="0" err="1" smtClean="0"/>
              <a:t>contacts-section</a:t>
            </a:r>
            <a:r>
              <a:rPr lang="ru-RU" dirty="0" smtClean="0"/>
              <a:t>	Чтобы стили не «утекали» на другие секции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8715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Практическое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Создать компонент </a:t>
            </a:r>
            <a:r>
              <a:rPr lang="en-US" dirty="0" err="1" smtClean="0"/>
              <a:t>HeroSection</a:t>
            </a:r>
            <a:r>
              <a:rPr lang="en-US" dirty="0" smtClean="0"/>
              <a:t>: </a:t>
            </a:r>
            <a:r>
              <a:rPr lang="en-US" dirty="0" err="1" smtClean="0"/>
              <a:t>HeroSection.jsx</a:t>
            </a:r>
            <a:r>
              <a:rPr lang="en-US" dirty="0" smtClean="0"/>
              <a:t> + HeroSection.css.</a:t>
            </a:r>
          </a:p>
          <a:p>
            <a:r>
              <a:rPr lang="ru-RU" dirty="0" smtClean="0"/>
              <a:t>В </a:t>
            </a:r>
            <a:r>
              <a:rPr lang="en-US" dirty="0" smtClean="0"/>
              <a:t>JSX </a:t>
            </a:r>
            <a:r>
              <a:rPr lang="ru-RU" dirty="0" smtClean="0"/>
              <a:t>использовать семантику: &lt;</a:t>
            </a:r>
            <a:r>
              <a:rPr lang="en-US" dirty="0" smtClean="0"/>
              <a:t>section </a:t>
            </a:r>
            <a:r>
              <a:rPr lang="en-US" dirty="0" err="1" smtClean="0"/>
              <a:t>className</a:t>
            </a:r>
            <a:r>
              <a:rPr lang="en-US" dirty="0" smtClean="0"/>
              <a:t>="hero"&gt;, </a:t>
            </a:r>
            <a:r>
              <a:rPr lang="ru-RU" dirty="0" smtClean="0"/>
              <a:t>внутри &lt;</a:t>
            </a:r>
            <a:r>
              <a:rPr lang="en-US" dirty="0" smtClean="0"/>
              <a:t>h1&gt;, &lt;p&gt;, &lt;button&gt;.</a:t>
            </a:r>
          </a:p>
          <a:p>
            <a:r>
              <a:rPr lang="ru-RU" dirty="0" smtClean="0"/>
              <a:t>В </a:t>
            </a:r>
            <a:r>
              <a:rPr lang="en-US" dirty="0" smtClean="0"/>
              <a:t>CSS </a:t>
            </a:r>
            <a:r>
              <a:rPr lang="ru-RU" dirty="0" smtClean="0"/>
              <a:t>сделать:</a:t>
            </a:r>
          </a:p>
          <a:p>
            <a:r>
              <a:rPr lang="ru-RU" dirty="0" smtClean="0"/>
              <a:t>градиентный фон для .</a:t>
            </a:r>
            <a:r>
              <a:rPr lang="en-US" dirty="0" smtClean="0"/>
              <a:t>hero;</a:t>
            </a:r>
          </a:p>
          <a:p>
            <a:r>
              <a:rPr lang="ru-RU" dirty="0" smtClean="0"/>
              <a:t>центрирование через </a:t>
            </a:r>
            <a:r>
              <a:rPr lang="en-US" dirty="0" smtClean="0"/>
              <a:t>Flex: .hero { display: flex; flex-direction: column; align-items: center; justify-content: center; };</a:t>
            </a:r>
          </a:p>
          <a:p>
            <a:r>
              <a:rPr lang="en-US" dirty="0" smtClean="0"/>
              <a:t>:hover </a:t>
            </a:r>
            <a:r>
              <a:rPr lang="ru-RU" dirty="0" smtClean="0"/>
              <a:t>для кнопки (цвет + тень);</a:t>
            </a:r>
          </a:p>
          <a:p>
            <a:r>
              <a:rPr lang="ru-RU" dirty="0" smtClean="0"/>
              <a:t>:</a:t>
            </a:r>
            <a:r>
              <a:rPr lang="en-US" dirty="0" smtClean="0"/>
              <a:t>focus </a:t>
            </a:r>
            <a:r>
              <a:rPr lang="ru-RU" dirty="0" smtClean="0"/>
              <a:t>для кнопки (видимый контур).</a:t>
            </a:r>
          </a:p>
          <a:p>
            <a:r>
              <a:rPr lang="ru-RU" dirty="0" smtClean="0"/>
              <a:t>Проверить в </a:t>
            </a:r>
            <a:r>
              <a:rPr lang="en-US" dirty="0" err="1" smtClean="0"/>
              <a:t>DevTools</a:t>
            </a:r>
            <a:r>
              <a:rPr lang="en-US" dirty="0" smtClean="0"/>
              <a:t>: </a:t>
            </a:r>
            <a:r>
              <a:rPr lang="ru-RU" dirty="0" smtClean="0"/>
              <a:t>открыть вкладку </a:t>
            </a:r>
            <a:r>
              <a:rPr lang="en-US" dirty="0" smtClean="0"/>
              <a:t>Elements, </a:t>
            </a:r>
            <a:r>
              <a:rPr lang="ru-RU" dirty="0" smtClean="0"/>
              <a:t>навести на кнопку — убедиться, что :</a:t>
            </a:r>
            <a:r>
              <a:rPr lang="en-US" dirty="0" smtClean="0"/>
              <a:t>hover </a:t>
            </a:r>
            <a:r>
              <a:rPr lang="ru-RU" dirty="0" smtClean="0"/>
              <a:t>срабатывает; нажать </a:t>
            </a:r>
            <a:r>
              <a:rPr lang="en-US" dirty="0" smtClean="0"/>
              <a:t>Tab — </a:t>
            </a:r>
            <a:r>
              <a:rPr lang="ru-RU" dirty="0" smtClean="0"/>
              <a:t>убедиться, что :</a:t>
            </a:r>
            <a:r>
              <a:rPr lang="en-US" dirty="0" smtClean="0"/>
              <a:t>focus </a:t>
            </a:r>
            <a:r>
              <a:rPr lang="ru-RU" dirty="0" smtClean="0"/>
              <a:t>виден.</a:t>
            </a:r>
          </a:p>
          <a:p>
            <a:r>
              <a:rPr lang="ru-RU" dirty="0" smtClean="0"/>
              <a:t>Сделать </a:t>
            </a:r>
            <a:r>
              <a:rPr lang="ru-RU" dirty="0" err="1" smtClean="0"/>
              <a:t>коммит</a:t>
            </a:r>
            <a:r>
              <a:rPr lang="ru-RU" dirty="0" smtClean="0"/>
              <a:t> в </a:t>
            </a:r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ru-RU" dirty="0" smtClean="0"/>
              <a:t>с сообщением «</a:t>
            </a:r>
            <a:r>
              <a:rPr lang="en-US" dirty="0"/>
              <a:t>f</a:t>
            </a:r>
            <a:r>
              <a:rPr lang="en-US" dirty="0" smtClean="0"/>
              <a:t>eat: hero section with hover/focus and flex</a:t>
            </a:r>
            <a:r>
              <a:rPr lang="ru-RU" dirty="0" smtClean="0"/>
              <a:t>»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883378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Добавляем пропсы в семантические компоненты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Перепишем компоненты так, чтобы они принимали данные через пропсы.</a:t>
            </a:r>
          </a:p>
          <a:p>
            <a:pPr marL="0" indent="0">
              <a:buNone/>
            </a:pPr>
            <a:r>
              <a:rPr lang="en-US" dirty="0" err="1" smtClean="0"/>
              <a:t>Header.jsx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function Header({ </a:t>
            </a:r>
            <a:r>
              <a:rPr lang="en-US" dirty="0" err="1" smtClean="0"/>
              <a:t>siteName</a:t>
            </a:r>
            <a:r>
              <a:rPr lang="en-US" dirty="0" smtClean="0"/>
              <a:t>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&lt;header </a:t>
            </a:r>
            <a:r>
              <a:rPr lang="en-US" dirty="0" err="1" smtClean="0"/>
              <a:t>className</a:t>
            </a:r>
            <a:r>
              <a:rPr lang="en-US" dirty="0" smtClean="0"/>
              <a:t>="site-header"&gt;</a:t>
            </a:r>
          </a:p>
          <a:p>
            <a:pPr marL="0" indent="0">
              <a:buNone/>
            </a:pPr>
            <a:r>
              <a:rPr lang="en-US" dirty="0" smtClean="0"/>
              <a:t>      &lt;h1&gt;{</a:t>
            </a:r>
            <a:r>
              <a:rPr lang="en-US" dirty="0" err="1" smtClean="0"/>
              <a:t>siteName</a:t>
            </a:r>
            <a:r>
              <a:rPr lang="en-US" dirty="0" smtClean="0"/>
              <a:t>}&lt;/h1&gt;</a:t>
            </a:r>
          </a:p>
          <a:p>
            <a:pPr marL="0" indent="0">
              <a:buNone/>
            </a:pPr>
            <a:r>
              <a:rPr lang="en-US" dirty="0" smtClean="0"/>
              <a:t>    &lt;/header&gt;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Header;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72377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Nav.jsx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05345"/>
            <a:ext cx="10515600" cy="497161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Nav</a:t>
            </a:r>
            <a:r>
              <a:rPr lang="en-US" dirty="0" smtClean="0"/>
              <a:t>({ links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nav</a:t>
            </a:r>
            <a:r>
              <a:rPr lang="en-US" dirty="0" smtClean="0"/>
              <a:t> aria-label="</a:t>
            </a:r>
            <a:r>
              <a:rPr lang="ru-RU" dirty="0" smtClean="0"/>
              <a:t>Основное меню" </a:t>
            </a:r>
            <a:r>
              <a:rPr lang="en-US" dirty="0" err="1" smtClean="0"/>
              <a:t>className</a:t>
            </a:r>
            <a:r>
              <a:rPr lang="en-US" dirty="0" smtClean="0"/>
              <a:t>="site-</a:t>
            </a:r>
            <a:r>
              <a:rPr lang="en-US" dirty="0" err="1" smtClean="0"/>
              <a:t>nav</a:t>
            </a:r>
            <a:r>
              <a:rPr lang="en-US" dirty="0" smtClean="0"/>
              <a:t>"&gt;</a:t>
            </a:r>
          </a:p>
          <a:p>
            <a:pPr marL="0" indent="0">
              <a:buNone/>
            </a:pPr>
            <a:r>
              <a:rPr lang="en-US" dirty="0" smtClean="0"/>
              <a:t>      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  {</a:t>
            </a:r>
            <a:r>
              <a:rPr lang="en-US" dirty="0" err="1" smtClean="0"/>
              <a:t>links.map</a:t>
            </a:r>
            <a:r>
              <a:rPr lang="en-US" dirty="0" smtClean="0"/>
              <a:t>((link) =&gt; (</a:t>
            </a:r>
          </a:p>
          <a:p>
            <a:pPr marL="0" indent="0">
              <a:buNone/>
            </a:pPr>
            <a:r>
              <a:rPr lang="en-US" dirty="0" smtClean="0"/>
              <a:t>          &lt;li </a:t>
            </a:r>
            <a:r>
              <a:rPr lang="en-US" b="1" dirty="0" smtClean="0"/>
              <a:t>key</a:t>
            </a:r>
            <a:r>
              <a:rPr lang="en-US" dirty="0" smtClean="0"/>
              <a:t>={</a:t>
            </a:r>
            <a:r>
              <a:rPr lang="en-US" dirty="0" err="1" smtClean="0"/>
              <a:t>link.href</a:t>
            </a:r>
            <a:r>
              <a:rPr lang="en-US" dirty="0" smtClean="0"/>
              <a:t>}&gt;</a:t>
            </a:r>
          </a:p>
          <a:p>
            <a:pPr marL="0" indent="0">
              <a:buNone/>
            </a:pPr>
            <a:r>
              <a:rPr lang="en-US" dirty="0" smtClean="0"/>
              <a:t>            &lt;a </a:t>
            </a:r>
            <a:r>
              <a:rPr lang="en-US" dirty="0" err="1" smtClean="0"/>
              <a:t>href</a:t>
            </a:r>
            <a:r>
              <a:rPr lang="en-US" dirty="0" smtClean="0"/>
              <a:t>={</a:t>
            </a:r>
            <a:r>
              <a:rPr lang="en-US" dirty="0" err="1" smtClean="0"/>
              <a:t>link.href</a:t>
            </a:r>
            <a:r>
              <a:rPr lang="en-US" dirty="0" smtClean="0"/>
              <a:t>}&gt;{</a:t>
            </a:r>
            <a:r>
              <a:rPr lang="en-US" dirty="0" err="1" smtClean="0"/>
              <a:t>link.text</a:t>
            </a:r>
            <a:r>
              <a:rPr lang="en-US" dirty="0" smtClean="0"/>
              <a:t>}&lt;/a&gt;</a:t>
            </a:r>
          </a:p>
          <a:p>
            <a:pPr marL="0" indent="0">
              <a:buNone/>
            </a:pPr>
            <a:r>
              <a:rPr lang="en-US" dirty="0" smtClean="0"/>
              <a:t>          &lt;/li&gt;</a:t>
            </a:r>
          </a:p>
          <a:p>
            <a:pPr marL="0" indent="0">
              <a:buNone/>
            </a:pPr>
            <a:r>
              <a:rPr lang="en-US" dirty="0" smtClean="0"/>
              <a:t>        ))}</a:t>
            </a:r>
          </a:p>
          <a:p>
            <a:pPr marL="0" indent="0">
              <a:buNone/>
            </a:pPr>
            <a:r>
              <a:rPr lang="en-US" dirty="0" smtClean="0"/>
              <a:t>     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Nav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157293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MainContent.jsx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MainContent</a:t>
            </a:r>
            <a:r>
              <a:rPr lang="en-US" dirty="0" smtClean="0"/>
              <a:t>({ title, text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&lt;main </a:t>
            </a:r>
            <a:r>
              <a:rPr lang="en-US" dirty="0" err="1" smtClean="0"/>
              <a:t>className</a:t>
            </a:r>
            <a:r>
              <a:rPr lang="en-US" dirty="0" smtClean="0"/>
              <a:t>="page-main"&gt;</a:t>
            </a:r>
          </a:p>
          <a:p>
            <a:pPr marL="0" indent="0">
              <a:buNone/>
            </a:pPr>
            <a:r>
              <a:rPr lang="en-US" dirty="0" smtClean="0"/>
              <a:t>      &lt;article </a:t>
            </a:r>
            <a:r>
              <a:rPr lang="en-US" dirty="0" err="1" smtClean="0"/>
              <a:t>className</a:t>
            </a:r>
            <a:r>
              <a:rPr lang="en-US" dirty="0" smtClean="0"/>
              <a:t>="post-card"&gt;</a:t>
            </a:r>
          </a:p>
          <a:p>
            <a:pPr marL="0" indent="0">
              <a:buNone/>
            </a:pPr>
            <a:r>
              <a:rPr lang="en-US" dirty="0" smtClean="0"/>
              <a:t>        &lt;h2&gt;{title}&lt;/h2&gt;</a:t>
            </a:r>
          </a:p>
          <a:p>
            <a:pPr marL="0" indent="0">
              <a:buNone/>
            </a:pPr>
            <a:r>
              <a:rPr lang="en-US" dirty="0" smtClean="0"/>
              <a:t>        &lt;p&gt;{text}&lt;/p&gt;</a:t>
            </a:r>
          </a:p>
          <a:p>
            <a:pPr marL="0" indent="0">
              <a:buNone/>
            </a:pPr>
            <a:r>
              <a:rPr lang="en-US" dirty="0" smtClean="0"/>
              <a:t>      &lt;/article&gt;</a:t>
            </a:r>
          </a:p>
          <a:p>
            <a:pPr marL="0" indent="0">
              <a:buNone/>
            </a:pPr>
            <a:r>
              <a:rPr lang="en-US" dirty="0" smtClean="0"/>
              <a:t>    &lt;/main&gt;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MainContent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5797127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Footer.jsx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function Footer({ </a:t>
            </a:r>
            <a:r>
              <a:rPr lang="en-US" dirty="0" err="1" smtClean="0"/>
              <a:t>copyrightYear</a:t>
            </a:r>
            <a:r>
              <a:rPr lang="en-US" dirty="0" smtClean="0"/>
              <a:t>, </a:t>
            </a:r>
            <a:r>
              <a:rPr lang="en-US" dirty="0" err="1" smtClean="0"/>
              <a:t>companyName</a:t>
            </a:r>
            <a:r>
              <a:rPr lang="en-US" dirty="0" smtClean="0"/>
              <a:t>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&lt;footer </a:t>
            </a:r>
            <a:r>
              <a:rPr lang="en-US" dirty="0" err="1" smtClean="0"/>
              <a:t>className</a:t>
            </a:r>
            <a:r>
              <a:rPr lang="en-US" dirty="0" smtClean="0"/>
              <a:t>="site-footer"&gt;</a:t>
            </a:r>
          </a:p>
          <a:p>
            <a:pPr marL="0" indent="0">
              <a:buNone/>
            </a:pPr>
            <a:r>
              <a:rPr lang="en-US" dirty="0" smtClean="0"/>
              <a:t>      &lt;p&gt;© {</a:t>
            </a:r>
            <a:r>
              <a:rPr lang="en-US" dirty="0" err="1" smtClean="0"/>
              <a:t>copyrightYear</a:t>
            </a:r>
            <a:r>
              <a:rPr lang="en-US" dirty="0" smtClean="0"/>
              <a:t>} {</a:t>
            </a:r>
            <a:r>
              <a:rPr lang="en-US" dirty="0" err="1" smtClean="0"/>
              <a:t>companyName</a:t>
            </a:r>
            <a:r>
              <a:rPr lang="en-US" dirty="0" smtClean="0"/>
              <a:t>}&lt;/p&gt;</a:t>
            </a:r>
          </a:p>
          <a:p>
            <a:pPr marL="0" indent="0">
              <a:buNone/>
            </a:pPr>
            <a:r>
              <a:rPr lang="en-US" dirty="0" smtClean="0"/>
              <a:t>    &lt;/footer&gt;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Footer;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965887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Передаём пропсы из </a:t>
            </a:r>
            <a:r>
              <a:rPr lang="en-US" dirty="0" smtClean="0"/>
              <a:t>App()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4072" y="1209159"/>
            <a:ext cx="6580910" cy="546123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800" b="1" dirty="0" smtClean="0"/>
              <a:t>Теперь в </a:t>
            </a:r>
            <a:r>
              <a:rPr lang="en-US" sz="1800" b="1" dirty="0" err="1" smtClean="0"/>
              <a:t>App.jsx</a:t>
            </a:r>
            <a:r>
              <a:rPr lang="en-US" sz="1800" b="1" dirty="0" smtClean="0"/>
              <a:t> </a:t>
            </a:r>
            <a:r>
              <a:rPr lang="ru-RU" sz="1800" b="1" dirty="0" smtClean="0"/>
              <a:t>мы готовим данные и передаём их в компоненты.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800" b="1" dirty="0" smtClean="0"/>
              <a:t>Обратите внимание: семантические теги по‑прежнему живут внутри компонентов, а </a:t>
            </a:r>
            <a:r>
              <a:rPr lang="en-US" sz="1800" b="1" dirty="0" smtClean="0"/>
              <a:t>App </a:t>
            </a:r>
            <a:r>
              <a:rPr lang="ru-RU" sz="1800" b="1" dirty="0" smtClean="0"/>
              <a:t>только управляет данными.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import Header from './Header';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import </a:t>
            </a:r>
            <a:r>
              <a:rPr lang="en-US" sz="1800" b="1" dirty="0" err="1" smtClean="0"/>
              <a:t>Nav</a:t>
            </a:r>
            <a:r>
              <a:rPr lang="en-US" sz="1800" b="1" dirty="0" smtClean="0"/>
              <a:t> from './</a:t>
            </a:r>
            <a:r>
              <a:rPr lang="en-US" sz="1800" b="1" dirty="0" err="1" smtClean="0"/>
              <a:t>Nav</a:t>
            </a:r>
            <a:r>
              <a:rPr lang="en-US" sz="1800" b="1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import </a:t>
            </a:r>
            <a:r>
              <a:rPr lang="en-US" sz="1800" b="1" dirty="0" err="1" smtClean="0"/>
              <a:t>MainContent</a:t>
            </a:r>
            <a:r>
              <a:rPr lang="en-US" sz="1800" b="1" dirty="0" smtClean="0"/>
              <a:t> from './</a:t>
            </a:r>
            <a:r>
              <a:rPr lang="en-US" sz="1800" b="1" dirty="0" err="1" smtClean="0"/>
              <a:t>MainContent</a:t>
            </a:r>
            <a:r>
              <a:rPr lang="en-US" sz="1800" b="1" dirty="0" smtClean="0"/>
              <a:t>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import Footer from './Footer';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function App()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  </a:t>
            </a:r>
            <a:r>
              <a:rPr lang="en-US" sz="1800" b="1" dirty="0" err="1" smtClean="0"/>
              <a:t>const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siteName</a:t>
            </a:r>
            <a:r>
              <a:rPr lang="en-US" sz="1800" b="1" dirty="0" smtClean="0"/>
              <a:t> = '</a:t>
            </a:r>
            <a:r>
              <a:rPr lang="ru-RU" sz="1800" b="1" dirty="0" smtClean="0"/>
              <a:t>Мой сайт';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800" b="1" dirty="0" smtClean="0"/>
              <a:t>  </a:t>
            </a:r>
            <a:r>
              <a:rPr lang="en-US" sz="1800" b="1" dirty="0" err="1" smtClean="0"/>
              <a:t>const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navLinks</a:t>
            </a:r>
            <a:r>
              <a:rPr lang="en-US" sz="1800" b="1" dirty="0" smtClean="0"/>
              <a:t> = [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 smtClean="0"/>
              <a:t>    { </a:t>
            </a:r>
            <a:r>
              <a:rPr lang="en-US" sz="1800" b="1" dirty="0" err="1" smtClean="0"/>
              <a:t>href</a:t>
            </a:r>
            <a:r>
              <a:rPr lang="en-US" sz="1800" b="1" dirty="0" smtClean="0"/>
              <a:t>: '/', text: '</a:t>
            </a:r>
            <a:r>
              <a:rPr lang="ru-RU" sz="1800" b="1" dirty="0" smtClean="0"/>
              <a:t>Главная' },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800" b="1" dirty="0" smtClean="0"/>
              <a:t>    { </a:t>
            </a:r>
            <a:r>
              <a:rPr lang="en-US" sz="1800" b="1" dirty="0" err="1" smtClean="0"/>
              <a:t>href</a:t>
            </a:r>
            <a:r>
              <a:rPr lang="en-US" sz="1800" b="1" dirty="0" smtClean="0"/>
              <a:t>: '/about', text: '</a:t>
            </a:r>
            <a:r>
              <a:rPr lang="ru-RU" sz="1800" b="1" dirty="0" smtClean="0"/>
              <a:t>О нас' },  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800" b="1" dirty="0" smtClean="0"/>
              <a:t> </a:t>
            </a:r>
            <a:endParaRPr lang="ru-RU"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426036" y="1260762"/>
            <a:ext cx="382385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 smtClean="0"/>
              <a:t> </a:t>
            </a:r>
            <a:r>
              <a:rPr lang="en-US" b="1" dirty="0" smtClean="0"/>
              <a:t>const </a:t>
            </a:r>
            <a:r>
              <a:rPr lang="en-US" b="1" dirty="0" err="1" smtClean="0"/>
              <a:t>postTitle</a:t>
            </a:r>
            <a:r>
              <a:rPr lang="en-US" b="1" dirty="0" smtClean="0"/>
              <a:t> = '</a:t>
            </a:r>
            <a:r>
              <a:rPr lang="ru-RU" b="1" dirty="0" smtClean="0"/>
              <a:t>Первая статья';</a:t>
            </a:r>
          </a:p>
          <a:p>
            <a:pPr>
              <a:spcBef>
                <a:spcPts val="600"/>
              </a:spcBef>
            </a:pPr>
            <a:r>
              <a:rPr lang="ru-RU" b="1" dirty="0" smtClean="0"/>
              <a:t>  </a:t>
            </a:r>
            <a:r>
              <a:rPr lang="en-US" b="1" dirty="0" smtClean="0"/>
              <a:t>const </a:t>
            </a:r>
            <a:r>
              <a:rPr lang="en-US" b="1" dirty="0" err="1" smtClean="0"/>
              <a:t>postText</a:t>
            </a:r>
            <a:r>
              <a:rPr lang="en-US" b="1" dirty="0" smtClean="0"/>
              <a:t> = '</a:t>
            </a:r>
            <a:r>
              <a:rPr lang="ru-RU" b="1" dirty="0" smtClean="0"/>
              <a:t>Текст статьи, который пришёл из пропсов.';</a:t>
            </a:r>
          </a:p>
          <a:p>
            <a:pPr>
              <a:spcBef>
                <a:spcPts val="600"/>
              </a:spcBef>
            </a:pPr>
            <a:r>
              <a:rPr lang="ru-RU" b="1" dirty="0" smtClean="0"/>
              <a:t>  </a:t>
            </a:r>
            <a:r>
              <a:rPr lang="en-US" b="1" dirty="0" smtClean="0"/>
              <a:t>return (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    &lt;div </a:t>
            </a:r>
            <a:r>
              <a:rPr lang="en-US" b="1" dirty="0" err="1" smtClean="0"/>
              <a:t>className</a:t>
            </a:r>
            <a:r>
              <a:rPr lang="en-US" b="1" dirty="0" smtClean="0"/>
              <a:t>="App"&gt;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      &lt;Header </a:t>
            </a:r>
            <a:r>
              <a:rPr lang="en-US" b="1" dirty="0" err="1" smtClean="0"/>
              <a:t>siteName</a:t>
            </a:r>
            <a:r>
              <a:rPr lang="en-US" b="1" dirty="0" smtClean="0"/>
              <a:t>={</a:t>
            </a:r>
            <a:r>
              <a:rPr lang="en-US" b="1" dirty="0" err="1" smtClean="0"/>
              <a:t>siteName</a:t>
            </a:r>
            <a:r>
              <a:rPr lang="en-US" b="1" dirty="0" smtClean="0"/>
              <a:t>} /&gt;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      &lt;</a:t>
            </a:r>
            <a:r>
              <a:rPr lang="en-US" b="1" dirty="0" err="1" smtClean="0"/>
              <a:t>Nav</a:t>
            </a:r>
            <a:r>
              <a:rPr lang="en-US" b="1" dirty="0" smtClean="0"/>
              <a:t> links={</a:t>
            </a:r>
            <a:r>
              <a:rPr lang="en-US" b="1" dirty="0" err="1" smtClean="0"/>
              <a:t>navLinks</a:t>
            </a:r>
            <a:r>
              <a:rPr lang="en-US" b="1" dirty="0" smtClean="0"/>
              <a:t>} /&gt;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      &lt;</a:t>
            </a:r>
            <a:r>
              <a:rPr lang="en-US" b="1" dirty="0" err="1" smtClean="0"/>
              <a:t>MainContent</a:t>
            </a:r>
            <a:r>
              <a:rPr lang="en-US" b="1" dirty="0" smtClean="0"/>
              <a:t> title={</a:t>
            </a:r>
            <a:r>
              <a:rPr lang="en-US" b="1" dirty="0" err="1" smtClean="0"/>
              <a:t>postTitle</a:t>
            </a:r>
            <a:r>
              <a:rPr lang="en-US" b="1" dirty="0" smtClean="0"/>
              <a:t>} text={</a:t>
            </a:r>
            <a:r>
              <a:rPr lang="en-US" b="1" dirty="0" err="1" smtClean="0"/>
              <a:t>postText</a:t>
            </a:r>
            <a:r>
              <a:rPr lang="en-US" b="1" dirty="0" smtClean="0"/>
              <a:t>} /&gt;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      &lt;Footer </a:t>
            </a:r>
            <a:r>
              <a:rPr lang="en-US" b="1" dirty="0" err="1" smtClean="0"/>
              <a:t>copyrightYear</a:t>
            </a:r>
            <a:r>
              <a:rPr lang="en-US" b="1" dirty="0" smtClean="0"/>
              <a:t>={2024} </a:t>
            </a:r>
            <a:r>
              <a:rPr lang="en-US" b="1" dirty="0" err="1" smtClean="0"/>
              <a:t>companyName</a:t>
            </a:r>
            <a:r>
              <a:rPr lang="en-US" b="1" dirty="0" smtClean="0"/>
              <a:t>="</a:t>
            </a:r>
            <a:r>
              <a:rPr lang="ru-RU" b="1" dirty="0" smtClean="0"/>
              <a:t>Моя компания" /&gt;</a:t>
            </a:r>
          </a:p>
          <a:p>
            <a:pPr>
              <a:spcBef>
                <a:spcPts val="600"/>
              </a:spcBef>
            </a:pPr>
            <a:r>
              <a:rPr lang="ru-RU" b="1" dirty="0" smtClean="0"/>
              <a:t>    &lt;/</a:t>
            </a:r>
            <a:r>
              <a:rPr lang="en-US" b="1" dirty="0" smtClean="0"/>
              <a:t>div&gt;  );}</a:t>
            </a:r>
          </a:p>
          <a:p>
            <a:pPr>
              <a:spcBef>
                <a:spcPts val="600"/>
              </a:spcBef>
            </a:pPr>
            <a:r>
              <a:rPr lang="en-US" b="1" dirty="0" smtClean="0"/>
              <a:t>export default App;</a:t>
            </a:r>
            <a:endParaRPr lang="ru-RU" b="1" dirty="0"/>
          </a:p>
        </p:txBody>
      </p:sp>
      <p:sp>
        <p:nvSpPr>
          <p:cNvPr id="5" name="Стрелка вправо 4"/>
          <p:cNvSpPr/>
          <p:nvPr/>
        </p:nvSpPr>
        <p:spPr>
          <a:xfrm>
            <a:off x="5486400" y="2937164"/>
            <a:ext cx="1025236" cy="2770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79962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Что происходит «под капотом»</a:t>
            </a:r>
            <a:br>
              <a:rPr lang="ru-RU" dirty="0" smtClean="0"/>
            </a:br>
            <a:r>
              <a:rPr lang="ru-RU" dirty="0" smtClean="0"/>
              <a:t>Когда </a:t>
            </a:r>
            <a:r>
              <a:rPr lang="en-US" dirty="0" smtClean="0"/>
              <a:t>React </a:t>
            </a:r>
            <a:r>
              <a:rPr lang="ru-RU" dirty="0" err="1" smtClean="0"/>
              <a:t>рендерит</a:t>
            </a:r>
            <a:r>
              <a:rPr lang="ru-RU" dirty="0" smtClean="0"/>
              <a:t> </a:t>
            </a:r>
            <a:r>
              <a:rPr lang="en-US" dirty="0" smtClean="0"/>
              <a:t>App</a:t>
            </a:r>
            <a:r>
              <a:rPr lang="ru-RU" dirty="0" smtClean="0"/>
              <a:t>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82436"/>
            <a:ext cx="10515600" cy="469452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/>
              <a:t>Берёт данные из </a:t>
            </a:r>
            <a:r>
              <a:rPr lang="en-US" dirty="0" smtClean="0"/>
              <a:t>App (</a:t>
            </a:r>
            <a:r>
              <a:rPr lang="ru-RU" dirty="0" smtClean="0"/>
              <a:t>переменные </a:t>
            </a:r>
            <a:r>
              <a:rPr lang="en-US" dirty="0" err="1" smtClean="0"/>
              <a:t>siteName</a:t>
            </a:r>
            <a:r>
              <a:rPr lang="en-US" dirty="0" smtClean="0"/>
              <a:t>, </a:t>
            </a:r>
            <a:r>
              <a:rPr lang="en-US" dirty="0" err="1" smtClean="0"/>
              <a:t>navLinks</a:t>
            </a:r>
            <a:r>
              <a:rPr lang="en-US" dirty="0" smtClean="0"/>
              <a:t> </a:t>
            </a:r>
            <a:r>
              <a:rPr lang="ru-RU" dirty="0" smtClean="0"/>
              <a:t>и т. д.).</a:t>
            </a:r>
          </a:p>
          <a:p>
            <a:pPr marL="0" indent="0">
              <a:buNone/>
            </a:pPr>
            <a:r>
              <a:rPr lang="ru-RU" dirty="0" smtClean="0"/>
              <a:t>Передаёт их в дочерние компоненты через пропсы.</a:t>
            </a:r>
          </a:p>
          <a:p>
            <a:pPr marL="0" indent="0">
              <a:buNone/>
            </a:pPr>
            <a:r>
              <a:rPr lang="ru-RU" dirty="0" smtClean="0"/>
              <a:t>Внутри каждого компонента пропсы подставляются в семантические теги.</a:t>
            </a:r>
          </a:p>
          <a:p>
            <a:pPr marL="0" indent="0">
              <a:buNone/>
            </a:pPr>
            <a:r>
              <a:rPr lang="ru-RU" dirty="0" smtClean="0"/>
              <a:t>В итоге в </a:t>
            </a:r>
            <a:r>
              <a:rPr lang="en-US" dirty="0" smtClean="0"/>
              <a:t>DOM </a:t>
            </a:r>
            <a:r>
              <a:rPr lang="ru-RU" dirty="0" smtClean="0"/>
              <a:t>попадает такая разметка:</a:t>
            </a:r>
          </a:p>
          <a:p>
            <a:pPr marL="0" indent="0">
              <a:buNone/>
            </a:pPr>
            <a:r>
              <a:rPr lang="en-US" dirty="0" smtClean="0"/>
              <a:t>&lt;div class="App"&gt;</a:t>
            </a:r>
          </a:p>
          <a:p>
            <a:pPr marL="0" indent="0">
              <a:buNone/>
            </a:pPr>
            <a:r>
              <a:rPr lang="en-US" dirty="0" smtClean="0"/>
              <a:t>  &lt;header class="site-header"&gt;</a:t>
            </a:r>
          </a:p>
          <a:p>
            <a:pPr marL="0" indent="0">
              <a:buNone/>
            </a:pPr>
            <a:r>
              <a:rPr lang="en-US" dirty="0" smtClean="0"/>
              <a:t>    &lt;h1&gt;</a:t>
            </a:r>
            <a:r>
              <a:rPr lang="ru-RU" dirty="0" smtClean="0"/>
              <a:t>Мой сайт&lt;/</a:t>
            </a:r>
            <a:r>
              <a:rPr lang="en-US" dirty="0" smtClean="0"/>
              <a:t>h1&gt;</a:t>
            </a:r>
          </a:p>
          <a:p>
            <a:pPr marL="0" indent="0">
              <a:buNone/>
            </a:pPr>
            <a:r>
              <a:rPr lang="en-US" dirty="0" smtClean="0"/>
              <a:t>  &lt;/header&gt;</a:t>
            </a:r>
          </a:p>
          <a:p>
            <a:pPr marL="0" indent="0">
              <a:buNone/>
            </a:pPr>
            <a:r>
              <a:rPr lang="en-US" dirty="0" smtClean="0"/>
              <a:t>  &lt;</a:t>
            </a:r>
            <a:r>
              <a:rPr lang="en-US" dirty="0" err="1" smtClean="0"/>
              <a:t>nav</a:t>
            </a:r>
            <a:r>
              <a:rPr lang="en-US" dirty="0" smtClean="0"/>
              <a:t> aria-label="</a:t>
            </a:r>
            <a:r>
              <a:rPr lang="ru-RU" dirty="0" smtClean="0"/>
              <a:t>Основное меню" </a:t>
            </a:r>
            <a:r>
              <a:rPr lang="en-US" dirty="0" smtClean="0"/>
              <a:t>class="site-</a:t>
            </a:r>
            <a:r>
              <a:rPr lang="en-US" dirty="0" err="1" smtClean="0"/>
              <a:t>nav</a:t>
            </a:r>
            <a:r>
              <a:rPr lang="en-US" dirty="0" smtClean="0"/>
              <a:t>"&gt;</a:t>
            </a:r>
          </a:p>
          <a:p>
            <a:pPr marL="0" indent="0"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  &lt;li&gt;&lt;a </a:t>
            </a:r>
            <a:r>
              <a:rPr lang="en-US" dirty="0" err="1" smtClean="0"/>
              <a:t>href</a:t>
            </a:r>
            <a:r>
              <a:rPr lang="en-US" dirty="0" smtClean="0"/>
              <a:t>="/"&gt;</a:t>
            </a:r>
            <a:r>
              <a:rPr lang="ru-RU" dirty="0" smtClean="0"/>
              <a:t>Главная&lt;/</a:t>
            </a:r>
            <a:r>
              <a:rPr lang="en-US" dirty="0" smtClean="0"/>
              <a:t>a&gt;&lt;/li&gt;</a:t>
            </a:r>
          </a:p>
          <a:p>
            <a:pPr marL="0" indent="0">
              <a:buNone/>
            </a:pPr>
            <a:r>
              <a:rPr lang="en-US" dirty="0" smtClean="0"/>
              <a:t>      &lt;li&gt;&lt;a </a:t>
            </a:r>
            <a:r>
              <a:rPr lang="en-US" dirty="0" err="1" smtClean="0"/>
              <a:t>href</a:t>
            </a:r>
            <a:r>
              <a:rPr lang="en-US" dirty="0" smtClean="0"/>
              <a:t>="/about"&gt;</a:t>
            </a:r>
            <a:r>
              <a:rPr lang="ru-RU" dirty="0" smtClean="0"/>
              <a:t>О нас&lt;/</a:t>
            </a:r>
            <a:r>
              <a:rPr lang="en-US" dirty="0" smtClean="0"/>
              <a:t>a&gt;&lt;/li&gt;</a:t>
            </a:r>
          </a:p>
          <a:p>
            <a:pPr marL="0" indent="0">
              <a:buNone/>
            </a:pPr>
            <a:r>
              <a:rPr lang="en-US" dirty="0" smtClean="0"/>
              <a:t>   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&lt;/</a:t>
            </a:r>
            <a:r>
              <a:rPr lang="en-US" dirty="0" err="1" smtClean="0"/>
              <a:t>nav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342274" y="1644370"/>
            <a:ext cx="42112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&lt;main class="page-main"&gt;</a:t>
            </a:r>
          </a:p>
          <a:p>
            <a:r>
              <a:rPr lang="en-US" dirty="0" smtClean="0"/>
              <a:t>    &lt;article class="post-card"&gt;</a:t>
            </a:r>
          </a:p>
          <a:p>
            <a:r>
              <a:rPr lang="en-US" dirty="0" smtClean="0"/>
              <a:t>      &lt;h2&gt;</a:t>
            </a:r>
            <a:r>
              <a:rPr lang="ru-RU" dirty="0" smtClean="0"/>
              <a:t>Первая статья&lt;/</a:t>
            </a:r>
            <a:r>
              <a:rPr lang="en-US" dirty="0" smtClean="0"/>
              <a:t>h2&gt;</a:t>
            </a:r>
          </a:p>
          <a:p>
            <a:r>
              <a:rPr lang="en-US" dirty="0" smtClean="0"/>
              <a:t>      &lt;p&gt;</a:t>
            </a:r>
            <a:r>
              <a:rPr lang="ru-RU" dirty="0" smtClean="0"/>
              <a:t>Текст статьи, который пришёл из пропсов.&lt;/</a:t>
            </a:r>
            <a:r>
              <a:rPr lang="en-US" dirty="0" smtClean="0"/>
              <a:t>p&gt;</a:t>
            </a:r>
          </a:p>
          <a:p>
            <a:r>
              <a:rPr lang="en-US" dirty="0" smtClean="0"/>
              <a:t>    &lt;/article&gt;</a:t>
            </a:r>
          </a:p>
          <a:p>
            <a:r>
              <a:rPr lang="en-US" dirty="0" smtClean="0"/>
              <a:t>  &lt;/main&gt;</a:t>
            </a:r>
          </a:p>
          <a:p>
            <a:r>
              <a:rPr lang="en-US" dirty="0" smtClean="0"/>
              <a:t>  &lt;footer class="site-footer"&gt;</a:t>
            </a:r>
          </a:p>
          <a:p>
            <a:r>
              <a:rPr lang="en-US" dirty="0" smtClean="0"/>
              <a:t>    &lt;p&gt;© 2024 </a:t>
            </a:r>
            <a:r>
              <a:rPr lang="ru-RU" dirty="0" smtClean="0"/>
              <a:t>Моя компания&lt;/</a:t>
            </a:r>
            <a:r>
              <a:rPr lang="en-US" dirty="0" smtClean="0"/>
              <a:t>p&gt;</a:t>
            </a:r>
          </a:p>
          <a:p>
            <a:r>
              <a:rPr lang="en-US" dirty="0" smtClean="0"/>
              <a:t>  &lt;/footer&gt;</a:t>
            </a:r>
          </a:p>
          <a:p>
            <a:r>
              <a:rPr lang="en-US" dirty="0" smtClean="0"/>
              <a:t>&lt;/div&gt;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611981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Важные нюансы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Пропсы — только «сверху вниз». Данные идут от родителя к ребёнку, но не наоборот. Если нужно «сообщить наверх», используют </a:t>
            </a:r>
            <a:r>
              <a:rPr lang="ru-RU" dirty="0" err="1" smtClean="0"/>
              <a:t>колбэки</a:t>
            </a:r>
            <a:r>
              <a:rPr lang="ru-RU" dirty="0" smtClean="0"/>
              <a:t> (функции в пропсах).</a:t>
            </a:r>
          </a:p>
          <a:p>
            <a:r>
              <a:rPr lang="ru-RU" dirty="0" smtClean="0"/>
              <a:t>Не мутируйте пропсы. Дочерний компонент не должен менять полученные данные. Если нужно состояние — используйте </a:t>
            </a:r>
            <a:r>
              <a:rPr lang="ru-RU" dirty="0" err="1" smtClean="0"/>
              <a:t>useState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Деструктуризация пропсов. В компонентах удобно сразу «распаковывать» пропсы: </a:t>
            </a:r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Header</a:t>
            </a:r>
            <a:r>
              <a:rPr lang="ru-RU" dirty="0" smtClean="0"/>
              <a:t>({ </a:t>
            </a:r>
            <a:r>
              <a:rPr lang="ru-RU" dirty="0" err="1" smtClean="0"/>
              <a:t>siteName</a:t>
            </a:r>
            <a:r>
              <a:rPr lang="ru-RU" dirty="0" smtClean="0"/>
              <a:t> }) вместо </a:t>
            </a:r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Header</a:t>
            </a:r>
            <a:r>
              <a:rPr lang="ru-RU" dirty="0" smtClean="0"/>
              <a:t>(</a:t>
            </a:r>
            <a:r>
              <a:rPr lang="ru-RU" dirty="0" err="1" smtClean="0"/>
              <a:t>props</a:t>
            </a:r>
            <a:r>
              <a:rPr lang="ru-RU" dirty="0" smtClean="0"/>
              <a:t>) и потом </a:t>
            </a:r>
            <a:r>
              <a:rPr lang="ru-RU" dirty="0" err="1" smtClean="0"/>
              <a:t>props.siteName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Пропсы и семантика не конфликтуют. Семантические теги остаются для структуры и доступности, пропсы — для передачи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81766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Практическое задание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Добавить динамические ссылки в </a:t>
            </a:r>
            <a:r>
              <a:rPr lang="ru-RU" dirty="0" err="1" smtClean="0"/>
              <a:t>navLinks</a:t>
            </a:r>
            <a:r>
              <a:rPr lang="ru-RU" dirty="0" smtClean="0"/>
              <a:t> ещё 2–3 ссылки и убедиться, что они появляются в меню без изменения компонента </a:t>
            </a:r>
            <a:r>
              <a:rPr lang="ru-RU" dirty="0" err="1" smtClean="0"/>
              <a:t>Nav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Сделать несколько статей. Изменить </a:t>
            </a:r>
            <a:r>
              <a:rPr lang="ru-RU" dirty="0" err="1" smtClean="0"/>
              <a:t>MainContent</a:t>
            </a:r>
            <a:r>
              <a:rPr lang="ru-RU" dirty="0" smtClean="0"/>
              <a:t>, чтобы он принимал массив статей и </a:t>
            </a:r>
            <a:r>
              <a:rPr lang="ru-RU" dirty="0" err="1" smtClean="0"/>
              <a:t>рендерил</a:t>
            </a:r>
            <a:r>
              <a:rPr lang="ru-RU" dirty="0" smtClean="0"/>
              <a:t> несколько &lt;</a:t>
            </a:r>
            <a:r>
              <a:rPr lang="ru-RU" dirty="0" err="1" smtClean="0"/>
              <a:t>article</a:t>
            </a:r>
            <a:r>
              <a:rPr lang="ru-RU" dirty="0" smtClean="0"/>
              <a:t>&gt; через .</a:t>
            </a:r>
            <a:r>
              <a:rPr lang="ru-RU" dirty="0" err="1" smtClean="0"/>
              <a:t>map</a:t>
            </a:r>
            <a:r>
              <a:rPr lang="ru-RU" dirty="0" smtClean="0"/>
              <a:t>().</a:t>
            </a:r>
          </a:p>
          <a:p>
            <a:r>
              <a:rPr lang="ru-RU" dirty="0" smtClean="0"/>
              <a:t>Передать логотип. </a:t>
            </a:r>
            <a:r>
              <a:rPr lang="ru-RU" dirty="0" err="1" smtClean="0"/>
              <a:t>Добавьть</a:t>
            </a:r>
            <a:r>
              <a:rPr lang="ru-RU" dirty="0" smtClean="0"/>
              <a:t> в </a:t>
            </a:r>
            <a:r>
              <a:rPr lang="ru-RU" dirty="0" err="1" smtClean="0"/>
              <a:t>Header</a:t>
            </a:r>
            <a:r>
              <a:rPr lang="ru-RU" dirty="0" smtClean="0"/>
              <a:t> пропс </a:t>
            </a:r>
            <a:r>
              <a:rPr lang="ru-RU" dirty="0" err="1" smtClean="0"/>
              <a:t>logoSrc</a:t>
            </a:r>
            <a:r>
              <a:rPr lang="ru-RU" dirty="0" smtClean="0"/>
              <a:t> (URL картинки) и выведите его внутри &lt;</a:t>
            </a:r>
            <a:r>
              <a:rPr lang="ru-RU" dirty="0" err="1" smtClean="0"/>
              <a:t>header</a:t>
            </a:r>
            <a:r>
              <a:rPr lang="ru-RU" dirty="0" smtClean="0"/>
              <a:t>&gt;.</a:t>
            </a:r>
          </a:p>
          <a:p>
            <a:r>
              <a:rPr lang="ru-RU" dirty="0" smtClean="0"/>
              <a:t>Проверить в </a:t>
            </a:r>
            <a:r>
              <a:rPr lang="ru-RU" dirty="0" err="1" smtClean="0"/>
              <a:t>DevTools</a:t>
            </a:r>
            <a:r>
              <a:rPr lang="ru-RU" dirty="0" smtClean="0"/>
              <a:t>. Откройте вкладку </a:t>
            </a:r>
            <a:r>
              <a:rPr lang="ru-RU" dirty="0" err="1" smtClean="0"/>
              <a:t>Elements</a:t>
            </a:r>
            <a:r>
              <a:rPr lang="ru-RU" dirty="0" smtClean="0"/>
              <a:t> и убедитесь, что семантические теги на месте, а текст и ссылки подставились из пропсов.</a:t>
            </a:r>
          </a:p>
          <a:p>
            <a:pPr marL="0" indent="0">
              <a:buNone/>
            </a:pPr>
            <a:r>
              <a:rPr lang="ru-RU" dirty="0" err="1" smtClean="0"/>
              <a:t>Коммит</a:t>
            </a:r>
            <a:r>
              <a:rPr lang="ru-RU" dirty="0" smtClean="0"/>
              <a:t> изменений в проекте с пояснениями об использовании пропсов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965123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Flex</a:t>
            </a:r>
            <a:r>
              <a:rPr lang="ru-RU" dirty="0" smtClean="0"/>
              <a:t>/</a:t>
            </a:r>
            <a:r>
              <a:rPr lang="ru-RU" dirty="0" err="1" smtClean="0"/>
              <a:t>Grid</a:t>
            </a:r>
            <a:r>
              <a:rPr lang="ru-RU" dirty="0" smtClean="0"/>
              <a:t>, адаптивность, </a:t>
            </a:r>
            <a:r>
              <a:rPr lang="ru-RU" dirty="0" err="1" smtClean="0"/>
              <a:t>hover</a:t>
            </a:r>
            <a:r>
              <a:rPr lang="ru-RU" dirty="0" smtClean="0"/>
              <a:t>‑эффекты (и как это использовать в компонентах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smtClean="0"/>
              <a:t> Базовые аналогии </a:t>
            </a:r>
          </a:p>
          <a:p>
            <a:r>
              <a:rPr lang="ru-RU" dirty="0" err="1" smtClean="0"/>
              <a:t>Flex</a:t>
            </a:r>
            <a:r>
              <a:rPr lang="ru-RU" dirty="0" smtClean="0"/>
              <a:t> — «линейка»: элементы в ряд или в колонку, можно растягивать, сжимать, центрировать. Идеально для шапки, меню, карточек в строку.</a:t>
            </a:r>
          </a:p>
          <a:p>
            <a:r>
              <a:rPr lang="ru-RU" dirty="0" err="1" smtClean="0"/>
              <a:t>Grid</a:t>
            </a:r>
            <a:r>
              <a:rPr lang="ru-RU" dirty="0" smtClean="0"/>
              <a:t> — «сетка»: строки и колонки одновременно, области, перекрытия. Подходит для сложных макетов (галерея, </a:t>
            </a:r>
            <a:r>
              <a:rPr lang="ru-RU" dirty="0" err="1" smtClean="0"/>
              <a:t>дашборд</a:t>
            </a:r>
            <a:r>
              <a:rPr lang="ru-RU" dirty="0" smtClean="0"/>
              <a:t>, «</a:t>
            </a:r>
            <a:r>
              <a:rPr lang="ru-RU" dirty="0" err="1" smtClean="0"/>
              <a:t>шахматка</a:t>
            </a:r>
            <a:r>
              <a:rPr lang="ru-RU" dirty="0" smtClean="0"/>
              <a:t>»).</a:t>
            </a:r>
          </a:p>
          <a:p>
            <a:r>
              <a:rPr lang="ru-RU" dirty="0" smtClean="0"/>
              <a:t>Адаптивность — «переключение режимов»: на больших экранах — сетка, на мобильных — колонка. Делается через медиа‑запросы.</a:t>
            </a:r>
          </a:p>
          <a:p>
            <a:r>
              <a:rPr lang="ru-RU" dirty="0" err="1" smtClean="0"/>
              <a:t>Hover</a:t>
            </a:r>
            <a:r>
              <a:rPr lang="ru-RU" dirty="0" smtClean="0"/>
              <a:t>‑эффекты — «реакция на наведение»: цвет, тень, масштаб. Делаются через </a:t>
            </a:r>
            <a:r>
              <a:rPr lang="ru-RU" dirty="0" err="1" smtClean="0"/>
              <a:t>псевдокласс</a:t>
            </a:r>
            <a:r>
              <a:rPr lang="ru-RU" dirty="0" smtClean="0"/>
              <a:t> :</a:t>
            </a:r>
            <a:r>
              <a:rPr lang="ru-RU" dirty="0" err="1" smtClean="0"/>
              <a:t>hover</a:t>
            </a:r>
            <a:r>
              <a:rPr lang="ru-RU" dirty="0" smtClean="0"/>
              <a:t> и </a:t>
            </a:r>
            <a:r>
              <a:rPr lang="ru-RU" dirty="0" err="1" smtClean="0"/>
              <a:t>transition</a:t>
            </a:r>
            <a:r>
              <a:rPr lang="ru-RU" dirty="0" smtClean="0"/>
              <a:t> для плавности.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183207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Flex </a:t>
            </a:r>
            <a:r>
              <a:rPr lang="ru-RU" dirty="0" smtClean="0"/>
              <a:t>в семантических компонентах (на примере &lt;</a:t>
            </a:r>
            <a:r>
              <a:rPr lang="en-US" dirty="0" err="1" smtClean="0"/>
              <a:t>nav</a:t>
            </a:r>
            <a:r>
              <a:rPr lang="en-US" dirty="0" smtClean="0"/>
              <a:t>&gt;)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9709" y="1177636"/>
            <a:ext cx="10564091" cy="536170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Nav.jsx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Nav</a:t>
            </a:r>
            <a:r>
              <a:rPr lang="en-US" dirty="0" smtClean="0"/>
              <a:t>({ links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nav</a:t>
            </a:r>
            <a:r>
              <a:rPr lang="en-US" dirty="0" smtClean="0"/>
              <a:t> </a:t>
            </a:r>
            <a:r>
              <a:rPr lang="en-US" dirty="0" err="1" smtClean="0"/>
              <a:t>className</a:t>
            </a:r>
            <a:r>
              <a:rPr lang="en-US" dirty="0" smtClean="0"/>
              <a:t>="site-</a:t>
            </a:r>
            <a:r>
              <a:rPr lang="en-US" dirty="0" err="1" smtClean="0"/>
              <a:t>nav</a:t>
            </a:r>
            <a:r>
              <a:rPr lang="en-US" dirty="0" smtClean="0"/>
              <a:t>" aria-label="</a:t>
            </a:r>
            <a:r>
              <a:rPr lang="ru-RU" dirty="0" smtClean="0"/>
              <a:t>Основное меню"&gt;</a:t>
            </a:r>
          </a:p>
          <a:p>
            <a:pPr marL="0" indent="0">
              <a:buNone/>
            </a:pPr>
            <a:r>
              <a:rPr lang="ru-RU" dirty="0" smtClean="0"/>
              <a:t>      &lt;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nav</a:t>
            </a:r>
            <a:r>
              <a:rPr lang="en-US" dirty="0" smtClean="0"/>
              <a:t>-list"&gt;</a:t>
            </a:r>
          </a:p>
          <a:p>
            <a:pPr marL="0" indent="0">
              <a:buNone/>
            </a:pPr>
            <a:r>
              <a:rPr lang="en-US" dirty="0" smtClean="0"/>
              <a:t>        {</a:t>
            </a:r>
            <a:r>
              <a:rPr lang="en-US" dirty="0" err="1" smtClean="0"/>
              <a:t>links.map</a:t>
            </a:r>
            <a:r>
              <a:rPr lang="en-US" dirty="0" smtClean="0"/>
              <a:t>((link) =&gt; (</a:t>
            </a:r>
          </a:p>
          <a:p>
            <a:pPr marL="0" indent="0">
              <a:buNone/>
            </a:pPr>
            <a:r>
              <a:rPr lang="en-US" dirty="0" smtClean="0"/>
              <a:t>          &lt;li key={</a:t>
            </a:r>
            <a:r>
              <a:rPr lang="en-US" dirty="0" err="1" smtClean="0"/>
              <a:t>link.href</a:t>
            </a:r>
            <a:r>
              <a:rPr lang="en-US" dirty="0" smtClean="0"/>
              <a:t>}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nav</a:t>
            </a:r>
            <a:r>
              <a:rPr lang="en-US" dirty="0" smtClean="0"/>
              <a:t>-item"&gt;</a:t>
            </a:r>
          </a:p>
          <a:p>
            <a:pPr marL="0" indent="0">
              <a:buNone/>
            </a:pPr>
            <a:r>
              <a:rPr lang="en-US" dirty="0" smtClean="0"/>
              <a:t>            &lt;a </a:t>
            </a:r>
            <a:r>
              <a:rPr lang="en-US" dirty="0" err="1" smtClean="0"/>
              <a:t>href</a:t>
            </a:r>
            <a:r>
              <a:rPr lang="en-US" dirty="0" smtClean="0"/>
              <a:t>={</a:t>
            </a:r>
            <a:r>
              <a:rPr lang="en-US" dirty="0" err="1" smtClean="0"/>
              <a:t>link.href</a:t>
            </a:r>
            <a:r>
              <a:rPr lang="en-US" dirty="0" smtClean="0"/>
              <a:t>}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nav</a:t>
            </a:r>
            <a:r>
              <a:rPr lang="en-US" dirty="0" smtClean="0"/>
              <a:t>-link"&gt;</a:t>
            </a:r>
          </a:p>
          <a:p>
            <a:pPr marL="0" indent="0">
              <a:buNone/>
            </a:pPr>
            <a:r>
              <a:rPr lang="en-US" dirty="0" smtClean="0"/>
              <a:t>              {</a:t>
            </a:r>
            <a:r>
              <a:rPr lang="en-US" dirty="0" err="1" smtClean="0"/>
              <a:t>link.text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          &lt;/a&gt;</a:t>
            </a:r>
          </a:p>
          <a:p>
            <a:pPr marL="0" indent="0">
              <a:buNone/>
            </a:pPr>
            <a:r>
              <a:rPr lang="en-US" dirty="0" smtClean="0"/>
              <a:t>          &lt;/li&gt;</a:t>
            </a:r>
          </a:p>
          <a:p>
            <a:pPr marL="0" indent="0">
              <a:buNone/>
            </a:pPr>
            <a:r>
              <a:rPr lang="en-US" dirty="0" smtClean="0"/>
              <a:t>        ))}</a:t>
            </a:r>
          </a:p>
          <a:p>
            <a:pPr marL="0" indent="0">
              <a:buNone/>
            </a:pPr>
            <a:r>
              <a:rPr lang="en-US" dirty="0" smtClean="0"/>
              <a:t>      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&lt;/</a:t>
            </a:r>
            <a:r>
              <a:rPr lang="en-US" dirty="0" err="1" smtClean="0"/>
              <a:t>nav</a:t>
            </a:r>
            <a:r>
              <a:rPr lang="en-US" dirty="0" smtClean="0"/>
              <a:t>&gt;  );}</a:t>
            </a:r>
          </a:p>
          <a:p>
            <a:pPr marL="0" indent="0"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Nav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835060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Nav.css</a:t>
            </a:r>
            <a:r>
              <a:rPr lang="ru-RU" dirty="0" smtClean="0"/>
              <a:t> Что это даёт:</a:t>
            </a:r>
            <a:br>
              <a:rPr lang="ru-RU" dirty="0" smtClean="0"/>
            </a:br>
            <a:r>
              <a:rPr lang="ru-RU" sz="2200" dirty="0" smtClean="0">
                <a:solidFill>
                  <a:srgbClr val="FF0000"/>
                </a:solidFill>
              </a:rPr>
              <a:t>Семантика &lt;</a:t>
            </a:r>
            <a:r>
              <a:rPr lang="ru-RU" sz="2200" dirty="0" err="1" smtClean="0">
                <a:solidFill>
                  <a:srgbClr val="FF0000"/>
                </a:solidFill>
              </a:rPr>
              <a:t>nav</a:t>
            </a:r>
            <a:r>
              <a:rPr lang="ru-RU" sz="2200" dirty="0" smtClean="0">
                <a:solidFill>
                  <a:srgbClr val="FF0000"/>
                </a:solidFill>
              </a:rPr>
              <a:t>&gt; остаётся для доступности.</a:t>
            </a:r>
            <a:br>
              <a:rPr lang="ru-RU" sz="2200" dirty="0" smtClean="0">
                <a:solidFill>
                  <a:srgbClr val="FF0000"/>
                </a:solidFill>
              </a:rPr>
            </a:br>
            <a:r>
              <a:rPr lang="ru-RU" sz="2200" dirty="0" err="1" smtClean="0">
                <a:solidFill>
                  <a:srgbClr val="FF0000"/>
                </a:solidFill>
              </a:rPr>
              <a:t>Flex</a:t>
            </a:r>
            <a:r>
              <a:rPr lang="ru-RU" sz="2200" dirty="0" smtClean="0">
                <a:solidFill>
                  <a:srgbClr val="FF0000"/>
                </a:solidFill>
              </a:rPr>
              <a:t> делает меню в строку и центрирует элементы.:</a:t>
            </a:r>
            <a:r>
              <a:rPr lang="ru-RU" sz="2200" dirty="0" err="1" smtClean="0">
                <a:solidFill>
                  <a:srgbClr val="FF0000"/>
                </a:solidFill>
              </a:rPr>
              <a:t>hover</a:t>
            </a:r>
            <a:r>
              <a:rPr lang="ru-RU" sz="2200" dirty="0" smtClean="0">
                <a:solidFill>
                  <a:srgbClr val="FF0000"/>
                </a:solidFill>
              </a:rPr>
              <a:t> + </a:t>
            </a:r>
            <a:r>
              <a:rPr lang="ru-RU" sz="2200" dirty="0" err="1" smtClean="0">
                <a:solidFill>
                  <a:srgbClr val="FF0000"/>
                </a:solidFill>
              </a:rPr>
              <a:t>transition</a:t>
            </a:r>
            <a:r>
              <a:rPr lang="ru-RU" sz="2200" dirty="0" smtClean="0">
                <a:solidFill>
                  <a:srgbClr val="FF0000"/>
                </a:solidFill>
              </a:rPr>
              <a:t> дают мягкий эффект при наведении</a:t>
            </a:r>
            <a:r>
              <a:rPr lang="ru-RU" sz="2200" dirty="0" smtClean="0"/>
              <a:t>. 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ru-RU" sz="2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725" y="1825625"/>
            <a:ext cx="1114407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.site-</a:t>
            </a:r>
            <a:r>
              <a:rPr lang="en-US" dirty="0" err="1" smtClean="0"/>
              <a:t>nav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background: #222;</a:t>
            </a:r>
          </a:p>
          <a:p>
            <a:pPr marL="0" indent="0">
              <a:buNone/>
            </a:pPr>
            <a:r>
              <a:rPr lang="en-US" dirty="0" smtClean="0"/>
              <a:t>  padding: 0.5rem 1rem;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nav</a:t>
            </a:r>
            <a:r>
              <a:rPr lang="en-US" dirty="0" smtClean="0"/>
              <a:t>-list {</a:t>
            </a:r>
          </a:p>
          <a:p>
            <a:pPr marL="0" indent="0">
              <a:buNone/>
            </a:pPr>
            <a:r>
              <a:rPr lang="en-US" dirty="0" smtClean="0"/>
              <a:t>  list-style: none;</a:t>
            </a:r>
          </a:p>
          <a:p>
            <a:pPr marL="0" indent="0">
              <a:buNone/>
            </a:pPr>
            <a:r>
              <a:rPr lang="en-US" dirty="0" smtClean="0"/>
              <a:t>  margin: 0;</a:t>
            </a:r>
          </a:p>
          <a:p>
            <a:pPr marL="0" indent="0">
              <a:buNone/>
            </a:pPr>
            <a:r>
              <a:rPr lang="en-US" dirty="0" smtClean="0"/>
              <a:t>  padding: 0;</a:t>
            </a:r>
          </a:p>
          <a:p>
            <a:pPr marL="0" indent="0">
              <a:buNone/>
            </a:pPr>
            <a:r>
              <a:rPr lang="en-US" dirty="0" smtClean="0"/>
              <a:t>  display: flex;              /* Flex-</a:t>
            </a:r>
            <a:r>
              <a:rPr lang="ru-RU" dirty="0" smtClean="0"/>
              <a:t>контейнер */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en-US" dirty="0" smtClean="0"/>
              <a:t>gap: 1rem;                  /* </a:t>
            </a:r>
            <a:r>
              <a:rPr lang="ru-RU" dirty="0" smtClean="0"/>
              <a:t>Отступы между элементами */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en-US" dirty="0" smtClean="0"/>
              <a:t>justify-content: center;    /* </a:t>
            </a:r>
            <a:r>
              <a:rPr lang="ru-RU" dirty="0" smtClean="0"/>
              <a:t>Центрирование по главной оси */</a:t>
            </a:r>
          </a:p>
          <a:p>
            <a:pPr marL="0" indent="0">
              <a:buNone/>
            </a:pPr>
            <a:r>
              <a:rPr lang="ru-RU" dirty="0" smtClean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9050" y="1462137"/>
            <a:ext cx="26425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</a:t>
            </a:r>
            <a:r>
              <a:rPr lang="en-US" dirty="0" err="1" smtClean="0"/>
              <a:t>nav</a:t>
            </a:r>
            <a:r>
              <a:rPr lang="en-US" dirty="0" smtClean="0"/>
              <a:t>-item {</a:t>
            </a:r>
          </a:p>
          <a:p>
            <a:r>
              <a:rPr lang="en-US" dirty="0" smtClean="0"/>
              <a:t>  display: flex;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nav</a:t>
            </a:r>
            <a:r>
              <a:rPr lang="en-US" dirty="0" smtClean="0"/>
              <a:t>-link {</a:t>
            </a:r>
          </a:p>
          <a:p>
            <a:r>
              <a:rPr lang="en-US" dirty="0" smtClean="0"/>
              <a:t>  color: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text-decoration: none;</a:t>
            </a:r>
          </a:p>
          <a:p>
            <a:r>
              <a:rPr lang="en-US" dirty="0" smtClean="0"/>
              <a:t>  padding: 0.5rem 1rem;</a:t>
            </a:r>
          </a:p>
          <a:p>
            <a:r>
              <a:rPr lang="en-US" dirty="0" smtClean="0"/>
              <a:t>  border-radius: 4px;</a:t>
            </a:r>
          </a:p>
          <a:p>
            <a:r>
              <a:rPr lang="en-US" dirty="0" smtClean="0"/>
              <a:t>  transition: background 0.3s ease, color 0.3s ease; /* </a:t>
            </a:r>
            <a:r>
              <a:rPr lang="ru-RU" dirty="0" smtClean="0"/>
              <a:t>Плавность */</a:t>
            </a:r>
          </a:p>
          <a:p>
            <a:r>
              <a:rPr lang="ru-RU" dirty="0" smtClean="0"/>
              <a:t>}</a:t>
            </a:r>
          </a:p>
          <a:p>
            <a:r>
              <a:rPr lang="ru-RU" dirty="0" smtClean="0"/>
              <a:t>.</a:t>
            </a:r>
            <a:r>
              <a:rPr lang="en-US" dirty="0" err="1" smtClean="0"/>
              <a:t>nav-link:hover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background: #</a:t>
            </a:r>
            <a:r>
              <a:rPr lang="en-US" dirty="0" err="1" smtClean="0"/>
              <a:t>fff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color: #222;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88626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Grid </a:t>
            </a:r>
            <a:r>
              <a:rPr lang="ru-RU" dirty="0" smtClean="0"/>
              <a:t>в семантических компонентах (на примере &lt;</a:t>
            </a:r>
            <a:r>
              <a:rPr lang="en-US" dirty="0" smtClean="0"/>
              <a:t>main&gt; </a:t>
            </a:r>
            <a:r>
              <a:rPr lang="ru-RU" dirty="0" smtClean="0"/>
              <a:t>с карточками)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19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MainContent.jsx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MainContent</a:t>
            </a:r>
            <a:r>
              <a:rPr lang="en-US" dirty="0" smtClean="0"/>
              <a:t>({ articles }) {</a:t>
            </a:r>
          </a:p>
          <a:p>
            <a:pPr marL="0" indent="0">
              <a:buNone/>
            </a:pPr>
            <a:r>
              <a:rPr lang="en-US" dirty="0" smtClean="0"/>
              <a:t>  return (</a:t>
            </a:r>
          </a:p>
          <a:p>
            <a:pPr marL="0" indent="0">
              <a:buNone/>
            </a:pPr>
            <a:r>
              <a:rPr lang="en-US" dirty="0" smtClean="0"/>
              <a:t>    &lt;main </a:t>
            </a:r>
            <a:r>
              <a:rPr lang="en-US" dirty="0" err="1" smtClean="0"/>
              <a:t>className</a:t>
            </a:r>
            <a:r>
              <a:rPr lang="en-US" dirty="0" smtClean="0"/>
              <a:t>="page-main"&gt;</a:t>
            </a:r>
          </a:p>
          <a:p>
            <a:pPr marL="0" indent="0">
              <a:buNone/>
            </a:pPr>
            <a:r>
              <a:rPr lang="en-US" dirty="0" smtClean="0"/>
              <a:t>      &lt;section </a:t>
            </a:r>
            <a:r>
              <a:rPr lang="en-US" dirty="0" err="1" smtClean="0"/>
              <a:t>className</a:t>
            </a:r>
            <a:r>
              <a:rPr lang="en-US" dirty="0" smtClean="0"/>
              <a:t>="articles-grid"&gt;</a:t>
            </a:r>
          </a:p>
          <a:p>
            <a:pPr marL="0" indent="0">
              <a:buNone/>
            </a:pPr>
            <a:r>
              <a:rPr lang="en-US" dirty="0" smtClean="0"/>
              <a:t>        {</a:t>
            </a:r>
            <a:r>
              <a:rPr lang="en-US" dirty="0" err="1" smtClean="0"/>
              <a:t>articles.map</a:t>
            </a:r>
            <a:r>
              <a:rPr lang="en-US" dirty="0" smtClean="0"/>
              <a:t>((article) =&gt; (</a:t>
            </a:r>
          </a:p>
          <a:p>
            <a:pPr marL="0" indent="0">
              <a:buNone/>
            </a:pPr>
            <a:r>
              <a:rPr lang="en-US" dirty="0" smtClean="0"/>
              <a:t>          &lt;article </a:t>
            </a:r>
            <a:r>
              <a:rPr lang="en-US" b="1" dirty="0" smtClean="0"/>
              <a:t>key</a:t>
            </a:r>
            <a:r>
              <a:rPr lang="en-US" dirty="0" smtClean="0"/>
              <a:t>={article.id} </a:t>
            </a:r>
            <a:r>
              <a:rPr lang="en-US" dirty="0" err="1" smtClean="0"/>
              <a:t>className</a:t>
            </a:r>
            <a:r>
              <a:rPr lang="en-US" dirty="0" smtClean="0"/>
              <a:t>="article-card"&gt;</a:t>
            </a:r>
          </a:p>
          <a:p>
            <a:pPr marL="0" indent="0">
              <a:buNone/>
            </a:pPr>
            <a:r>
              <a:rPr lang="en-US" dirty="0" smtClean="0"/>
              <a:t>            &lt;h2 </a:t>
            </a:r>
            <a:r>
              <a:rPr lang="en-US" dirty="0" err="1" smtClean="0"/>
              <a:t>className</a:t>
            </a:r>
            <a:r>
              <a:rPr lang="en-US" dirty="0" smtClean="0"/>
              <a:t>="article-title"&gt;{</a:t>
            </a:r>
            <a:r>
              <a:rPr lang="en-US" dirty="0" err="1" smtClean="0"/>
              <a:t>article.title</a:t>
            </a:r>
            <a:r>
              <a:rPr lang="en-US" dirty="0" smtClean="0"/>
              <a:t>}&lt;/h2&gt;</a:t>
            </a:r>
          </a:p>
          <a:p>
            <a:pPr marL="0" indent="0">
              <a:buNone/>
            </a:pPr>
            <a:r>
              <a:rPr lang="en-US" dirty="0" smtClean="0"/>
              <a:t>            &lt;p </a:t>
            </a:r>
            <a:r>
              <a:rPr lang="en-US" dirty="0" err="1" smtClean="0"/>
              <a:t>className</a:t>
            </a:r>
            <a:r>
              <a:rPr lang="en-US" dirty="0" smtClean="0"/>
              <a:t>="article-summary"&gt;{</a:t>
            </a:r>
            <a:r>
              <a:rPr lang="en-US" dirty="0" err="1" smtClean="0"/>
              <a:t>article.summary</a:t>
            </a:r>
            <a:r>
              <a:rPr lang="en-US" dirty="0" smtClean="0"/>
              <a:t>}&lt;/p&gt;</a:t>
            </a:r>
          </a:p>
          <a:p>
            <a:pPr marL="0" indent="0">
              <a:buNone/>
            </a:pPr>
            <a:r>
              <a:rPr lang="en-US" dirty="0" smtClean="0"/>
              <a:t>          &lt;/article&gt;</a:t>
            </a:r>
          </a:p>
          <a:p>
            <a:pPr marL="0" indent="0">
              <a:buNone/>
            </a:pPr>
            <a:r>
              <a:rPr lang="en-US" dirty="0" smtClean="0"/>
              <a:t>        ))}</a:t>
            </a:r>
          </a:p>
          <a:p>
            <a:pPr marL="0" indent="0">
              <a:buNone/>
            </a:pPr>
            <a:r>
              <a:rPr lang="en-US" dirty="0" smtClean="0"/>
              <a:t>      &lt;/section&gt;</a:t>
            </a:r>
          </a:p>
          <a:p>
            <a:pPr marL="0" indent="0">
              <a:buNone/>
            </a:pPr>
            <a:r>
              <a:rPr lang="en-US" dirty="0" smtClean="0"/>
              <a:t>    &lt;/main&gt;  );</a:t>
            </a:r>
            <a:r>
              <a:rPr lang="ru-RU" dirty="0" smtClean="0"/>
              <a:t>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MainContent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287424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MainContent.css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8231" y="1462137"/>
            <a:ext cx="10615569" cy="471482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.page-main {</a:t>
            </a:r>
          </a:p>
          <a:p>
            <a:pPr marL="0" indent="0">
              <a:buNone/>
            </a:pPr>
            <a:r>
              <a:rPr lang="en-US" dirty="0" smtClean="0"/>
              <a:t>  padding: 1rem;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.articles-grid {</a:t>
            </a:r>
          </a:p>
          <a:p>
            <a:pPr marL="0" indent="0">
              <a:buNone/>
            </a:pPr>
            <a:r>
              <a:rPr lang="en-US" dirty="0" smtClean="0"/>
              <a:t>  display: grid;</a:t>
            </a:r>
          </a:p>
          <a:p>
            <a:pPr marL="0" indent="0">
              <a:buNone/>
            </a:pPr>
            <a:r>
              <a:rPr lang="en-US" dirty="0" smtClean="0"/>
              <a:t>  grid-template-columns: repeat(auto-fill, </a:t>
            </a:r>
            <a:r>
              <a:rPr lang="en-US" dirty="0" err="1" smtClean="0"/>
              <a:t>minmax</a:t>
            </a:r>
            <a:r>
              <a:rPr lang="en-US" dirty="0" smtClean="0"/>
              <a:t>(280px, 1fr)); /* </a:t>
            </a:r>
            <a:r>
              <a:rPr lang="ru-RU" dirty="0" smtClean="0"/>
              <a:t>Адаптивная сетка */</a:t>
            </a:r>
          </a:p>
          <a:p>
            <a:pPr marL="0" indent="0">
              <a:buNone/>
            </a:pPr>
            <a:r>
              <a:rPr lang="ru-RU" dirty="0" smtClean="0"/>
              <a:t>  </a:t>
            </a:r>
            <a:r>
              <a:rPr lang="en-US" dirty="0" smtClean="0"/>
              <a:t>gap: 1.5rem;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.article-card {</a:t>
            </a:r>
          </a:p>
          <a:p>
            <a:pPr marL="0" indent="0">
              <a:buNone/>
            </a:pPr>
            <a:r>
              <a:rPr lang="en-US" dirty="0" smtClean="0"/>
              <a:t>  background: #f9f9f9;</a:t>
            </a:r>
          </a:p>
          <a:p>
            <a:pPr marL="0" indent="0">
              <a:buNone/>
            </a:pPr>
            <a:r>
              <a:rPr lang="en-US" dirty="0" smtClean="0"/>
              <a:t>  padding: 1.25rem;</a:t>
            </a:r>
          </a:p>
          <a:p>
            <a:pPr marL="0" indent="0">
              <a:buNone/>
            </a:pPr>
            <a:r>
              <a:rPr lang="en-US" dirty="0" smtClean="0"/>
              <a:t>  border-radius: 8px;</a:t>
            </a:r>
          </a:p>
          <a:p>
            <a:pPr marL="0" indent="0">
              <a:buNone/>
            </a:pPr>
            <a:r>
              <a:rPr lang="en-US" dirty="0" smtClean="0"/>
              <a:t>  box-shadow: 0 2px 4px </a:t>
            </a:r>
            <a:r>
              <a:rPr lang="en-US" dirty="0" err="1" smtClean="0"/>
              <a:t>rgba</a:t>
            </a:r>
            <a:r>
              <a:rPr lang="en-US" dirty="0" smtClean="0"/>
              <a:t>(0,0,0,0.08);</a:t>
            </a:r>
          </a:p>
          <a:p>
            <a:pPr marL="0" indent="0">
              <a:buNone/>
            </a:pPr>
            <a:r>
              <a:rPr lang="en-US" dirty="0" smtClean="0"/>
              <a:t>  transition: transform 0.2s ease, box-shadow 0.2s ease;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675926" y="1462137"/>
            <a:ext cx="319620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</a:t>
            </a:r>
            <a:r>
              <a:rPr lang="en-US" dirty="0" err="1" smtClean="0"/>
              <a:t>article-card:hover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transform: </a:t>
            </a:r>
            <a:r>
              <a:rPr lang="en-US" dirty="0" err="1" smtClean="0"/>
              <a:t>translateY</a:t>
            </a:r>
            <a:r>
              <a:rPr lang="en-US" dirty="0" smtClean="0"/>
              <a:t>(-4px);</a:t>
            </a:r>
          </a:p>
          <a:p>
            <a:r>
              <a:rPr lang="en-US" dirty="0" smtClean="0"/>
              <a:t>  box-shadow: 0 8px 16px </a:t>
            </a:r>
            <a:r>
              <a:rPr lang="en-US" dirty="0" err="1" smtClean="0"/>
              <a:t>rgba</a:t>
            </a:r>
            <a:r>
              <a:rPr lang="en-US" dirty="0" smtClean="0"/>
              <a:t>(0,0,0,0.12);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.article-title {</a:t>
            </a:r>
          </a:p>
          <a:p>
            <a:r>
              <a:rPr lang="en-US" dirty="0" smtClean="0"/>
              <a:t>  margin-top: 0;</a:t>
            </a:r>
          </a:p>
          <a:p>
            <a:r>
              <a:rPr lang="en-US" dirty="0" smtClean="0"/>
              <a:t>  font-size: 1.25rem;</a:t>
            </a:r>
          </a:p>
          <a:p>
            <a:r>
              <a:rPr lang="en-US" dirty="0" smtClean="0"/>
              <a:t>}</a:t>
            </a:r>
            <a:endParaRPr lang="ru-RU" dirty="0" smtClean="0"/>
          </a:p>
          <a:p>
            <a:r>
              <a:rPr lang="ru-RU" dirty="0" smtClean="0">
                <a:solidFill>
                  <a:srgbClr val="FF0000"/>
                </a:solidFill>
              </a:rPr>
              <a:t>Что это даёт: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main</a:t>
            </a:r>
            <a:r>
              <a:rPr lang="ru-RU" dirty="0" smtClean="0"/>
              <a:t>&gt; и &lt;</a:t>
            </a:r>
            <a:r>
              <a:rPr lang="ru-RU" dirty="0" err="1" smtClean="0"/>
              <a:t>article</a:t>
            </a:r>
            <a:r>
              <a:rPr lang="ru-RU" dirty="0" smtClean="0"/>
              <a:t>&gt; сохраняют семантику.</a:t>
            </a:r>
          </a:p>
          <a:p>
            <a:r>
              <a:rPr lang="ru-RU" dirty="0" err="1" smtClean="0">
                <a:solidFill>
                  <a:srgbClr val="FF0000"/>
                </a:solidFill>
              </a:rPr>
              <a:t>Grid</a:t>
            </a:r>
            <a:r>
              <a:rPr lang="ru-RU" dirty="0" smtClean="0">
                <a:solidFill>
                  <a:srgbClr val="FF0000"/>
                </a:solidFill>
              </a:rPr>
              <a:t> с </a:t>
            </a:r>
            <a:r>
              <a:rPr lang="ru-RU" dirty="0" err="1" smtClean="0">
                <a:solidFill>
                  <a:srgbClr val="FF0000"/>
                </a:solidFill>
              </a:rPr>
              <a:t>auto-fill</a:t>
            </a:r>
            <a:r>
              <a:rPr lang="ru-RU" dirty="0" smtClean="0">
                <a:solidFill>
                  <a:srgbClr val="FF0000"/>
                </a:solidFill>
              </a:rPr>
              <a:t> и </a:t>
            </a:r>
            <a:r>
              <a:rPr lang="ru-RU" dirty="0" err="1" smtClean="0">
                <a:solidFill>
                  <a:srgbClr val="FF0000"/>
                </a:solidFill>
              </a:rPr>
              <a:t>minmax</a:t>
            </a:r>
            <a:r>
              <a:rPr lang="ru-RU" dirty="0" smtClean="0">
                <a:solidFill>
                  <a:srgbClr val="FF0000"/>
                </a:solidFill>
              </a:rPr>
              <a:t> делает адаптивную сетку без медиа‑запросов.</a:t>
            </a:r>
          </a:p>
          <a:p>
            <a:r>
              <a:rPr lang="ru-RU" dirty="0" err="1" smtClean="0"/>
              <a:t>Hover</a:t>
            </a:r>
            <a:r>
              <a:rPr lang="ru-RU" dirty="0" smtClean="0"/>
              <a:t> поднимает карточку и усиливает тень — визуальный отклик.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89353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700" dirty="0" smtClean="0"/>
              <a:t>Адаптивность: медиа‑запросы и «</a:t>
            </a:r>
            <a:r>
              <a:rPr lang="en-US" sz="2700" dirty="0" smtClean="0"/>
              <a:t>mobile‑first»</a:t>
            </a:r>
            <a:br>
              <a:rPr lang="en-US" sz="2700" dirty="0" smtClean="0"/>
            </a:br>
            <a:r>
              <a:rPr lang="ru-RU" sz="2700" dirty="0" smtClean="0"/>
              <a:t>Добавим медиа‑запросы, чтобы на мобильных менять раскладку и отступы.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App.css (</a:t>
            </a:r>
            <a:r>
              <a:rPr lang="ru-RU" dirty="0" smtClean="0"/>
              <a:t>глобальные стили)</a:t>
            </a:r>
          </a:p>
          <a:p>
            <a:pPr marL="0" indent="0">
              <a:buNone/>
            </a:pPr>
            <a:r>
              <a:rPr lang="en-US" dirty="0" smtClean="0"/>
              <a:t>body {</a:t>
            </a:r>
          </a:p>
          <a:p>
            <a:pPr marL="0" indent="0">
              <a:buNone/>
            </a:pPr>
            <a:r>
              <a:rPr lang="en-US" dirty="0" smtClean="0"/>
              <a:t>  margin: 0;</a:t>
            </a:r>
          </a:p>
          <a:p>
            <a:pPr marL="0" indent="0">
              <a:buNone/>
            </a:pPr>
            <a:r>
              <a:rPr lang="en-US" dirty="0" smtClean="0"/>
              <a:t>  font-family: system-</a:t>
            </a:r>
            <a:r>
              <a:rPr lang="en-US" dirty="0" err="1" smtClean="0"/>
              <a:t>ui</a:t>
            </a:r>
            <a:r>
              <a:rPr lang="en-US" dirty="0" smtClean="0"/>
              <a:t>, -apple-system, sans-serif;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.App {</a:t>
            </a:r>
          </a:p>
          <a:p>
            <a:pPr marL="0" indent="0">
              <a:buNone/>
            </a:pPr>
            <a:r>
              <a:rPr lang="en-US" dirty="0" smtClean="0"/>
              <a:t>  display: flex;</a:t>
            </a:r>
          </a:p>
          <a:p>
            <a:pPr marL="0" indent="0">
              <a:buNone/>
            </a:pPr>
            <a:r>
              <a:rPr lang="en-US" dirty="0" smtClean="0"/>
              <a:t>  flex-direction: column;</a:t>
            </a:r>
          </a:p>
          <a:p>
            <a:pPr marL="0" indent="0">
              <a:buNone/>
            </a:pPr>
            <a:r>
              <a:rPr lang="en-US" dirty="0" smtClean="0"/>
              <a:t>  min-height: 100vh;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883941" y="1690688"/>
            <a:ext cx="28522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/* Mobile-first: </a:t>
            </a:r>
            <a:r>
              <a:rPr lang="ru-RU" dirty="0" smtClean="0"/>
              <a:t>по умолчанию колонка */</a:t>
            </a:r>
          </a:p>
          <a:p>
            <a:r>
              <a:rPr lang="ru-RU" dirty="0" smtClean="0"/>
              <a:t>@</a:t>
            </a:r>
            <a:r>
              <a:rPr lang="en-US" dirty="0" smtClean="0"/>
              <a:t>media (min-width: 768px) {</a:t>
            </a:r>
          </a:p>
          <a:p>
            <a:r>
              <a:rPr lang="en-US" dirty="0" smtClean="0"/>
              <a:t>  .site-</a:t>
            </a:r>
            <a:r>
              <a:rPr lang="en-US" dirty="0" err="1" smtClean="0"/>
              <a:t>nav</a:t>
            </a:r>
            <a:r>
              <a:rPr lang="en-US" dirty="0" smtClean="0"/>
              <a:t> .</a:t>
            </a:r>
            <a:r>
              <a:rPr lang="en-US" dirty="0" err="1" smtClean="0"/>
              <a:t>nav</a:t>
            </a:r>
            <a:r>
              <a:rPr lang="en-US" dirty="0" smtClean="0"/>
              <a:t>-list {</a:t>
            </a:r>
          </a:p>
          <a:p>
            <a:r>
              <a:rPr lang="en-US" dirty="0" smtClean="0"/>
              <a:t>    justify-content: flex-end; /* </a:t>
            </a:r>
            <a:r>
              <a:rPr lang="ru-RU" dirty="0" smtClean="0"/>
              <a:t>Меню справа */</a:t>
            </a:r>
          </a:p>
          <a:p>
            <a:r>
              <a:rPr lang="ru-RU" dirty="0" smtClean="0"/>
              <a:t>  }</a:t>
            </a:r>
          </a:p>
          <a:p>
            <a:r>
              <a:rPr lang="ru-RU" dirty="0" smtClean="0"/>
              <a:t>}</a:t>
            </a:r>
          </a:p>
          <a:p>
            <a:endParaRPr lang="ru-RU" dirty="0" smtClean="0"/>
          </a:p>
          <a:p>
            <a:r>
              <a:rPr lang="ru-RU" dirty="0" smtClean="0"/>
              <a:t>@</a:t>
            </a:r>
            <a:r>
              <a:rPr lang="en-US" dirty="0" smtClean="0"/>
              <a:t>media (min-width: 1024px) {</a:t>
            </a:r>
          </a:p>
          <a:p>
            <a:r>
              <a:rPr lang="en-US" dirty="0" smtClean="0"/>
              <a:t>  .site-header h1 {</a:t>
            </a:r>
          </a:p>
          <a:p>
            <a:r>
              <a:rPr lang="en-US" dirty="0" smtClean="0"/>
              <a:t>    font-size: 1.5rem;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6343" y="5438299"/>
            <a:ext cx="10167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mtClean="0"/>
              <a:t>Почему это работает:</a:t>
            </a:r>
          </a:p>
          <a:p>
            <a:endParaRPr lang="ru-RU" smtClean="0"/>
          </a:p>
          <a:p>
            <a:r>
              <a:rPr lang="ru-RU" smtClean="0"/>
              <a:t>По умолчанию — мобильная версия (колонка, компактные отступы).</a:t>
            </a:r>
          </a:p>
          <a:p>
            <a:r>
              <a:rPr lang="ru-RU" smtClean="0"/>
              <a:t>На планшетах и десктопах — улучшаем выравнивание и типографику.</a:t>
            </a:r>
          </a:p>
          <a:p>
            <a:r>
              <a:rPr lang="ru-RU" smtClean="0"/>
              <a:t>Семантические теги не трогаем — только стили.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613901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4127" y="0"/>
            <a:ext cx="10515600" cy="1325563"/>
          </a:xfrm>
        </p:spPr>
        <p:txBody>
          <a:bodyPr/>
          <a:lstStyle/>
          <a:p>
            <a:r>
              <a:rPr lang="ru-RU" dirty="0" smtClean="0"/>
              <a:t>Памятка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9526" y="1014802"/>
            <a:ext cx="9573491" cy="5744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41885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Практическое задание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Flex‑</a:t>
            </a:r>
            <a:r>
              <a:rPr lang="ru-RU" dirty="0" smtClean="0"/>
              <a:t>меню с выравниванием. В </a:t>
            </a:r>
            <a:r>
              <a:rPr lang="en-US" dirty="0" smtClean="0"/>
              <a:t>Nav.css </a:t>
            </a:r>
            <a:r>
              <a:rPr lang="ru-RU" dirty="0" smtClean="0"/>
              <a:t>сделайте так, чтобы на десктопе меню было справа (</a:t>
            </a:r>
            <a:r>
              <a:rPr lang="en-US" dirty="0" smtClean="0"/>
              <a:t>justify-content: flex-end), </a:t>
            </a:r>
            <a:r>
              <a:rPr lang="ru-RU" dirty="0" smtClean="0"/>
              <a:t>а на мобильном — по центру.</a:t>
            </a:r>
          </a:p>
          <a:p>
            <a:r>
              <a:rPr lang="en-US" dirty="0" smtClean="0"/>
              <a:t>Grid‑</a:t>
            </a:r>
            <a:r>
              <a:rPr lang="ru-RU" dirty="0" smtClean="0"/>
              <a:t>галерея. В </a:t>
            </a:r>
            <a:r>
              <a:rPr lang="en-US" dirty="0" smtClean="0"/>
              <a:t>MainContent.css </a:t>
            </a:r>
            <a:r>
              <a:rPr lang="ru-RU" dirty="0" smtClean="0"/>
              <a:t>добавьте </a:t>
            </a:r>
            <a:r>
              <a:rPr lang="en-US" dirty="0" smtClean="0"/>
              <a:t>grid-template-rows: repeat(2, 200px) </a:t>
            </a:r>
            <a:r>
              <a:rPr lang="ru-RU" dirty="0" smtClean="0"/>
              <a:t>и </a:t>
            </a:r>
            <a:r>
              <a:rPr lang="en-US" dirty="0" smtClean="0"/>
              <a:t>grid-auto-flow: dense, </a:t>
            </a:r>
            <a:r>
              <a:rPr lang="ru-RU" dirty="0" smtClean="0"/>
              <a:t>чтобы карточки заполняли пустоты.</a:t>
            </a:r>
          </a:p>
          <a:p>
            <a:r>
              <a:rPr lang="en-US" dirty="0" smtClean="0"/>
              <a:t>Hover‑</a:t>
            </a:r>
            <a:r>
              <a:rPr lang="ru-RU" dirty="0" smtClean="0"/>
              <a:t>анимация. Для .</a:t>
            </a:r>
            <a:r>
              <a:rPr lang="en-US" dirty="0" err="1" smtClean="0"/>
              <a:t>article-card:hover</a:t>
            </a:r>
            <a:r>
              <a:rPr lang="en-US" dirty="0" smtClean="0"/>
              <a:t> </a:t>
            </a:r>
            <a:r>
              <a:rPr lang="ru-RU" dirty="0" smtClean="0"/>
              <a:t>добавьте </a:t>
            </a:r>
            <a:r>
              <a:rPr lang="en-US" dirty="0" smtClean="0"/>
              <a:t>scale(1.02) </a:t>
            </a:r>
            <a:r>
              <a:rPr lang="ru-RU" dirty="0" smtClean="0"/>
              <a:t>и </a:t>
            </a:r>
            <a:r>
              <a:rPr lang="en-US" dirty="0" smtClean="0"/>
              <a:t>cursor: pointer.</a:t>
            </a:r>
          </a:p>
          <a:p>
            <a:r>
              <a:rPr lang="ru-RU" dirty="0" smtClean="0"/>
              <a:t>Адаптивная </a:t>
            </a:r>
            <a:r>
              <a:rPr lang="ru-RU" dirty="0" err="1" smtClean="0"/>
              <a:t>типографика</a:t>
            </a:r>
            <a:r>
              <a:rPr lang="ru-RU" dirty="0" smtClean="0"/>
              <a:t>. В медиа‑запросе для десктопа увеличьте </a:t>
            </a:r>
            <a:r>
              <a:rPr lang="en-US" dirty="0" smtClean="0"/>
              <a:t>font-size </a:t>
            </a:r>
            <a:r>
              <a:rPr lang="ru-RU" dirty="0" smtClean="0"/>
              <a:t>у заголовков и отступы у контейнера.</a:t>
            </a:r>
          </a:p>
          <a:p>
            <a:r>
              <a:rPr lang="ru-RU" dirty="0" smtClean="0"/>
              <a:t>Проверка в </a:t>
            </a:r>
            <a:r>
              <a:rPr lang="en-US" dirty="0" err="1" smtClean="0"/>
              <a:t>DevTools</a:t>
            </a:r>
            <a:r>
              <a:rPr lang="en-US" dirty="0" smtClean="0"/>
              <a:t>. </a:t>
            </a:r>
            <a:r>
              <a:rPr lang="ru-RU" dirty="0" smtClean="0"/>
              <a:t>Откройте вкладку </a:t>
            </a:r>
            <a:r>
              <a:rPr lang="en-US" dirty="0" smtClean="0"/>
              <a:t>Elements </a:t>
            </a:r>
            <a:r>
              <a:rPr lang="ru-RU" dirty="0" smtClean="0"/>
              <a:t>и убедитесь, что семантические теги на месте, а в </a:t>
            </a:r>
            <a:r>
              <a:rPr lang="en-US" dirty="0" smtClean="0"/>
              <a:t>Computed </a:t>
            </a:r>
            <a:r>
              <a:rPr lang="ru-RU" dirty="0" smtClean="0"/>
              <a:t>отображаются </a:t>
            </a:r>
            <a:r>
              <a:rPr lang="en-US" dirty="0" smtClean="0"/>
              <a:t>display: flex / display: grid.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8664773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Важные нюансы для </a:t>
            </a:r>
            <a:r>
              <a:rPr lang="ru-RU" dirty="0" err="1" smtClean="0"/>
              <a:t>React</a:t>
            </a:r>
            <a:r>
              <a:rPr lang="ru-RU" dirty="0" smtClean="0"/>
              <a:t>‑компонентов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Классы, а не </a:t>
            </a:r>
            <a:r>
              <a:rPr lang="ru-RU" dirty="0" err="1" smtClean="0"/>
              <a:t>inline</a:t>
            </a:r>
            <a:r>
              <a:rPr lang="ru-RU" dirty="0" smtClean="0"/>
              <a:t>‑стили. Для </a:t>
            </a:r>
            <a:r>
              <a:rPr lang="ru-RU" dirty="0" err="1" smtClean="0"/>
              <a:t>Flex</a:t>
            </a:r>
            <a:r>
              <a:rPr lang="ru-RU" dirty="0" smtClean="0"/>
              <a:t>/</a:t>
            </a:r>
            <a:r>
              <a:rPr lang="ru-RU" dirty="0" err="1" smtClean="0"/>
              <a:t>Grid</a:t>
            </a:r>
            <a:r>
              <a:rPr lang="ru-RU" dirty="0" smtClean="0"/>
              <a:t>/</a:t>
            </a:r>
            <a:r>
              <a:rPr lang="ru-RU" dirty="0" err="1" smtClean="0"/>
              <a:t>hover</a:t>
            </a:r>
            <a:r>
              <a:rPr lang="ru-RU" dirty="0" smtClean="0"/>
              <a:t> используйте CSS‑классы. </a:t>
            </a:r>
            <a:r>
              <a:rPr lang="ru-RU" dirty="0" err="1" smtClean="0"/>
              <a:t>Inline</a:t>
            </a:r>
            <a:r>
              <a:rPr lang="ru-RU" dirty="0" smtClean="0"/>
              <a:t>‑стили не поддерживают :</a:t>
            </a:r>
            <a:r>
              <a:rPr lang="ru-RU" dirty="0" err="1" smtClean="0"/>
              <a:t>hover</a:t>
            </a:r>
            <a:r>
              <a:rPr lang="ru-RU" dirty="0" smtClean="0"/>
              <a:t> и медиа‑запросы.</a:t>
            </a:r>
          </a:p>
          <a:p>
            <a:pPr marL="0" indent="0">
              <a:buNone/>
            </a:pPr>
            <a:r>
              <a:rPr lang="ru-RU" dirty="0" err="1" smtClean="0"/>
              <a:t>Переиспользуемость</a:t>
            </a:r>
            <a:r>
              <a:rPr lang="ru-RU" dirty="0" smtClean="0"/>
              <a:t>. Делайте классы максимально общими (.</a:t>
            </a:r>
            <a:r>
              <a:rPr lang="ru-RU" dirty="0" err="1" smtClean="0"/>
              <a:t>nav-list</a:t>
            </a:r>
            <a:r>
              <a:rPr lang="ru-RU" dirty="0" smtClean="0"/>
              <a:t>, .</a:t>
            </a:r>
            <a:r>
              <a:rPr lang="ru-RU" dirty="0" err="1" smtClean="0"/>
              <a:t>articles-grid</a:t>
            </a:r>
            <a:r>
              <a:rPr lang="ru-RU" dirty="0" smtClean="0"/>
              <a:t>), чтобы их можно было использовать в разных компонентах.</a:t>
            </a:r>
          </a:p>
          <a:p>
            <a:pPr marL="0" indent="0">
              <a:buNone/>
            </a:pPr>
            <a:r>
              <a:rPr lang="ru-RU" dirty="0" smtClean="0"/>
              <a:t>Изоляция стилей. Если проект большой — используйте CSS </a:t>
            </a:r>
            <a:r>
              <a:rPr lang="ru-RU" dirty="0" err="1" smtClean="0"/>
              <a:t>Modules</a:t>
            </a:r>
            <a:r>
              <a:rPr lang="ru-RU" dirty="0" smtClean="0"/>
              <a:t> или </a:t>
            </a:r>
            <a:r>
              <a:rPr lang="ru-RU" dirty="0" err="1" smtClean="0"/>
              <a:t>styled‑components</a:t>
            </a:r>
            <a:r>
              <a:rPr lang="ru-RU" dirty="0" smtClean="0"/>
              <a:t>, чтобы стили не «утекали» между компонентами.</a:t>
            </a:r>
          </a:p>
          <a:p>
            <a:pPr marL="0" indent="0">
              <a:buNone/>
            </a:pPr>
            <a:r>
              <a:rPr lang="ru-RU" dirty="0" smtClean="0"/>
              <a:t>Производительность. Избегайте анимации свойств, которые вызывают перерисовку макета (</a:t>
            </a:r>
            <a:r>
              <a:rPr lang="ru-RU" dirty="0" err="1" smtClean="0"/>
              <a:t>layout</a:t>
            </a:r>
            <a:r>
              <a:rPr lang="ru-RU" dirty="0" smtClean="0"/>
              <a:t>). Лучше анимировать </a:t>
            </a:r>
            <a:r>
              <a:rPr lang="ru-RU" dirty="0" err="1" smtClean="0"/>
              <a:t>transform</a:t>
            </a:r>
            <a:r>
              <a:rPr lang="ru-RU" dirty="0" smtClean="0"/>
              <a:t> и </a:t>
            </a:r>
            <a:r>
              <a:rPr lang="ru-RU" dirty="0" err="1" smtClean="0"/>
              <a:t>opacity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918571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Как это выглядит в файловой структуре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src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 smtClean="0"/>
              <a:t>├── </a:t>
            </a:r>
            <a:r>
              <a:rPr lang="en-US" dirty="0" err="1" smtClean="0"/>
              <a:t>App.jsx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├── App.css</a:t>
            </a:r>
          </a:p>
          <a:p>
            <a:pPr marL="0" indent="0">
              <a:buNone/>
            </a:pPr>
            <a:r>
              <a:rPr lang="en-US" dirty="0" smtClean="0"/>
              <a:t>├── components/</a:t>
            </a:r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Header.jsx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├── Header.css</a:t>
            </a:r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Nav.jsx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├── Nav.css</a:t>
            </a:r>
          </a:p>
          <a:p>
            <a:pPr marL="0" indent="0">
              <a:buNone/>
            </a:pPr>
            <a:r>
              <a:rPr lang="en-US" dirty="0" smtClean="0"/>
              <a:t>│   ├── </a:t>
            </a:r>
            <a:r>
              <a:rPr lang="en-US" dirty="0" err="1" smtClean="0"/>
              <a:t>MainContent.jsx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├── MainContent.css</a:t>
            </a:r>
          </a:p>
          <a:p>
            <a:pPr marL="0" indent="0">
              <a:buNone/>
            </a:pPr>
            <a:r>
              <a:rPr lang="en-US" dirty="0" smtClean="0"/>
              <a:t>│   └── </a:t>
            </a:r>
            <a:r>
              <a:rPr lang="en-US" dirty="0" err="1" smtClean="0"/>
              <a:t>Footer.jsx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│   └── Footer.css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284671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6305</TotalTime>
  <Words>5781</Words>
  <Application>Microsoft Office PowerPoint</Application>
  <PresentationFormat>Произвольный</PresentationFormat>
  <Paragraphs>804</Paragraphs>
  <Slides>63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4" baseType="lpstr">
      <vt:lpstr>Тема Office</vt:lpstr>
      <vt:lpstr>Введение и основы HTML</vt:lpstr>
      <vt:lpstr>Вступление и мотивация </vt:lpstr>
      <vt:lpstr>Инструментарий для демонстрации и работы</vt:lpstr>
      <vt:lpstr>Шаг 2. Выберите инструмент для создания проекта </vt:lpstr>
      <vt:lpstr>Пояснение</vt:lpstr>
      <vt:lpstr>Шаг 3. Установите зависимости и запустите</vt:lpstr>
      <vt:lpstr>Шаг 4. Откройте проект в редакторе </vt:lpstr>
      <vt:lpstr>Запускаем React и смотрим, как это устроено </vt:lpstr>
      <vt:lpstr>🎯 Введение: От классического веба к современному React </vt:lpstr>
      <vt:lpstr>Как устроен веб: HTTP/HTTPS, клиент и сервер (в связке с React)</vt:lpstr>
      <vt:lpstr>🌐 HTTP/HTTPS и Клиент-Серверная Архитектура </vt:lpstr>
      <vt:lpstr>1.2 HTTP протокол </vt:lpstr>
      <vt:lpstr>1.3 HTTPS = HTTP + SSL/TLS </vt:lpstr>
      <vt:lpstr>HTML</vt:lpstr>
      <vt:lpstr>Файл public/index.html (то, что видно в браузере как исходный HTML): </vt:lpstr>
      <vt:lpstr>Файл src/main.jsx (точка входа React): </vt:lpstr>
      <vt:lpstr>Файл src/App.jsx (корневой компонент, который «живёт» внутри &lt;body&gt;): </vt:lpstr>
      <vt:lpstr>  </vt:lpstr>
      <vt:lpstr>В React: выносят в отдельный компонент Header, который рендерится на всех страницах. </vt:lpstr>
      <vt:lpstr>&lt;main&gt; — основное содержимое страницы (уникальный контент)</vt:lpstr>
      <vt:lpstr>&lt;section&gt; — тематическая секция </vt:lpstr>
      <vt:lpstr>Что такое пропсы простыми словами</vt:lpstr>
      <vt:lpstr>&lt;article&gt; — самодостаточный фрагмент контента (новость, пост, товар). </vt:lpstr>
      <vt:lpstr>&lt;footer&gt; — заключительная часть страницы или секции (контакты, копирайт, ссылки) </vt:lpstr>
      <vt:lpstr>&lt;nav&gt; — навигация (меню, список ссылок)</vt:lpstr>
      <vt:lpstr>Мини‑шпаргалка: «что где лежит» (простыми словами) </vt:lpstr>
      <vt:lpstr> Импортируем компоненты в App() </vt:lpstr>
      <vt:lpstr>Что происходит «под капотом» </vt:lpstr>
      <vt:lpstr>Простой пример: «было» и «стало» </vt:lpstr>
      <vt:lpstr>Важные нюансы</vt:lpstr>
      <vt:lpstr>Как это выглядит в файловой структуре </vt:lpstr>
      <vt:lpstr>Практическое задание </vt:lpstr>
      <vt:lpstr>Блочная модель (Box Model) и отступы (критично для React‑вёрстки) </vt:lpstr>
      <vt:lpstr>CSS‑селекторы, каскад и специфичность (и почему это важно в React) </vt:lpstr>
      <vt:lpstr>Селекторы по тегу: header, section </vt:lpstr>
      <vt:lpstr>Селекторы по классу: .hero, .contacts </vt:lpstr>
      <vt:lpstr>В компонентах: </vt:lpstr>
      <vt:lpstr>Селекторы по вложенности: header a </vt:lpstr>
      <vt:lpstr>В компоненте: </vt:lpstr>
      <vt:lpstr>Псевдоклассы: :hover, :focus </vt:lpstr>
      <vt:lpstr>В компоненте: </vt:lpstr>
      <vt:lpstr>Как это собрать в учебном проекте (Vite/CRA) </vt:lpstr>
      <vt:lpstr>Файл src/components/Header/Header.jsx: </vt:lpstr>
      <vt:lpstr>Частые ошибки и как их избежать </vt:lpstr>
      <vt:lpstr>Практическое задание</vt:lpstr>
      <vt:lpstr>Добавляем пропсы в семантические компоненты </vt:lpstr>
      <vt:lpstr>Nav.jsx </vt:lpstr>
      <vt:lpstr>MainContent.jsx </vt:lpstr>
      <vt:lpstr>Footer.jsx </vt:lpstr>
      <vt:lpstr>Передаём пропсы из App() </vt:lpstr>
      <vt:lpstr> Что происходит «под капотом» Когда React рендерит App: </vt:lpstr>
      <vt:lpstr>Важные нюансы </vt:lpstr>
      <vt:lpstr>Практическое задание </vt:lpstr>
      <vt:lpstr>Flex/Grid, адаптивность, hover‑эффекты (и как это использовать в компонентах </vt:lpstr>
      <vt:lpstr>Flex в семантических компонентах (на примере &lt;nav&gt;) </vt:lpstr>
      <vt:lpstr>Nav.css Что это даёт: Семантика &lt;nav&gt; остаётся для доступности. Flex делает меню в строку и центрирует элементы.:hover + transition дают мягкий эффект при наведении.  </vt:lpstr>
      <vt:lpstr>Grid в семантических компонентах (на примере &lt;main&gt; с карточками) </vt:lpstr>
      <vt:lpstr>MainContent.css </vt:lpstr>
      <vt:lpstr>Адаптивность: медиа‑запросы и «mobile‑first» Добавим медиа‑запросы, чтобы на мобильных менять раскладку и отступы. </vt:lpstr>
      <vt:lpstr>Памятка</vt:lpstr>
      <vt:lpstr>Практическое задание </vt:lpstr>
      <vt:lpstr>Важные нюансы для React‑компонентов </vt:lpstr>
      <vt:lpstr> Как это выглядит в файловой структуре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и основы HTML</dc:title>
  <dc:creator>Alexander Agafonov</dc:creator>
  <cp:lastModifiedBy>Agafonov</cp:lastModifiedBy>
  <cp:revision>55</cp:revision>
  <dcterms:created xsi:type="dcterms:W3CDTF">2026-08-20T05:34:46Z</dcterms:created>
  <dcterms:modified xsi:type="dcterms:W3CDTF">2026-09-01T14:05:09Z</dcterms:modified>
</cp:coreProperties>
</file>