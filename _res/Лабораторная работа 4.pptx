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6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1201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2651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7536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180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9138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4259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2072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0856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0199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5949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6768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A1331-D829-45CF-8D01-9647BD08A373}" type="datetimeFigureOut">
              <a:rPr lang="ru-RU" smtClean="0"/>
              <a:pPr/>
              <a:t>20.09.2026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EA33E-1D92-4210-894B-E4C2B97327F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6018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Лабораторная работа 4. Калькулятор скидок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 smtClean="0"/>
              <a:t>Цель </a:t>
            </a:r>
            <a:r>
              <a:rPr lang="ru-RU" b="1" dirty="0"/>
              <a:t>работы</a:t>
            </a:r>
            <a:endParaRPr lang="ru-RU" dirty="0"/>
          </a:p>
          <a:p>
            <a:r>
              <a:rPr lang="ru-RU" dirty="0"/>
              <a:t>Научиться управлять состоянием формы с несколькими взаимосвязанными полями через </a:t>
            </a:r>
            <a:r>
              <a:rPr lang="ru-RU" dirty="0" err="1"/>
              <a:t>useState</a:t>
            </a:r>
            <a:r>
              <a:rPr lang="ru-RU" dirty="0"/>
              <a:t>, обрабатывать события </a:t>
            </a:r>
            <a:r>
              <a:rPr lang="ru-RU" dirty="0" err="1"/>
              <a:t>onChange</a:t>
            </a:r>
            <a:r>
              <a:rPr lang="ru-RU" dirty="0"/>
              <a:t> и </a:t>
            </a:r>
            <a:r>
              <a:rPr lang="ru-RU" dirty="0" err="1"/>
              <a:t>onClick</a:t>
            </a:r>
            <a:r>
              <a:rPr lang="ru-RU" dirty="0"/>
              <a:t>, реализовать динамический расчёт цены со скидкой и НДС.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562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Постановка задачи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Создать </a:t>
            </a:r>
            <a:r>
              <a:rPr lang="ru-RU" dirty="0"/>
              <a:t>калькулятор, который:</a:t>
            </a:r>
          </a:p>
          <a:p>
            <a:pPr lvl="0"/>
            <a:r>
              <a:rPr lang="ru-RU" dirty="0"/>
              <a:t>принимает ввод цены товара;</a:t>
            </a:r>
          </a:p>
          <a:p>
            <a:pPr lvl="0"/>
            <a:r>
              <a:rPr lang="ru-RU" dirty="0"/>
              <a:t>предлагает выбор категории товара (каждая категория имеет свой процент скидки);</a:t>
            </a:r>
          </a:p>
          <a:p>
            <a:pPr lvl="0"/>
            <a:r>
              <a:rPr lang="ru-RU" dirty="0"/>
              <a:t>рассчитывает сумму скидки, цену после скидки и НДС (</a:t>
            </a:r>
            <a:r>
              <a:rPr lang="ru-RU" dirty="0" smtClean="0"/>
              <a:t>2</a:t>
            </a:r>
            <a:r>
              <a:rPr lang="en-US" dirty="0" smtClean="0"/>
              <a:t>2</a:t>
            </a:r>
            <a:r>
              <a:rPr lang="ru-RU" dirty="0" smtClean="0"/>
              <a:t>%);</a:t>
            </a:r>
            <a:endParaRPr lang="ru-RU" dirty="0"/>
          </a:p>
          <a:p>
            <a:pPr lvl="0"/>
            <a:r>
              <a:rPr lang="ru-RU" dirty="0"/>
              <a:t>выводит итоговую сумму к оплате;</a:t>
            </a:r>
          </a:p>
          <a:p>
            <a:r>
              <a:rPr lang="ru-RU" dirty="0"/>
              <a:t>показывает промежуточные вычисления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159646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928" y="179066"/>
            <a:ext cx="11559108" cy="649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423" y="235527"/>
            <a:ext cx="11483322" cy="645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Категория	Скидка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Электроника	5%</a:t>
            </a:r>
          </a:p>
          <a:p>
            <a:r>
              <a:rPr lang="ru-RU" dirty="0" smtClean="0"/>
              <a:t>Одежда	15%</a:t>
            </a:r>
          </a:p>
          <a:p>
            <a:r>
              <a:rPr lang="ru-RU" dirty="0" smtClean="0"/>
              <a:t>Продукты	10%</a:t>
            </a:r>
          </a:p>
          <a:p>
            <a:r>
              <a:rPr lang="ru-RU" dirty="0" smtClean="0"/>
              <a:t>Книги	20%</a:t>
            </a:r>
          </a:p>
          <a:p>
            <a:r>
              <a:rPr lang="ru-RU" dirty="0" smtClean="0"/>
              <a:t>Другое	0%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2485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1. Компонент калькулятора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/>
              <a:t>Создайте файл 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DiscountCalculator.jsx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import { </a:t>
            </a:r>
            <a:r>
              <a:rPr lang="en-US" dirty="0" err="1" smtClean="0"/>
              <a:t>useState</a:t>
            </a:r>
            <a:r>
              <a:rPr lang="en-US" dirty="0" smtClean="0"/>
              <a:t> } from "react";</a:t>
            </a:r>
          </a:p>
          <a:p>
            <a:pPr marL="0" indent="0">
              <a:buNone/>
            </a:pPr>
            <a:r>
              <a:rPr lang="en-US" dirty="0" smtClean="0"/>
              <a:t>import "./DiscountCalculator.css";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ru-RU" dirty="0" smtClean="0"/>
              <a:t>Справочник категорий: ключ — </a:t>
            </a:r>
            <a:r>
              <a:rPr lang="en-US" dirty="0" smtClean="0"/>
              <a:t>id, </a:t>
            </a:r>
            <a:r>
              <a:rPr lang="ru-RU" dirty="0" smtClean="0"/>
              <a:t>значение — { </a:t>
            </a:r>
            <a:r>
              <a:rPr lang="en-US" dirty="0" smtClean="0"/>
              <a:t>label, discount }</a:t>
            </a:r>
          </a:p>
          <a:p>
            <a:pPr marL="0" indent="0">
              <a:buNone/>
            </a:pPr>
            <a:r>
              <a:rPr lang="en-US" dirty="0" smtClean="0"/>
              <a:t>// discount </a:t>
            </a:r>
            <a:r>
              <a:rPr lang="ru-RU" dirty="0" smtClean="0"/>
              <a:t>хранится в процентах (число)</a:t>
            </a:r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CATEGORIES = [</a:t>
            </a:r>
          </a:p>
          <a:p>
            <a:pPr marL="0" indent="0">
              <a:buNone/>
            </a:pPr>
            <a:r>
              <a:rPr lang="en-US" dirty="0" smtClean="0"/>
              <a:t>  { id: "electronics", label: "</a:t>
            </a:r>
            <a:r>
              <a:rPr lang="ru-RU" dirty="0" smtClean="0"/>
              <a:t>Электроника", </a:t>
            </a:r>
            <a:r>
              <a:rPr lang="en-US" dirty="0" smtClean="0"/>
              <a:t>discount: 5 },</a:t>
            </a:r>
          </a:p>
          <a:p>
            <a:pPr marL="0" indent="0">
              <a:buNone/>
            </a:pPr>
            <a:r>
              <a:rPr lang="en-US" dirty="0" smtClean="0"/>
              <a:t>  { id: "clothing",    label: "</a:t>
            </a:r>
            <a:r>
              <a:rPr lang="ru-RU" dirty="0" smtClean="0"/>
              <a:t>Одежда",      </a:t>
            </a:r>
            <a:r>
              <a:rPr lang="en-US" dirty="0" smtClean="0"/>
              <a:t>discount: 15 },</a:t>
            </a:r>
          </a:p>
          <a:p>
            <a:pPr marL="0" indent="0">
              <a:buNone/>
            </a:pPr>
            <a:r>
              <a:rPr lang="en-US" dirty="0" smtClean="0"/>
              <a:t>  { id: "groceries",   label: "</a:t>
            </a:r>
            <a:r>
              <a:rPr lang="ru-RU" dirty="0" smtClean="0"/>
              <a:t>Продукты",    </a:t>
            </a:r>
            <a:r>
              <a:rPr lang="en-US" dirty="0" smtClean="0"/>
              <a:t>discount: 10 },</a:t>
            </a:r>
          </a:p>
          <a:p>
            <a:pPr marL="0" indent="0">
              <a:buNone/>
            </a:pPr>
            <a:r>
              <a:rPr lang="en-US" dirty="0" smtClean="0"/>
              <a:t>  { id: "books",       label: "</a:t>
            </a:r>
            <a:r>
              <a:rPr lang="ru-RU" dirty="0" smtClean="0"/>
              <a:t>Книги",       </a:t>
            </a:r>
            <a:r>
              <a:rPr lang="en-US" dirty="0" smtClean="0"/>
              <a:t>discount: 20 },</a:t>
            </a:r>
          </a:p>
          <a:p>
            <a:pPr marL="0" indent="0">
              <a:buNone/>
            </a:pPr>
            <a:r>
              <a:rPr lang="en-US" dirty="0" smtClean="0"/>
              <a:t>  { id: "other",       label: "</a:t>
            </a:r>
            <a:r>
              <a:rPr lang="ru-RU" dirty="0" smtClean="0"/>
              <a:t>Другое",      </a:t>
            </a:r>
            <a:r>
              <a:rPr lang="en-US" dirty="0" smtClean="0"/>
              <a:t>discount: 0 },</a:t>
            </a:r>
          </a:p>
          <a:p>
            <a:pPr marL="0" indent="0">
              <a:buNone/>
            </a:pPr>
            <a:r>
              <a:rPr lang="en-US" dirty="0" smtClean="0"/>
              <a:t>];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// </a:t>
            </a:r>
            <a:r>
              <a:rPr lang="ru-RU" dirty="0" smtClean="0"/>
              <a:t>Ставка НДС в долях (22%)</a:t>
            </a:r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VAT_RATE = 0.22;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1621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DiscountCalculator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3045" y="1301262"/>
            <a:ext cx="11007969" cy="5284175"/>
          </a:xfrm>
        </p:spPr>
        <p:txBody>
          <a:bodyPr>
            <a:normAutofit fontScale="4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DiscountCalculator</a:t>
            </a:r>
            <a:r>
              <a:rPr lang="ru-RU" dirty="0"/>
              <a:t>()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--- Состояние </a:t>
            </a:r>
            <a:r>
              <a:rPr lang="ru-RU" dirty="0" smtClean="0"/>
              <a:t>---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Исходная цена, введённая пользователем (строка — для </a:t>
            </a:r>
            <a:r>
              <a:rPr lang="ru-RU" dirty="0" err="1"/>
              <a:t>controlled</a:t>
            </a:r>
            <a:r>
              <a:rPr lang="ru-RU" dirty="0"/>
              <a:t> </a:t>
            </a:r>
            <a:r>
              <a:rPr lang="ru-RU" dirty="0" err="1"/>
              <a:t>input</a:t>
            </a:r>
            <a:r>
              <a:rPr lang="ru-RU" dirty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 err="1"/>
              <a:t>const</a:t>
            </a:r>
            <a:r>
              <a:rPr lang="en-US" dirty="0"/>
              <a:t> [price, </a:t>
            </a:r>
            <a:r>
              <a:rPr lang="en-US" dirty="0" err="1"/>
              <a:t>setPrice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 smtClean="0"/>
              <a:t>("");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// ID </a:t>
            </a:r>
            <a:r>
              <a:rPr lang="ru-RU" dirty="0"/>
              <a:t>выбранной категории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[category, </a:t>
            </a:r>
            <a:r>
              <a:rPr lang="en-US" dirty="0" err="1"/>
              <a:t>setCategory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("electronics</a:t>
            </a:r>
            <a:r>
              <a:rPr lang="en-US" dirty="0" smtClean="0"/>
              <a:t>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ru-RU" dirty="0"/>
              <a:t>// Признак того, что пользователь нажал «Рассчитать»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До первого нажатия результаты не показываем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 err="1"/>
              <a:t>const</a:t>
            </a:r>
            <a:r>
              <a:rPr lang="en-US" dirty="0"/>
              <a:t> [calculated, </a:t>
            </a:r>
            <a:r>
              <a:rPr lang="en-US" dirty="0" err="1"/>
              <a:t>setCalculated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(false</a:t>
            </a:r>
            <a:r>
              <a:rPr lang="en-US" dirty="0" smtClean="0"/>
              <a:t>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ru-RU" dirty="0"/>
              <a:t>// Сообщение об ошибке </a:t>
            </a:r>
            <a:r>
              <a:rPr lang="ru-RU" dirty="0" err="1"/>
              <a:t>валидации</a:t>
            </a:r>
            <a:r>
              <a:rPr lang="ru-RU" dirty="0"/>
              <a:t> цены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const</a:t>
            </a:r>
            <a:r>
              <a:rPr lang="ru-RU" dirty="0"/>
              <a:t> [</a:t>
            </a:r>
            <a:r>
              <a:rPr lang="ru-RU" dirty="0" err="1"/>
              <a:t>error</a:t>
            </a:r>
            <a:r>
              <a:rPr lang="ru-RU" dirty="0"/>
              <a:t>, </a:t>
            </a:r>
            <a:r>
              <a:rPr lang="ru-RU" dirty="0" err="1"/>
              <a:t>setError</a:t>
            </a:r>
            <a:r>
              <a:rPr lang="ru-RU" dirty="0"/>
              <a:t>] = </a:t>
            </a:r>
            <a:r>
              <a:rPr lang="ru-RU" dirty="0" err="1"/>
              <a:t>useState</a:t>
            </a:r>
            <a:r>
              <a:rPr lang="ru-RU" dirty="0" smtClean="0"/>
              <a:t>("");</a:t>
            </a:r>
            <a:r>
              <a:rPr lang="ru-RU" dirty="0"/>
              <a:t>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--- Обработчики событий </a:t>
            </a:r>
            <a:r>
              <a:rPr lang="ru-RU" dirty="0" smtClean="0"/>
              <a:t>---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Изменение цены: разрешаем только цифры и точку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/>
              <a:t>function </a:t>
            </a:r>
            <a:r>
              <a:rPr lang="en-US" dirty="0" err="1"/>
              <a:t>handlePriceChange</a:t>
            </a:r>
            <a:r>
              <a:rPr lang="en-US" dirty="0"/>
              <a:t>(e) {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value = </a:t>
            </a:r>
            <a:r>
              <a:rPr lang="en-US" dirty="0" err="1"/>
              <a:t>e.target.value</a:t>
            </a:r>
            <a:r>
              <a:rPr lang="en-US" dirty="0" smtClean="0"/>
              <a:t>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ru-RU" dirty="0"/>
              <a:t>// Разрешаем пустую строку (чтобы пользователь мог стереть поле)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// и числа с одной точкой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en-US" dirty="0"/>
              <a:t>if</a:t>
            </a:r>
            <a:r>
              <a:rPr lang="ru-RU" dirty="0"/>
              <a:t> (</a:t>
            </a:r>
            <a:r>
              <a:rPr lang="en-US" dirty="0"/>
              <a:t>value</a:t>
            </a:r>
            <a:r>
              <a:rPr lang="ru-RU" dirty="0"/>
              <a:t> === "" || /^\</a:t>
            </a:r>
            <a:r>
              <a:rPr lang="en-US" dirty="0"/>
              <a:t>d</a:t>
            </a:r>
            <a:r>
              <a:rPr lang="ru-RU" dirty="0"/>
              <a:t>*\.?\</a:t>
            </a:r>
            <a:r>
              <a:rPr lang="en-US" dirty="0"/>
              <a:t>d</a:t>
            </a:r>
            <a:r>
              <a:rPr lang="ru-RU" dirty="0"/>
              <a:t>*$/.</a:t>
            </a:r>
            <a:r>
              <a:rPr lang="en-US" dirty="0"/>
              <a:t>test</a:t>
            </a:r>
            <a:r>
              <a:rPr lang="ru-RU" dirty="0"/>
              <a:t>(</a:t>
            </a:r>
            <a:r>
              <a:rPr lang="en-US" dirty="0"/>
              <a:t>value</a:t>
            </a:r>
            <a:r>
              <a:rPr lang="ru-RU" dirty="0"/>
              <a:t>))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en-US" dirty="0" err="1"/>
              <a:t>setPrice</a:t>
            </a:r>
            <a:r>
              <a:rPr lang="ru-RU" dirty="0"/>
              <a:t>(</a:t>
            </a:r>
            <a:r>
              <a:rPr lang="en-US" dirty="0"/>
              <a:t>value</a:t>
            </a:r>
            <a:r>
              <a:rPr lang="ru-RU" dirty="0"/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en-US" dirty="0" err="1"/>
              <a:t>setError</a:t>
            </a:r>
            <a:r>
              <a:rPr lang="ru-RU" dirty="0"/>
              <a:t>("");         // Сбрасываем ошибку при вводе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en-US" dirty="0" err="1"/>
              <a:t>setCalculated</a:t>
            </a:r>
            <a:r>
              <a:rPr lang="ru-RU" dirty="0"/>
              <a:t>(</a:t>
            </a:r>
            <a:r>
              <a:rPr lang="en-US" dirty="0"/>
              <a:t>false</a:t>
            </a:r>
            <a:r>
              <a:rPr lang="ru-RU" dirty="0"/>
              <a:t>); // Пересчёт нужен заново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/>
              <a:t>}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4415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DiscountCalculator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1500" y="1345224"/>
            <a:ext cx="10858500" cy="5275384"/>
          </a:xfrm>
        </p:spPr>
        <p:txBody>
          <a:bodyPr>
            <a:normAutofit fontScale="4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// </a:t>
            </a:r>
            <a:r>
              <a:rPr lang="ru-RU" dirty="0"/>
              <a:t>Изменение категории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function </a:t>
            </a:r>
            <a:r>
              <a:rPr lang="en-US" dirty="0" err="1"/>
              <a:t>handleCategoryChange</a:t>
            </a:r>
            <a:r>
              <a:rPr lang="en-US" dirty="0"/>
              <a:t>(e) {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setCategory</a:t>
            </a:r>
            <a:r>
              <a:rPr lang="en-US" dirty="0"/>
              <a:t>(</a:t>
            </a:r>
            <a:r>
              <a:rPr lang="en-US" dirty="0" err="1"/>
              <a:t>e.target.value</a:t>
            </a:r>
            <a:r>
              <a:rPr lang="en-US" dirty="0"/>
              <a:t>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setCalculated</a:t>
            </a:r>
            <a:r>
              <a:rPr lang="en-US" dirty="0"/>
              <a:t>(false); // </a:t>
            </a:r>
            <a:r>
              <a:rPr lang="ru-RU" dirty="0"/>
              <a:t>Категория изменилась</a:t>
            </a:r>
            <a:r>
              <a:rPr lang="en-US" dirty="0"/>
              <a:t> — </a:t>
            </a:r>
            <a:r>
              <a:rPr lang="ru-RU" dirty="0"/>
              <a:t>результаты устарели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// </a:t>
            </a:r>
            <a:r>
              <a:rPr lang="ru-RU" dirty="0"/>
              <a:t>Нажатие кнопки</a:t>
            </a:r>
            <a:r>
              <a:rPr lang="en-US" dirty="0"/>
              <a:t> «</a:t>
            </a:r>
            <a:r>
              <a:rPr lang="ru-RU" dirty="0"/>
              <a:t>Рассчитать</a:t>
            </a:r>
            <a:r>
              <a:rPr lang="en-US" dirty="0"/>
              <a:t>»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function </a:t>
            </a:r>
            <a:r>
              <a:rPr lang="en-US" dirty="0" err="1"/>
              <a:t>handleCalculate</a:t>
            </a:r>
            <a:r>
              <a:rPr lang="en-US" dirty="0"/>
              <a:t>() {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// </a:t>
            </a:r>
            <a:r>
              <a:rPr lang="ru-RU" dirty="0" err="1"/>
              <a:t>Парсим</a:t>
            </a:r>
            <a:r>
              <a:rPr lang="ru-RU" dirty="0"/>
              <a:t> цену в число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numPrice</a:t>
            </a:r>
            <a:r>
              <a:rPr lang="en-US" dirty="0"/>
              <a:t> = </a:t>
            </a:r>
            <a:r>
              <a:rPr lang="en-US" dirty="0" err="1"/>
              <a:t>parseFloat</a:t>
            </a:r>
            <a:r>
              <a:rPr lang="en-US" dirty="0"/>
              <a:t>(price</a:t>
            </a:r>
            <a:r>
              <a:rPr lang="en-US" dirty="0" smtClean="0"/>
              <a:t>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ru-RU" dirty="0"/>
              <a:t>// </a:t>
            </a:r>
            <a:r>
              <a:rPr lang="ru-RU" dirty="0" err="1"/>
              <a:t>Валидация</a:t>
            </a:r>
            <a:r>
              <a:rPr lang="ru-RU" dirty="0"/>
              <a:t>: пустое поле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en-US" dirty="0"/>
              <a:t>if</a:t>
            </a:r>
            <a:r>
              <a:rPr lang="ru-RU" dirty="0"/>
              <a:t> (!</a:t>
            </a:r>
            <a:r>
              <a:rPr lang="en-US" dirty="0"/>
              <a:t>price</a:t>
            </a:r>
            <a:r>
              <a:rPr lang="ru-RU" dirty="0"/>
              <a:t>.</a:t>
            </a:r>
            <a:r>
              <a:rPr lang="en-US" dirty="0"/>
              <a:t>trim</a:t>
            </a:r>
            <a:r>
              <a:rPr lang="ru-RU" dirty="0"/>
              <a:t>())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en-US" dirty="0" err="1"/>
              <a:t>setError</a:t>
            </a:r>
            <a:r>
              <a:rPr lang="en-US" dirty="0"/>
              <a:t>("</a:t>
            </a:r>
            <a:r>
              <a:rPr lang="ru-RU" dirty="0"/>
              <a:t>Введите цену товара</a:t>
            </a:r>
            <a:r>
              <a:rPr lang="en-US" dirty="0"/>
              <a:t>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</a:t>
            </a:r>
            <a:r>
              <a:rPr lang="en-US" dirty="0" err="1"/>
              <a:t>setCalculated</a:t>
            </a:r>
            <a:r>
              <a:rPr lang="en-US" dirty="0"/>
              <a:t>(false);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</a:t>
            </a:r>
            <a:r>
              <a:rPr lang="ru-RU" dirty="0" err="1"/>
              <a:t>return</a:t>
            </a:r>
            <a:r>
              <a:rPr lang="ru-RU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ru-RU" dirty="0" smtClean="0"/>
              <a:t>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// </a:t>
            </a:r>
            <a:r>
              <a:rPr lang="ru-RU" dirty="0" err="1"/>
              <a:t>Валидация</a:t>
            </a:r>
            <a:r>
              <a:rPr lang="ru-RU" dirty="0"/>
              <a:t>: не число или отрицательное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ru-RU" dirty="0" err="1"/>
              <a:t>if</a:t>
            </a:r>
            <a:r>
              <a:rPr lang="ru-RU" dirty="0"/>
              <a:t> (</a:t>
            </a:r>
            <a:r>
              <a:rPr lang="ru-RU" dirty="0" err="1"/>
              <a:t>isNaN</a:t>
            </a:r>
            <a:r>
              <a:rPr lang="ru-RU" dirty="0"/>
              <a:t>(</a:t>
            </a:r>
            <a:r>
              <a:rPr lang="ru-RU" dirty="0" err="1"/>
              <a:t>numPrice</a:t>
            </a:r>
            <a:r>
              <a:rPr lang="ru-RU" dirty="0"/>
              <a:t>) || </a:t>
            </a:r>
            <a:r>
              <a:rPr lang="ru-RU" dirty="0" err="1"/>
              <a:t>numPrice</a:t>
            </a:r>
            <a:r>
              <a:rPr lang="ru-RU" dirty="0"/>
              <a:t> &lt;= 0)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ru-RU" dirty="0" err="1"/>
              <a:t>setError</a:t>
            </a:r>
            <a:r>
              <a:rPr lang="ru-RU" dirty="0"/>
              <a:t>("Цена должна быть положительным числом");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ru-RU" dirty="0" err="1"/>
              <a:t>setCalculated</a:t>
            </a:r>
            <a:r>
              <a:rPr lang="ru-RU" dirty="0"/>
              <a:t>(</a:t>
            </a:r>
            <a:r>
              <a:rPr lang="ru-RU" dirty="0" err="1"/>
              <a:t>false</a:t>
            </a:r>
            <a:r>
              <a:rPr lang="ru-RU" dirty="0"/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</a:t>
            </a:r>
            <a:r>
              <a:rPr lang="ru-RU" dirty="0" err="1"/>
              <a:t>return</a:t>
            </a:r>
            <a:r>
              <a:rPr lang="ru-RU" dirty="0"/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ru-RU" dirty="0" smtClean="0"/>
              <a:t>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// </a:t>
            </a:r>
            <a:r>
              <a:rPr lang="ru-RU" dirty="0" err="1"/>
              <a:t>Валидация</a:t>
            </a:r>
            <a:r>
              <a:rPr lang="ru-RU" dirty="0"/>
              <a:t> прошла — показываем результаты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en-US" dirty="0" err="1"/>
              <a:t>setError</a:t>
            </a:r>
            <a:r>
              <a:rPr lang="en-US" dirty="0"/>
              <a:t>("");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setCalculated</a:t>
            </a:r>
            <a:r>
              <a:rPr lang="en-US" dirty="0"/>
              <a:t>(true);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64794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function</a:t>
            </a:r>
            <a:r>
              <a:rPr lang="ru-RU" dirty="0" smtClean="0"/>
              <a:t> </a:t>
            </a:r>
            <a:r>
              <a:rPr lang="ru-RU" dirty="0" err="1" smtClean="0"/>
              <a:t>DiscountCalculator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731" y="1345224"/>
            <a:ext cx="11046069" cy="54160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Сброс формы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function </a:t>
            </a:r>
            <a:r>
              <a:rPr lang="en-US" dirty="0" err="1"/>
              <a:t>handleReset</a:t>
            </a:r>
            <a:r>
              <a:rPr lang="en-US" dirty="0"/>
              <a:t>() {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setPrice</a:t>
            </a:r>
            <a:r>
              <a:rPr lang="en-US" dirty="0"/>
              <a:t>("");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setCategory</a:t>
            </a:r>
            <a:r>
              <a:rPr lang="en-US" dirty="0"/>
              <a:t>("electronics");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setCalculated</a:t>
            </a:r>
            <a:r>
              <a:rPr lang="en-US" dirty="0"/>
              <a:t>(false);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</a:t>
            </a:r>
            <a:r>
              <a:rPr lang="ru-RU" dirty="0" err="1"/>
              <a:t>setError</a:t>
            </a:r>
            <a:r>
              <a:rPr lang="ru-RU" dirty="0"/>
              <a:t>("");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ru-RU" dirty="0" smtClean="0"/>
              <a:t>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--- Вычисления </a:t>
            </a:r>
            <a:r>
              <a:rPr lang="ru-RU" dirty="0" smtClean="0"/>
              <a:t>---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// Находим объект выбранной категории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selectedCategory</a:t>
            </a:r>
            <a:r>
              <a:rPr lang="en-US" dirty="0"/>
              <a:t> = </a:t>
            </a:r>
            <a:r>
              <a:rPr lang="en-US" dirty="0" err="1"/>
              <a:t>CATEGORIES.find</a:t>
            </a:r>
            <a:r>
              <a:rPr lang="en-US" dirty="0"/>
              <a:t>((c) =&gt; c.id === category</a:t>
            </a:r>
            <a:r>
              <a:rPr lang="en-US" dirty="0" smtClean="0"/>
              <a:t>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ru-RU" dirty="0"/>
              <a:t>// Все вычисления проводим только если </a:t>
            </a:r>
            <a:r>
              <a:rPr lang="ru-RU" dirty="0" err="1"/>
              <a:t>calculated</a:t>
            </a:r>
            <a:r>
              <a:rPr lang="ru-RU" dirty="0"/>
              <a:t> === </a:t>
            </a:r>
            <a:r>
              <a:rPr lang="ru-RU" dirty="0" err="1"/>
              <a:t>true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en-US" dirty="0"/>
              <a:t>// </a:t>
            </a:r>
            <a:r>
              <a:rPr lang="ru-RU" dirty="0"/>
              <a:t>и цена корректна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numPrice</a:t>
            </a:r>
            <a:r>
              <a:rPr lang="en-US" dirty="0"/>
              <a:t> = </a:t>
            </a:r>
            <a:r>
              <a:rPr lang="en-US" dirty="0" err="1"/>
              <a:t>parseFloat</a:t>
            </a:r>
            <a:r>
              <a:rPr lang="en-US" dirty="0"/>
              <a:t>(price) || 0;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discountPercent</a:t>
            </a:r>
            <a:r>
              <a:rPr lang="en-US" dirty="0"/>
              <a:t> = </a:t>
            </a:r>
            <a:r>
              <a:rPr lang="en-US" dirty="0" err="1"/>
              <a:t>selectedCategory</a:t>
            </a:r>
            <a:r>
              <a:rPr lang="en-US" dirty="0"/>
              <a:t> ? </a:t>
            </a:r>
            <a:r>
              <a:rPr lang="en-US" dirty="0" err="1"/>
              <a:t>selectedCategory.discount</a:t>
            </a:r>
            <a:r>
              <a:rPr lang="en-US" dirty="0"/>
              <a:t> : 0;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discountAmount</a:t>
            </a:r>
            <a:r>
              <a:rPr lang="en-US" dirty="0"/>
              <a:t> = calculated ? </a:t>
            </a:r>
            <a:r>
              <a:rPr lang="en-US" dirty="0" err="1"/>
              <a:t>numPrice</a:t>
            </a:r>
            <a:r>
              <a:rPr lang="en-US" dirty="0"/>
              <a:t> * (</a:t>
            </a:r>
            <a:r>
              <a:rPr lang="en-US" dirty="0" err="1"/>
              <a:t>discountPercent</a:t>
            </a:r>
            <a:r>
              <a:rPr lang="en-US" dirty="0"/>
              <a:t> / 100) : 0;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priceAfterDiscount</a:t>
            </a:r>
            <a:r>
              <a:rPr lang="en-US" dirty="0"/>
              <a:t> = calculated ? </a:t>
            </a:r>
            <a:r>
              <a:rPr lang="en-US" dirty="0" err="1"/>
              <a:t>numPrice</a:t>
            </a:r>
            <a:r>
              <a:rPr lang="en-US" dirty="0"/>
              <a:t> - </a:t>
            </a:r>
            <a:r>
              <a:rPr lang="en-US" dirty="0" err="1"/>
              <a:t>discountAmount</a:t>
            </a:r>
            <a:r>
              <a:rPr lang="en-US" dirty="0"/>
              <a:t> : 0;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vatAmount</a:t>
            </a:r>
            <a:r>
              <a:rPr lang="en-US" dirty="0"/>
              <a:t> = calculated ? </a:t>
            </a:r>
            <a:r>
              <a:rPr lang="en-US" dirty="0" err="1"/>
              <a:t>priceAfterDiscount</a:t>
            </a:r>
            <a:r>
              <a:rPr lang="en-US" dirty="0"/>
              <a:t> * VAT_RATE : 0;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total = calculated ? </a:t>
            </a:r>
            <a:r>
              <a:rPr lang="en-US" dirty="0" err="1"/>
              <a:t>priceAfterDiscount</a:t>
            </a:r>
            <a:r>
              <a:rPr lang="en-US" dirty="0"/>
              <a:t> + </a:t>
            </a:r>
            <a:r>
              <a:rPr lang="en-US" dirty="0" err="1"/>
              <a:t>vatAmount</a:t>
            </a:r>
            <a:r>
              <a:rPr lang="en-US" dirty="0"/>
              <a:t> : 0</a:t>
            </a:r>
            <a:r>
              <a:rPr lang="en-US" dirty="0" smtClean="0"/>
              <a:t>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ru-RU" dirty="0"/>
              <a:t>// Вспомогательная функция: форматирование в рублях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function</a:t>
            </a:r>
            <a:r>
              <a:rPr lang="ru-RU" dirty="0"/>
              <a:t> </a:t>
            </a:r>
            <a:r>
              <a:rPr lang="ru-RU" dirty="0" err="1"/>
              <a:t>formatRub</a:t>
            </a:r>
            <a:r>
              <a:rPr lang="ru-RU" dirty="0"/>
              <a:t>(</a:t>
            </a:r>
            <a:r>
              <a:rPr lang="ru-RU" dirty="0" err="1"/>
              <a:t>value</a:t>
            </a:r>
            <a:r>
              <a:rPr lang="ru-RU" dirty="0"/>
              <a:t>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</a:t>
            </a:r>
            <a:r>
              <a:rPr lang="en-US" dirty="0"/>
              <a:t>return </a:t>
            </a:r>
            <a:r>
              <a:rPr lang="en-US" dirty="0" err="1"/>
              <a:t>value.toLocaleString</a:t>
            </a:r>
            <a:r>
              <a:rPr lang="en-US" dirty="0"/>
              <a:t>("</a:t>
            </a:r>
            <a:r>
              <a:rPr lang="en-US" dirty="0" err="1"/>
              <a:t>ru</a:t>
            </a:r>
            <a:r>
              <a:rPr lang="en-US" dirty="0"/>
              <a:t>-RU", {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</a:t>
            </a:r>
            <a:r>
              <a:rPr lang="en-US" dirty="0" err="1"/>
              <a:t>minimumFractionDigits</a:t>
            </a:r>
            <a:r>
              <a:rPr lang="en-US" dirty="0"/>
              <a:t>: 2,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</a:t>
            </a:r>
            <a:r>
              <a:rPr lang="en-US" dirty="0" err="1"/>
              <a:t>maximumFractionDigits</a:t>
            </a:r>
            <a:r>
              <a:rPr lang="en-US" dirty="0"/>
              <a:t>: 2,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});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</a:t>
            </a:r>
            <a:r>
              <a:rPr lang="en-US" dirty="0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3717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// --- </a:t>
            </a:r>
            <a:r>
              <a:rPr lang="ru-RU" dirty="0" smtClean="0"/>
              <a:t>Разметка</a:t>
            </a:r>
            <a:r>
              <a:rPr lang="en-US" dirty="0" smtClean="0"/>
              <a:t> ---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2708" y="1019908"/>
            <a:ext cx="10791092" cy="5521569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return (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&lt;div </a:t>
            </a:r>
            <a:r>
              <a:rPr lang="en-US" dirty="0" err="1"/>
              <a:t>className</a:t>
            </a:r>
            <a:r>
              <a:rPr lang="en-US" dirty="0"/>
              <a:t>="calculator-wrapper"&gt;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&lt;h2 </a:t>
            </a:r>
            <a:r>
              <a:rPr lang="en-US" dirty="0" err="1"/>
              <a:t>className</a:t>
            </a:r>
            <a:r>
              <a:rPr lang="en-US" dirty="0"/>
              <a:t>="calculator-title"&gt;</a:t>
            </a:r>
            <a:r>
              <a:rPr lang="ru-RU" dirty="0"/>
              <a:t>Калькулятор скидок</a:t>
            </a:r>
            <a:r>
              <a:rPr lang="en-US" dirty="0"/>
              <a:t>&lt;/h2&gt;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{/* </a:t>
            </a:r>
            <a:r>
              <a:rPr lang="ru-RU" dirty="0"/>
              <a:t>Поле ввода цены</a:t>
            </a:r>
            <a:r>
              <a:rPr lang="en-US" dirty="0"/>
              <a:t> */}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&lt;div </a:t>
            </a:r>
            <a:r>
              <a:rPr lang="en-US" dirty="0" err="1"/>
              <a:t>className</a:t>
            </a:r>
            <a:r>
              <a:rPr lang="en-US" dirty="0"/>
              <a:t>="field"&gt;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&lt;label </a:t>
            </a:r>
            <a:r>
              <a:rPr lang="en-US" dirty="0" err="1"/>
              <a:t>htmlFor</a:t>
            </a:r>
            <a:r>
              <a:rPr lang="en-US" dirty="0"/>
              <a:t>="price"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field__label</a:t>
            </a:r>
            <a:r>
              <a:rPr lang="en-US" dirty="0"/>
              <a:t>"&gt;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</a:t>
            </a:r>
            <a:r>
              <a:rPr lang="ru-RU" dirty="0"/>
              <a:t>Цена товара</a:t>
            </a:r>
            <a:r>
              <a:rPr lang="en-US" dirty="0"/>
              <a:t> (₽)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&lt;/label&gt;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&lt;input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id="price"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type="text"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</a:t>
            </a:r>
            <a:r>
              <a:rPr lang="en-US" dirty="0" err="1"/>
              <a:t>className</a:t>
            </a:r>
            <a:r>
              <a:rPr lang="en-US" dirty="0"/>
              <a:t>={`</a:t>
            </a:r>
            <a:r>
              <a:rPr lang="en-US" dirty="0" err="1"/>
              <a:t>field__input</a:t>
            </a:r>
            <a:r>
              <a:rPr lang="en-US" dirty="0"/>
              <a:t> ${error ? "</a:t>
            </a:r>
            <a:r>
              <a:rPr lang="en-US" dirty="0" err="1"/>
              <a:t>field__input</a:t>
            </a:r>
            <a:r>
              <a:rPr lang="en-US" dirty="0"/>
              <a:t>--error" : ""}`}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value={price}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</a:t>
            </a:r>
            <a:r>
              <a:rPr lang="en-US" dirty="0" err="1"/>
              <a:t>onChange</a:t>
            </a:r>
            <a:r>
              <a:rPr lang="en-US" dirty="0"/>
              <a:t>={</a:t>
            </a:r>
            <a:r>
              <a:rPr lang="en-US" dirty="0" err="1"/>
              <a:t>handlePriceChange</a:t>
            </a:r>
            <a:r>
              <a:rPr lang="en-US" dirty="0"/>
              <a:t>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placeholder="</a:t>
            </a:r>
            <a:r>
              <a:rPr lang="ru-RU" dirty="0"/>
              <a:t>Например</a:t>
            </a:r>
            <a:r>
              <a:rPr lang="en-US" dirty="0"/>
              <a:t>: 1000"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  </a:t>
            </a:r>
            <a:r>
              <a:rPr lang="en-US" dirty="0" err="1"/>
              <a:t>inputMode</a:t>
            </a:r>
            <a:r>
              <a:rPr lang="en-US" dirty="0"/>
              <a:t>="decimal"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  </a:t>
            </a:r>
            <a:r>
              <a:rPr lang="ru-RU" dirty="0"/>
              <a:t>/&gt;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  {/* Показываем ошибку, если она есть */}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        </a:t>
            </a:r>
            <a:r>
              <a:rPr lang="en-US" dirty="0"/>
              <a:t>{error &amp;&amp; &lt;span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field__error</a:t>
            </a:r>
            <a:r>
              <a:rPr lang="en-US" dirty="0"/>
              <a:t>"&gt;{error}&lt;/span&gt;}</a:t>
            </a:r>
            <a:endParaRPr lang="ru-RU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      </a:t>
            </a:r>
            <a:r>
              <a:rPr lang="ru-RU" dirty="0"/>
              <a:t>&lt;/</a:t>
            </a:r>
            <a:r>
              <a:rPr lang="ru-RU" dirty="0" err="1"/>
              <a:t>div</a:t>
            </a:r>
            <a:r>
              <a:rPr lang="ru-RU" dirty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xmlns="" val="347696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{/* Выбор категории */}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195754"/>
            <a:ext cx="10668000" cy="5583115"/>
          </a:xfrm>
        </p:spPr>
        <p:txBody>
          <a:bodyPr>
            <a:normAutofit fontScale="4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 {/* Выбор категории */}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      &lt;</a:t>
            </a:r>
            <a:r>
              <a:rPr lang="ru-RU" dirty="0" err="1" smtClean="0"/>
              <a:t>div</a:t>
            </a:r>
            <a:r>
              <a:rPr lang="ru-RU" dirty="0" smtClean="0"/>
              <a:t> </a:t>
            </a:r>
            <a:r>
              <a:rPr lang="ru-RU" dirty="0" err="1" smtClean="0"/>
              <a:t>className</a:t>
            </a:r>
            <a:r>
              <a:rPr lang="ru-RU" dirty="0" smtClean="0"/>
              <a:t>="</a:t>
            </a:r>
            <a:r>
              <a:rPr lang="ru-RU" dirty="0" err="1" smtClean="0"/>
              <a:t>field</a:t>
            </a:r>
            <a:r>
              <a:rPr lang="ru-RU" dirty="0" smtClean="0"/>
              <a:t>"&gt;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        </a:t>
            </a:r>
            <a:r>
              <a:rPr lang="en-US" dirty="0" smtClean="0"/>
              <a:t>&lt;label </a:t>
            </a:r>
            <a:r>
              <a:rPr lang="en-US" dirty="0" err="1" smtClean="0"/>
              <a:t>htmlFor</a:t>
            </a:r>
            <a:r>
              <a:rPr lang="en-US" dirty="0" smtClean="0"/>
              <a:t>="category"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field__label</a:t>
            </a:r>
            <a:r>
              <a:rPr lang="en-US" dirty="0" smtClean="0"/>
              <a:t>"&gt;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ru-RU" dirty="0" smtClean="0"/>
              <a:t>Категория товара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&lt;/label&gt;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&lt;select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id="category"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field__input</a:t>
            </a:r>
            <a:r>
              <a:rPr lang="en-US" dirty="0" smtClean="0"/>
              <a:t> </a:t>
            </a:r>
            <a:r>
              <a:rPr lang="en-US" dirty="0" err="1" smtClean="0"/>
              <a:t>field__select</a:t>
            </a:r>
            <a:r>
              <a:rPr lang="en-US" dirty="0" smtClean="0"/>
              <a:t>"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value={category}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onChange</a:t>
            </a:r>
            <a:r>
              <a:rPr lang="en-US" dirty="0" smtClean="0"/>
              <a:t>={</a:t>
            </a:r>
            <a:r>
              <a:rPr lang="en-US" dirty="0" err="1" smtClean="0"/>
              <a:t>handleCategoryChange</a:t>
            </a:r>
            <a:r>
              <a:rPr lang="en-US" dirty="0" smtClean="0"/>
              <a:t>}        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{/* </a:t>
            </a:r>
            <a:r>
              <a:rPr lang="ru-RU" dirty="0" smtClean="0"/>
              <a:t>Генерируем</a:t>
            </a:r>
            <a:r>
              <a:rPr lang="en-US" dirty="0" smtClean="0"/>
              <a:t> &lt;option&gt; </a:t>
            </a:r>
            <a:r>
              <a:rPr lang="ru-RU" dirty="0" smtClean="0"/>
              <a:t>из справочника категорий</a:t>
            </a:r>
            <a:r>
              <a:rPr lang="en-US" dirty="0" smtClean="0"/>
              <a:t> */}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{</a:t>
            </a:r>
            <a:r>
              <a:rPr lang="en-US" dirty="0" err="1" smtClean="0"/>
              <a:t>CATEGORIES.map</a:t>
            </a:r>
            <a:r>
              <a:rPr lang="en-US" dirty="0" smtClean="0"/>
              <a:t>((cat) =&gt; (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  &lt;option key={cat.id} value={cat.id}&gt;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    {</a:t>
            </a:r>
            <a:r>
              <a:rPr lang="en-US" dirty="0" err="1" smtClean="0"/>
              <a:t>cat.label</a:t>
            </a:r>
            <a:r>
              <a:rPr lang="en-US" dirty="0" smtClean="0"/>
              <a:t>} — </a:t>
            </a:r>
            <a:r>
              <a:rPr lang="ru-RU" dirty="0" smtClean="0"/>
              <a:t>скидка</a:t>
            </a:r>
            <a:r>
              <a:rPr lang="en-US" dirty="0" smtClean="0"/>
              <a:t> {</a:t>
            </a:r>
            <a:r>
              <a:rPr lang="en-US" dirty="0" err="1" smtClean="0"/>
              <a:t>cat.discount</a:t>
            </a:r>
            <a:r>
              <a:rPr lang="en-US" dirty="0" smtClean="0"/>
              <a:t>}%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  &lt;/option&gt;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))}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&lt;/select&gt;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&lt;/div&gt;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{/* </a:t>
            </a:r>
            <a:r>
              <a:rPr lang="ru-RU" dirty="0" smtClean="0"/>
              <a:t>Кнопки</a:t>
            </a:r>
            <a:r>
              <a:rPr lang="en-US" dirty="0" smtClean="0"/>
              <a:t> */}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&lt;div </a:t>
            </a:r>
            <a:r>
              <a:rPr lang="en-US" dirty="0" err="1" smtClean="0"/>
              <a:t>className</a:t>
            </a:r>
            <a:r>
              <a:rPr lang="en-US" dirty="0" smtClean="0"/>
              <a:t>="actions"&gt;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&lt;button type="button"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btn</a:t>
            </a:r>
            <a:r>
              <a:rPr lang="en-US" dirty="0" smtClean="0"/>
              <a:t> </a:t>
            </a:r>
            <a:r>
              <a:rPr lang="en-US" dirty="0" err="1" smtClean="0"/>
              <a:t>btn</a:t>
            </a:r>
            <a:r>
              <a:rPr lang="en-US" dirty="0" smtClean="0"/>
              <a:t>--primary" </a:t>
            </a:r>
            <a:r>
              <a:rPr lang="en-US" dirty="0" err="1" smtClean="0"/>
              <a:t>onClick</a:t>
            </a:r>
            <a:r>
              <a:rPr lang="en-US" dirty="0" smtClean="0"/>
              <a:t>={</a:t>
            </a:r>
            <a:r>
              <a:rPr lang="en-US" dirty="0" err="1" smtClean="0"/>
              <a:t>handleCalculate</a:t>
            </a:r>
            <a:r>
              <a:rPr lang="en-US" dirty="0" smtClean="0"/>
              <a:t>}&gt;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ru-RU" dirty="0" smtClean="0"/>
              <a:t>Рассчитать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&lt;/button&gt;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&lt;button type="button" </a:t>
            </a:r>
            <a:r>
              <a:rPr lang="en-US" dirty="0" err="1" smtClean="0"/>
              <a:t>className</a:t>
            </a:r>
            <a:r>
              <a:rPr lang="en-US" dirty="0" smtClean="0"/>
              <a:t>="</a:t>
            </a:r>
            <a:r>
              <a:rPr lang="en-US" dirty="0" err="1" smtClean="0"/>
              <a:t>btn</a:t>
            </a:r>
            <a:r>
              <a:rPr lang="en-US" dirty="0" smtClean="0"/>
              <a:t> </a:t>
            </a:r>
            <a:r>
              <a:rPr lang="en-US" dirty="0" err="1" smtClean="0"/>
              <a:t>btn</a:t>
            </a:r>
            <a:r>
              <a:rPr lang="en-US" dirty="0" smtClean="0"/>
              <a:t>--secondary" </a:t>
            </a:r>
            <a:r>
              <a:rPr lang="en-US" dirty="0" err="1" smtClean="0"/>
              <a:t>onClick</a:t>
            </a:r>
            <a:r>
              <a:rPr lang="en-US" dirty="0" smtClean="0"/>
              <a:t>={</a:t>
            </a:r>
            <a:r>
              <a:rPr lang="en-US" dirty="0" err="1" smtClean="0"/>
              <a:t>handleReset</a:t>
            </a:r>
            <a:r>
              <a:rPr lang="en-US" dirty="0" smtClean="0"/>
              <a:t>}&gt;</a:t>
            </a:r>
            <a:endParaRPr lang="ru-RU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ru-RU" dirty="0" smtClean="0"/>
              <a:t>Сбросить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        &lt;/</a:t>
            </a:r>
            <a:r>
              <a:rPr lang="ru-RU" dirty="0" err="1" smtClean="0"/>
              <a:t>button</a:t>
            </a:r>
            <a:r>
              <a:rPr lang="ru-RU" dirty="0" smtClean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      &lt;/</a:t>
            </a:r>
            <a:r>
              <a:rPr lang="ru-RU" dirty="0" err="1" smtClean="0"/>
              <a:t>div</a:t>
            </a:r>
            <a:r>
              <a:rPr lang="ru-RU" dirty="0" smtClean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dirty="0" smtClean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xmlns="" val="366876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 {/* Результаты — показываем только после расчёта */}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677" y="1485900"/>
            <a:ext cx="11213123" cy="4967653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200" dirty="0" smtClean="0"/>
              <a:t>      </a:t>
            </a:r>
            <a:r>
              <a:rPr lang="en-US" sz="2200" dirty="0" smtClean="0"/>
              <a:t>{calculated &amp;&amp; !error &amp;&amp; (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&lt;div </a:t>
            </a:r>
            <a:r>
              <a:rPr lang="en-US" sz="2200" dirty="0" err="1" smtClean="0"/>
              <a:t>className</a:t>
            </a:r>
            <a:r>
              <a:rPr lang="en-US" sz="2200" dirty="0" smtClean="0"/>
              <a:t>="results"&gt;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&lt;h3 </a:t>
            </a:r>
            <a:r>
              <a:rPr lang="en-US" sz="2200" dirty="0" err="1" smtClean="0"/>
              <a:t>className</a:t>
            </a:r>
            <a:r>
              <a:rPr lang="en-US" sz="2200" dirty="0" smtClean="0"/>
              <a:t>="</a:t>
            </a:r>
            <a:r>
              <a:rPr lang="en-US" sz="2200" dirty="0" err="1" smtClean="0"/>
              <a:t>results__title</a:t>
            </a:r>
            <a:r>
              <a:rPr lang="en-US" sz="2200" dirty="0" smtClean="0"/>
              <a:t>"&gt;</a:t>
            </a:r>
            <a:r>
              <a:rPr lang="ru-RU" sz="2200" dirty="0" smtClean="0"/>
              <a:t>Результат расчёта</a:t>
            </a:r>
            <a:r>
              <a:rPr lang="en-US" sz="2200" dirty="0" smtClean="0"/>
              <a:t>&lt;/h3&gt;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&lt;table </a:t>
            </a:r>
            <a:r>
              <a:rPr lang="en-US" sz="2200" dirty="0" err="1" smtClean="0"/>
              <a:t>className</a:t>
            </a:r>
            <a:r>
              <a:rPr lang="en-US" sz="2200" dirty="0" smtClean="0"/>
              <a:t>="</a:t>
            </a:r>
            <a:r>
              <a:rPr lang="en-US" sz="2200" dirty="0" err="1" smtClean="0"/>
              <a:t>results__table</a:t>
            </a:r>
            <a:r>
              <a:rPr lang="en-US" sz="2200" dirty="0" smtClean="0"/>
              <a:t>"&gt;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&lt;</a:t>
            </a:r>
            <a:r>
              <a:rPr lang="en-US" sz="2200" dirty="0" err="1" smtClean="0"/>
              <a:t>tbody</a:t>
            </a:r>
            <a:r>
              <a:rPr lang="en-US" sz="2200" dirty="0" smtClean="0"/>
              <a:t>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</a:t>
            </a:r>
            <a:r>
              <a:rPr lang="ru-RU" sz="2200" dirty="0" smtClean="0"/>
              <a:t>&lt;</a:t>
            </a:r>
            <a:r>
              <a:rPr lang="en-US" sz="2200" dirty="0" err="1" smtClean="0"/>
              <a:t>tr</a:t>
            </a:r>
            <a:r>
              <a:rPr lang="ru-RU" sz="2200" dirty="0" smtClean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2200" dirty="0" smtClean="0"/>
              <a:t>                &lt;</a:t>
            </a:r>
            <a:r>
              <a:rPr lang="ru-RU" sz="2200" dirty="0" err="1" smtClean="0"/>
              <a:t>td</a:t>
            </a:r>
            <a:r>
              <a:rPr lang="ru-RU" sz="2200" dirty="0" smtClean="0"/>
              <a:t>&gt;Исходная цена&lt;/</a:t>
            </a:r>
            <a:r>
              <a:rPr lang="ru-RU" sz="2200" dirty="0" err="1" smtClean="0"/>
              <a:t>td</a:t>
            </a:r>
            <a:r>
              <a:rPr lang="ru-RU" sz="2200" dirty="0" smtClean="0"/>
              <a:t>&gt;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2200" dirty="0" smtClean="0"/>
              <a:t>                </a:t>
            </a:r>
            <a:r>
              <a:rPr lang="en-US" sz="2200" dirty="0" smtClean="0"/>
              <a:t>&lt;td </a:t>
            </a:r>
            <a:r>
              <a:rPr lang="en-US" sz="2200" dirty="0" err="1" smtClean="0"/>
              <a:t>className</a:t>
            </a:r>
            <a:r>
              <a:rPr lang="en-US" sz="2200" dirty="0" smtClean="0"/>
              <a:t>="</a:t>
            </a:r>
            <a:r>
              <a:rPr lang="en-US" sz="2200" dirty="0" err="1" smtClean="0"/>
              <a:t>results__value</a:t>
            </a:r>
            <a:r>
              <a:rPr lang="en-US" sz="2200" dirty="0" smtClean="0"/>
              <a:t>"&gt;{</a:t>
            </a:r>
            <a:r>
              <a:rPr lang="en-US" sz="2200" dirty="0" err="1" smtClean="0"/>
              <a:t>formatRub</a:t>
            </a:r>
            <a:r>
              <a:rPr lang="en-US" sz="2200" dirty="0" smtClean="0"/>
              <a:t>(</a:t>
            </a:r>
            <a:r>
              <a:rPr lang="en-US" sz="2200" dirty="0" err="1" smtClean="0"/>
              <a:t>numPrice</a:t>
            </a:r>
            <a:r>
              <a:rPr lang="en-US" sz="2200" dirty="0" smtClean="0"/>
              <a:t>)} ₽&lt;/td&gt;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&lt;/</a:t>
            </a:r>
            <a:r>
              <a:rPr lang="en-US" sz="2200" dirty="0" err="1" smtClean="0"/>
              <a:t>tr</a:t>
            </a:r>
            <a:r>
              <a:rPr lang="en-US" sz="2200" dirty="0" smtClean="0"/>
              <a:t>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&lt;</a:t>
            </a:r>
            <a:r>
              <a:rPr lang="en-US" sz="2200" dirty="0" err="1" smtClean="0"/>
              <a:t>tr</a:t>
            </a:r>
            <a:r>
              <a:rPr lang="en-US" sz="2200" dirty="0" smtClean="0"/>
              <a:t>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&lt;td&gt;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  </a:t>
            </a:r>
            <a:r>
              <a:rPr lang="ru-RU" sz="2200" dirty="0" smtClean="0"/>
              <a:t>Скидка</a:t>
            </a:r>
            <a:r>
              <a:rPr lang="en-US" sz="2200" dirty="0" smtClean="0"/>
              <a:t> ({</a:t>
            </a:r>
            <a:r>
              <a:rPr lang="en-US" sz="2200" dirty="0" err="1" smtClean="0"/>
              <a:t>discountPercent</a:t>
            </a:r>
            <a:r>
              <a:rPr lang="en-US" sz="2200" dirty="0" smtClean="0"/>
              <a:t>}%, </a:t>
            </a:r>
            <a:r>
              <a:rPr lang="ru-RU" sz="2200" dirty="0" smtClean="0"/>
              <a:t>категория</a:t>
            </a:r>
            <a:r>
              <a:rPr lang="en-US" sz="2200" dirty="0" smtClean="0"/>
              <a:t> «{</a:t>
            </a:r>
            <a:r>
              <a:rPr lang="en-US" sz="2200" dirty="0" err="1" smtClean="0"/>
              <a:t>selectedCategory.label</a:t>
            </a:r>
            <a:r>
              <a:rPr lang="en-US" sz="2200" dirty="0" smtClean="0"/>
              <a:t>}»)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&lt;/td&gt;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&lt;td </a:t>
            </a:r>
            <a:r>
              <a:rPr lang="en-US" sz="2200" dirty="0" err="1" smtClean="0"/>
              <a:t>className</a:t>
            </a:r>
            <a:r>
              <a:rPr lang="en-US" sz="2200" dirty="0" smtClean="0"/>
              <a:t>="</a:t>
            </a:r>
            <a:r>
              <a:rPr lang="en-US" sz="2200" dirty="0" err="1" smtClean="0"/>
              <a:t>results__value</a:t>
            </a:r>
            <a:r>
              <a:rPr lang="en-US" sz="2200" dirty="0" smtClean="0"/>
              <a:t> </a:t>
            </a:r>
            <a:r>
              <a:rPr lang="en-US" sz="2200" dirty="0" err="1" smtClean="0"/>
              <a:t>results__value</a:t>
            </a:r>
            <a:r>
              <a:rPr lang="en-US" sz="2200" dirty="0" smtClean="0"/>
              <a:t>--discount"&gt;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  −{</a:t>
            </a:r>
            <a:r>
              <a:rPr lang="en-US" sz="2200" dirty="0" err="1" smtClean="0"/>
              <a:t>formatRub</a:t>
            </a:r>
            <a:r>
              <a:rPr lang="en-US" sz="2200" dirty="0" smtClean="0"/>
              <a:t>(</a:t>
            </a:r>
            <a:r>
              <a:rPr lang="en-US" sz="2200" dirty="0" err="1" smtClean="0"/>
              <a:t>discountAmount</a:t>
            </a:r>
            <a:r>
              <a:rPr lang="en-US" sz="2200" dirty="0" smtClean="0"/>
              <a:t>)} ₽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  &lt;/td&gt;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&lt;/</a:t>
            </a:r>
            <a:r>
              <a:rPr lang="en-US" sz="2200" dirty="0" err="1" smtClean="0"/>
              <a:t>tr</a:t>
            </a:r>
            <a:r>
              <a:rPr lang="en-US" sz="2200" dirty="0" smtClean="0"/>
              <a:t>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 smtClean="0"/>
              <a:t>              &lt;</a:t>
            </a:r>
            <a:r>
              <a:rPr lang="en-US" sz="2200" dirty="0" err="1" smtClean="0"/>
              <a:t>tr</a:t>
            </a:r>
            <a:r>
              <a:rPr lang="en-US" sz="2200" dirty="0" smtClean="0"/>
              <a:t>&gt;</a:t>
            </a:r>
            <a:endParaRPr lang="ru-RU" sz="2200" dirty="0" smtClean="0"/>
          </a:p>
          <a:p>
            <a:pPr marL="0" indent="0">
              <a:spcBef>
                <a:spcPts val="600"/>
              </a:spcBef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104185" y="1015071"/>
            <a:ext cx="508781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 </a:t>
            </a:r>
            <a:r>
              <a:rPr lang="ru-RU" sz="1400" dirty="0" smtClean="0"/>
              <a:t>&lt;</a:t>
            </a:r>
            <a:r>
              <a:rPr lang="en-US" sz="1400" dirty="0" smtClean="0"/>
              <a:t>td</a:t>
            </a:r>
            <a:r>
              <a:rPr lang="ru-RU" sz="1400" dirty="0" smtClean="0"/>
              <a:t>&gt;Цена после скидки&lt;/</a:t>
            </a:r>
            <a:r>
              <a:rPr lang="en-US" sz="1400" dirty="0" smtClean="0"/>
              <a:t>td</a:t>
            </a:r>
            <a:r>
              <a:rPr lang="ru-RU" sz="1400" dirty="0" smtClean="0"/>
              <a:t>&gt;</a:t>
            </a:r>
          </a:p>
          <a:p>
            <a:pPr>
              <a:spcBef>
                <a:spcPts val="600"/>
              </a:spcBef>
            </a:pPr>
            <a:r>
              <a:rPr lang="ru-RU" sz="1400" dirty="0" smtClean="0"/>
              <a:t>                </a:t>
            </a:r>
            <a:r>
              <a:rPr lang="en-US" sz="1400" dirty="0" smtClean="0"/>
              <a:t>&lt;td </a:t>
            </a:r>
            <a:r>
              <a:rPr lang="en-US" sz="1400" dirty="0" err="1" smtClean="0"/>
              <a:t>className</a:t>
            </a:r>
            <a:r>
              <a:rPr lang="en-US" sz="1400" dirty="0" smtClean="0"/>
              <a:t>="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"&gt;{</a:t>
            </a:r>
            <a:r>
              <a:rPr lang="en-US" sz="1400" dirty="0" err="1" smtClean="0"/>
              <a:t>formatRub</a:t>
            </a:r>
            <a:r>
              <a:rPr lang="en-US" sz="1400" dirty="0" smtClean="0"/>
              <a:t>(</a:t>
            </a:r>
            <a:r>
              <a:rPr lang="en-US" sz="1400" dirty="0" err="1" smtClean="0"/>
              <a:t>priceAfterDiscount</a:t>
            </a:r>
            <a:r>
              <a:rPr lang="en-US" sz="1400" dirty="0" smtClean="0"/>
              <a:t>)} ₽&lt;/td&gt;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&lt;/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&lt;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  &lt;td&gt;</a:t>
            </a:r>
            <a:r>
              <a:rPr lang="ru-RU" sz="1400" dirty="0" smtClean="0"/>
              <a:t>НДС</a:t>
            </a:r>
            <a:r>
              <a:rPr lang="en-US" sz="1400" dirty="0" smtClean="0"/>
              <a:t> (</a:t>
            </a:r>
            <a:r>
              <a:rPr lang="en-US" sz="1400" dirty="0" smtClean="0"/>
              <a:t>22%)&lt;/</a:t>
            </a:r>
            <a:r>
              <a:rPr lang="en-US" sz="1400" dirty="0" smtClean="0"/>
              <a:t>td&gt;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  &lt;td </a:t>
            </a:r>
            <a:r>
              <a:rPr lang="en-US" sz="1400" dirty="0" err="1" smtClean="0"/>
              <a:t>className</a:t>
            </a:r>
            <a:r>
              <a:rPr lang="en-US" sz="1400" dirty="0" smtClean="0"/>
              <a:t>="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"&gt;+{</a:t>
            </a:r>
            <a:r>
              <a:rPr lang="en-US" sz="1400" dirty="0" err="1" smtClean="0"/>
              <a:t>formatRub</a:t>
            </a:r>
            <a:r>
              <a:rPr lang="en-US" sz="1400" dirty="0" smtClean="0"/>
              <a:t>(</a:t>
            </a:r>
            <a:r>
              <a:rPr lang="en-US" sz="1400" dirty="0" err="1" smtClean="0"/>
              <a:t>vatAmount</a:t>
            </a:r>
            <a:r>
              <a:rPr lang="en-US" sz="1400" dirty="0" smtClean="0"/>
              <a:t>)} ₽&lt;/td&gt;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&lt;/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&lt;</a:t>
            </a:r>
            <a:r>
              <a:rPr lang="en-US" sz="1400" dirty="0" err="1" smtClean="0"/>
              <a:t>tr</a:t>
            </a:r>
            <a:r>
              <a:rPr lang="en-US" sz="1400" dirty="0" smtClean="0"/>
              <a:t> </a:t>
            </a:r>
            <a:r>
              <a:rPr lang="en-US" sz="1400" dirty="0" err="1" smtClean="0"/>
              <a:t>className</a:t>
            </a:r>
            <a:r>
              <a:rPr lang="en-US" sz="1400" dirty="0" smtClean="0"/>
              <a:t>="</a:t>
            </a:r>
            <a:r>
              <a:rPr lang="en-US" sz="1400" dirty="0" err="1" smtClean="0"/>
              <a:t>results__row</a:t>
            </a:r>
            <a:r>
              <a:rPr lang="en-US" sz="1400" dirty="0" smtClean="0"/>
              <a:t>--total"&gt;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  </a:t>
            </a:r>
            <a:r>
              <a:rPr lang="ru-RU" sz="1400" dirty="0" smtClean="0"/>
              <a:t>&lt;</a:t>
            </a:r>
            <a:r>
              <a:rPr lang="ru-RU" sz="1400" dirty="0" err="1" smtClean="0"/>
              <a:t>td</a:t>
            </a:r>
            <a:r>
              <a:rPr lang="ru-RU" sz="1400" dirty="0" smtClean="0"/>
              <a:t>&gt;Итого к оплате&lt;/</a:t>
            </a:r>
            <a:r>
              <a:rPr lang="ru-RU" sz="1400" dirty="0" err="1" smtClean="0"/>
              <a:t>td</a:t>
            </a:r>
            <a:r>
              <a:rPr lang="ru-RU" sz="1400" dirty="0" smtClean="0"/>
              <a:t>&gt;</a:t>
            </a:r>
          </a:p>
          <a:p>
            <a:pPr>
              <a:spcBef>
                <a:spcPts val="600"/>
              </a:spcBef>
            </a:pPr>
            <a:r>
              <a:rPr lang="ru-RU" sz="1400" dirty="0" smtClean="0"/>
              <a:t>                </a:t>
            </a:r>
            <a:r>
              <a:rPr lang="en-US" sz="1400" dirty="0" smtClean="0"/>
              <a:t>&lt;td </a:t>
            </a:r>
            <a:r>
              <a:rPr lang="en-US" sz="1400" dirty="0" err="1" smtClean="0"/>
              <a:t>className</a:t>
            </a:r>
            <a:r>
              <a:rPr lang="en-US" sz="1400" dirty="0" smtClean="0"/>
              <a:t>="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"&gt;{</a:t>
            </a:r>
            <a:r>
              <a:rPr lang="en-US" sz="1400" dirty="0" err="1" smtClean="0"/>
              <a:t>formatRub</a:t>
            </a:r>
            <a:r>
              <a:rPr lang="en-US" sz="1400" dirty="0" smtClean="0"/>
              <a:t>(total)} ₽&lt;/td&gt;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  &lt;/</a:t>
            </a:r>
            <a:r>
              <a:rPr lang="en-US" sz="1400" dirty="0" err="1" smtClean="0"/>
              <a:t>tr</a:t>
            </a:r>
            <a:r>
              <a:rPr lang="en-US" sz="1400" dirty="0" smtClean="0"/>
              <a:t>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  &lt;/</a:t>
            </a:r>
            <a:r>
              <a:rPr lang="en-US" sz="1400" dirty="0" err="1" smtClean="0"/>
              <a:t>tbody</a:t>
            </a:r>
            <a:r>
              <a:rPr lang="en-US" sz="1400" dirty="0" smtClean="0"/>
              <a:t>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  &lt;/table&gt;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  &lt;/div&gt;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  )}</a:t>
            </a:r>
            <a:endParaRPr lang="ru-RU" sz="1400" dirty="0" smtClean="0"/>
          </a:p>
          <a:p>
            <a:pPr>
              <a:spcBef>
                <a:spcPts val="600"/>
              </a:spcBef>
            </a:pPr>
            <a:r>
              <a:rPr lang="en-US" sz="1400" dirty="0" smtClean="0"/>
              <a:t>    &lt;/div&gt;  </a:t>
            </a:r>
            <a:r>
              <a:rPr lang="ru-RU" sz="1400" dirty="0" smtClean="0"/>
              <a:t>);}</a:t>
            </a:r>
          </a:p>
          <a:p>
            <a:pPr>
              <a:spcBef>
                <a:spcPts val="600"/>
              </a:spcBef>
            </a:pPr>
            <a:r>
              <a:rPr lang="ru-RU" sz="1400" dirty="0" smtClean="0"/>
              <a:t> </a:t>
            </a:r>
            <a:r>
              <a:rPr lang="ru-RU" sz="1400" dirty="0" err="1" smtClean="0"/>
              <a:t>export</a:t>
            </a:r>
            <a:r>
              <a:rPr lang="ru-RU" sz="1400" dirty="0" smtClean="0"/>
              <a:t> </a:t>
            </a:r>
            <a:r>
              <a:rPr lang="ru-RU" sz="1400" dirty="0" err="1" smtClean="0"/>
              <a:t>default</a:t>
            </a:r>
            <a:r>
              <a:rPr lang="ru-RU" sz="1400" dirty="0" smtClean="0"/>
              <a:t> </a:t>
            </a:r>
            <a:r>
              <a:rPr lang="ru-RU" sz="1400" dirty="0" err="1" smtClean="0"/>
              <a:t>DiscountCalculator</a:t>
            </a:r>
            <a:r>
              <a:rPr lang="ru-RU" sz="1400" dirty="0" smtClean="0"/>
              <a:t>;</a:t>
            </a:r>
            <a:endParaRPr lang="ru-RU" sz="1400" dirty="0"/>
          </a:p>
        </p:txBody>
      </p:sp>
      <p:cxnSp>
        <p:nvCxnSpPr>
          <p:cNvPr id="6" name="Соединительная линия уступом 5"/>
          <p:cNvCxnSpPr/>
          <p:nvPr/>
        </p:nvCxnSpPr>
        <p:spPr>
          <a:xfrm rot="5400000" flipH="1" flipV="1">
            <a:off x="3596054" y="2540978"/>
            <a:ext cx="4360985" cy="26552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2740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Шаг 2. Стилизация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Создайте </a:t>
            </a:r>
            <a:r>
              <a:rPr lang="ru-RU" dirty="0"/>
              <a:t>файл </a:t>
            </a:r>
            <a:r>
              <a:rPr lang="ru-RU" dirty="0" err="1"/>
              <a:t>src</a:t>
            </a:r>
            <a:r>
              <a:rPr lang="ru-RU" dirty="0"/>
              <a:t>/DiscountCalculator.css:</a:t>
            </a:r>
          </a:p>
          <a:p>
            <a:pPr marL="0" indent="0">
              <a:buNone/>
            </a:pPr>
            <a:r>
              <a:rPr lang="en-US" dirty="0" smtClean="0"/>
              <a:t>/* </a:t>
            </a:r>
            <a:r>
              <a:rPr lang="en-US" dirty="0"/>
              <a:t>--- </a:t>
            </a:r>
            <a:r>
              <a:rPr lang="ru-RU" dirty="0"/>
              <a:t>Обёртка</a:t>
            </a:r>
            <a:r>
              <a:rPr lang="en-US" dirty="0"/>
              <a:t> --- */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.calculator-wrapper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max-width: 480px;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margin: 40px auto;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padding: 32px;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background: #</a:t>
            </a:r>
            <a:r>
              <a:rPr lang="en-US" dirty="0" err="1"/>
              <a:t>ffffff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border-radius: 12px;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box-shadow: 0 2px 12px </a:t>
            </a:r>
            <a:r>
              <a:rPr lang="en-US" dirty="0" err="1"/>
              <a:t>rgba</a:t>
            </a:r>
            <a:r>
              <a:rPr lang="en-US" dirty="0"/>
              <a:t>(0, 0, 0, 0.08);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font-family: system-</a:t>
            </a:r>
            <a:r>
              <a:rPr lang="en-US" dirty="0" err="1"/>
              <a:t>ui</a:t>
            </a:r>
            <a:r>
              <a:rPr lang="en-US" dirty="0"/>
              <a:t>, sans-serif;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6896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Стилизация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.calculator-title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margin: 0 0 24px;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font-size: 22px;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text-align: center;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/* --- </a:t>
            </a:r>
            <a:r>
              <a:rPr lang="ru-RU" dirty="0"/>
              <a:t>Поля</a:t>
            </a:r>
            <a:r>
              <a:rPr lang="en-US" dirty="0"/>
              <a:t> --- */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.field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margin-bottom: 20px;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display: flex;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flex-direction: column;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89785" y="1690688"/>
            <a:ext cx="55655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.field__label {</a:t>
            </a:r>
            <a:endParaRPr lang="ru-RU" smtClean="0"/>
          </a:p>
          <a:p>
            <a:r>
              <a:rPr lang="en-US" smtClean="0"/>
              <a:t>  margin-bottom: 6px;</a:t>
            </a:r>
            <a:endParaRPr lang="ru-RU" smtClean="0"/>
          </a:p>
          <a:p>
            <a:r>
              <a:rPr lang="en-US" smtClean="0"/>
              <a:t>  font-size: 14px;</a:t>
            </a:r>
            <a:endParaRPr lang="ru-RU" smtClean="0"/>
          </a:p>
          <a:p>
            <a:r>
              <a:rPr lang="en-US" smtClean="0"/>
              <a:t>  font-weight: 600;</a:t>
            </a:r>
            <a:endParaRPr lang="ru-RU" smtClean="0"/>
          </a:p>
          <a:p>
            <a:r>
              <a:rPr lang="en-US" smtClean="0"/>
              <a:t>  color: #333;</a:t>
            </a:r>
            <a:endParaRPr lang="ru-RU" smtClean="0"/>
          </a:p>
          <a:p>
            <a:r>
              <a:rPr lang="en-US" smtClean="0"/>
              <a:t>}</a:t>
            </a:r>
            <a:endParaRPr lang="ru-RU" smtClean="0"/>
          </a:p>
          <a:p>
            <a:r>
              <a:rPr lang="en-US" smtClean="0"/>
              <a:t> </a:t>
            </a:r>
            <a:endParaRPr lang="ru-RU" smtClean="0"/>
          </a:p>
          <a:p>
            <a:r>
              <a:rPr lang="en-US" smtClean="0"/>
              <a:t>.field__input {</a:t>
            </a:r>
            <a:endParaRPr lang="ru-RU" smtClean="0"/>
          </a:p>
          <a:p>
            <a:r>
              <a:rPr lang="en-US" smtClean="0"/>
              <a:t>  padding: 10px 12px;</a:t>
            </a:r>
            <a:endParaRPr lang="ru-RU" smtClean="0"/>
          </a:p>
          <a:p>
            <a:r>
              <a:rPr lang="en-US" smtClean="0"/>
              <a:t>  font-size: 15px;</a:t>
            </a:r>
            <a:endParaRPr lang="ru-RU" smtClean="0"/>
          </a:p>
          <a:p>
            <a:r>
              <a:rPr lang="en-US" smtClean="0"/>
              <a:t>  border: 2px solid #d0d5dd;</a:t>
            </a:r>
            <a:endParaRPr lang="ru-RU" smtClean="0"/>
          </a:p>
          <a:p>
            <a:r>
              <a:rPr lang="en-US" smtClean="0"/>
              <a:t>  border-radius: 8px;</a:t>
            </a:r>
            <a:endParaRPr lang="ru-RU" smtClean="0"/>
          </a:p>
          <a:p>
            <a:r>
              <a:rPr lang="en-US" smtClean="0"/>
              <a:t>  outline: none;</a:t>
            </a:r>
            <a:endParaRPr lang="ru-RU" smtClean="0"/>
          </a:p>
          <a:p>
            <a:r>
              <a:rPr lang="en-US" smtClean="0"/>
              <a:t>  transition: border-color 0.2s, box-shadow 0.2s;</a:t>
            </a:r>
            <a:endParaRPr lang="ru-RU" smtClean="0"/>
          </a:p>
          <a:p>
            <a:r>
              <a:rPr lang="en-US" smtClean="0"/>
              <a:t>  font-family: inherit;</a:t>
            </a:r>
            <a:endParaRPr lang="ru-RU" smtClean="0"/>
          </a:p>
          <a:p>
            <a:r>
              <a:rPr lang="en-US" smtClean="0"/>
              <a:t>  background: #fff;</a:t>
            </a:r>
            <a:endParaRPr lang="ru-RU" smtClean="0"/>
          </a:p>
          <a:p>
            <a:r>
              <a:rPr lang="en-US" smtClean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4382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Стилизация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7346" y="1825624"/>
            <a:ext cx="10606454" cy="45751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.field__</a:t>
            </a:r>
            <a:r>
              <a:rPr lang="en-US" dirty="0" err="1"/>
              <a:t>input:focus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border-color: #3b82f6;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box-shadow: 0 0 0 3px </a:t>
            </a:r>
            <a:r>
              <a:rPr lang="en-US" dirty="0" err="1"/>
              <a:t>rgba</a:t>
            </a:r>
            <a:r>
              <a:rPr lang="en-US" dirty="0"/>
              <a:t>(59, 130, 246, 0.15);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field__input</a:t>
            </a:r>
            <a:r>
              <a:rPr lang="en-US" dirty="0"/>
              <a:t>--error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border-color: #ef4444;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field__select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cursor: pointer;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appearance: none;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background-image: </a:t>
            </a:r>
            <a:r>
              <a:rPr lang="en-US" dirty="0" err="1"/>
              <a:t>url</a:t>
            </a:r>
            <a:r>
              <a:rPr lang="en-US" dirty="0"/>
              <a:t>("</a:t>
            </a:r>
            <a:r>
              <a:rPr lang="en-US" dirty="0" err="1"/>
              <a:t>data:image</a:t>
            </a:r>
            <a:r>
              <a:rPr lang="en-US" dirty="0"/>
              <a:t>/svg+xml,%3Csvg </a:t>
            </a:r>
            <a:r>
              <a:rPr lang="en-US" dirty="0" err="1"/>
              <a:t>xmlns</a:t>
            </a:r>
            <a:r>
              <a:rPr lang="en-US" dirty="0"/>
              <a:t>='http://www.w3.org/2000/svg' width='12' height='12' </a:t>
            </a:r>
            <a:r>
              <a:rPr lang="en-US" dirty="0" err="1"/>
              <a:t>viewBox</a:t>
            </a:r>
            <a:r>
              <a:rPr lang="en-US" dirty="0"/>
              <a:t>='0 0 12 12'%3E%3Cpath d='M3 4l3 3 3-3' stroke='%23666' stroke-width='1.5' fill='none'/%3E%3C/svg%3E");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background-repeat: no-repeat;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background-position: right 12px center;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padding-right: 32px;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56360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Комментарий </a:t>
            </a:r>
            <a:r>
              <a:rPr lang="en-US" dirty="0" smtClean="0"/>
              <a:t>SVG</a:t>
            </a:r>
            <a:r>
              <a:rPr lang="ru-RU" sz="2000" dirty="0" smtClean="0"/>
              <a:t/>
            </a:r>
            <a:br>
              <a:rPr lang="ru-RU" sz="2000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4446" y="1019908"/>
            <a:ext cx="10949354" cy="561828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Что </a:t>
            </a:r>
            <a:r>
              <a:rPr lang="ru-RU" b="1" dirty="0"/>
              <a:t>происходит по частям</a:t>
            </a:r>
            <a:endParaRPr lang="ru-RU" sz="1600" dirty="0"/>
          </a:p>
          <a:p>
            <a:pPr marL="0" lvl="0" indent="0">
              <a:buNone/>
            </a:pPr>
            <a:r>
              <a:rPr lang="ru-RU" sz="2900" dirty="0" err="1"/>
              <a:t>background-image</a:t>
            </a:r>
            <a:r>
              <a:rPr lang="ru-RU" sz="2900" dirty="0"/>
              <a:t>: </a:t>
            </a:r>
            <a:r>
              <a:rPr lang="ru-RU" sz="2900" dirty="0" err="1"/>
              <a:t>url</a:t>
            </a:r>
            <a:r>
              <a:rPr lang="ru-RU" sz="2900" dirty="0"/>
              <a:t>("...") — стандартное свойство для установки фона.</a:t>
            </a:r>
          </a:p>
          <a:p>
            <a:pPr marL="0" lvl="0" indent="0">
              <a:buNone/>
            </a:pPr>
            <a:r>
              <a:rPr lang="ru-RU" sz="2900" dirty="0" err="1"/>
              <a:t>data:image</a:t>
            </a:r>
            <a:r>
              <a:rPr lang="ru-RU" sz="2900" dirty="0"/>
              <a:t>/</a:t>
            </a:r>
            <a:r>
              <a:rPr lang="ru-RU" sz="2900" dirty="0" err="1"/>
              <a:t>svg+xml</a:t>
            </a:r>
            <a:r>
              <a:rPr lang="ru-RU" sz="2900" dirty="0"/>
              <a:t>,... — это </a:t>
            </a:r>
            <a:r>
              <a:rPr lang="ru-RU" sz="2900" dirty="0" err="1"/>
              <a:t>Data</a:t>
            </a:r>
            <a:r>
              <a:rPr lang="ru-RU" sz="2900" dirty="0"/>
              <a:t> URI: способ хранить изображение прямо в тексте (как base64, но для SVG — в виде обычного </a:t>
            </a:r>
            <a:r>
              <a:rPr lang="ru-RU" sz="2900" dirty="0" smtClean="0"/>
              <a:t>XML‑текста).</a:t>
            </a:r>
          </a:p>
          <a:p>
            <a:pPr marL="0" lvl="0" indent="0">
              <a:buNone/>
            </a:pPr>
            <a:r>
              <a:rPr lang="ru-RU" sz="2900" dirty="0" smtClean="0"/>
              <a:t> </a:t>
            </a:r>
            <a:r>
              <a:rPr lang="ru-RU" sz="2900" dirty="0"/>
              <a:t>Преимущество: не нужен отдельный файл, картинка загружается сразу вместе со стилями.</a:t>
            </a:r>
          </a:p>
          <a:p>
            <a:pPr marL="0" lvl="0" indent="0">
              <a:buNone/>
            </a:pPr>
            <a:r>
              <a:rPr lang="ru-RU" sz="2900" dirty="0"/>
              <a:t>Внутри строки — SVG‑код, который после URL‑кодирования выглядит как набор спецсимволов (%3C = &lt;, %3E = &gt; и т. д.). Если его «расшифровать», получится такой SVG:</a:t>
            </a:r>
          </a:p>
          <a:p>
            <a:pPr marL="0" indent="0">
              <a:buNone/>
            </a:pPr>
            <a:r>
              <a:rPr lang="ru-RU" sz="2900" dirty="0" err="1"/>
              <a:t>xml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&lt;</a:t>
            </a:r>
            <a:r>
              <a:rPr lang="en-US" sz="2900" dirty="0" err="1"/>
              <a:t>svg</a:t>
            </a:r>
            <a:r>
              <a:rPr lang="en-US" sz="2900" dirty="0"/>
              <a:t> </a:t>
            </a:r>
            <a:r>
              <a:rPr lang="en-US" sz="2900" dirty="0" err="1"/>
              <a:t>xmlns</a:t>
            </a:r>
            <a:r>
              <a:rPr lang="en-US" sz="2900" dirty="0"/>
              <a:t>="http://www.w3.org/2000/svg" width="12" height="12" </a:t>
            </a:r>
            <a:r>
              <a:rPr lang="en-US" sz="2900" dirty="0" err="1"/>
              <a:t>viewBox</a:t>
            </a:r>
            <a:r>
              <a:rPr lang="en-US" sz="2900" dirty="0"/>
              <a:t>="0 0 12 12"&gt;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  &lt;path d="M3 4l3 3 3-3" stroke="#666" stroke-width="1.5" fill="none" /&gt;</a:t>
            </a:r>
            <a:endParaRPr lang="ru-RU" sz="2900" dirty="0"/>
          </a:p>
          <a:p>
            <a:pPr marL="0" indent="0">
              <a:buNone/>
            </a:pPr>
            <a:r>
              <a:rPr lang="ru-RU" sz="2900" dirty="0"/>
              <a:t>&lt;/</a:t>
            </a:r>
            <a:r>
              <a:rPr lang="ru-RU" sz="2900" dirty="0" err="1"/>
              <a:t>svg</a:t>
            </a:r>
            <a:r>
              <a:rPr lang="ru-RU" sz="2900" dirty="0"/>
              <a:t>&gt;</a:t>
            </a:r>
          </a:p>
          <a:p>
            <a:pPr marL="0" indent="0">
              <a:buNone/>
            </a:pPr>
            <a:r>
              <a:rPr lang="ru-RU" b="1" dirty="0"/>
              <a:t>Разбор SVG</a:t>
            </a:r>
            <a:endParaRPr lang="ru-RU" sz="2000" dirty="0"/>
          </a:p>
          <a:p>
            <a:pPr marL="0" lvl="0" indent="0">
              <a:buNone/>
            </a:pPr>
            <a:r>
              <a:rPr lang="ru-RU" sz="2900" dirty="0"/>
              <a:t>&lt;</a:t>
            </a:r>
            <a:r>
              <a:rPr lang="ru-RU" sz="2900" dirty="0" err="1"/>
              <a:t>svg</a:t>
            </a:r>
            <a:r>
              <a:rPr lang="ru-RU" sz="2900" dirty="0"/>
              <a:t> </a:t>
            </a:r>
            <a:r>
              <a:rPr lang="ru-RU" sz="2900" dirty="0" err="1"/>
              <a:t>width</a:t>
            </a:r>
            <a:r>
              <a:rPr lang="ru-RU" sz="2900" dirty="0"/>
              <a:t>="12" </a:t>
            </a:r>
            <a:r>
              <a:rPr lang="ru-RU" sz="2900" dirty="0" err="1"/>
              <a:t>height</a:t>
            </a:r>
            <a:r>
              <a:rPr lang="ru-RU" sz="2900" dirty="0"/>
              <a:t>="12" </a:t>
            </a:r>
            <a:r>
              <a:rPr lang="ru-RU" sz="2900" dirty="0" err="1"/>
              <a:t>viewBox</a:t>
            </a:r>
            <a:r>
              <a:rPr lang="ru-RU" sz="2900" dirty="0"/>
              <a:t>="0 0 12 12"&gt; — холст 12×12 пикселей, координаты от 0 до 12.</a:t>
            </a:r>
          </a:p>
          <a:p>
            <a:pPr marL="0" lvl="0" indent="0">
              <a:buNone/>
            </a:pPr>
            <a:r>
              <a:rPr lang="ru-RU" sz="2900" dirty="0"/>
              <a:t>&lt;</a:t>
            </a:r>
            <a:r>
              <a:rPr lang="ru-RU" sz="2900" dirty="0" err="1"/>
              <a:t>path</a:t>
            </a:r>
            <a:r>
              <a:rPr lang="ru-RU" sz="2900" dirty="0"/>
              <a:t> d="M3 4l3 3 3-3" ... /&gt; — векторный путь: </a:t>
            </a:r>
          </a:p>
          <a:p>
            <a:pPr marL="457200" lvl="1" indent="0">
              <a:buNone/>
            </a:pPr>
            <a:r>
              <a:rPr lang="ru-RU" sz="2900" dirty="0"/>
              <a:t>M3 4 — переместиться в точку (3, 4).</a:t>
            </a:r>
          </a:p>
          <a:p>
            <a:pPr marL="457200" lvl="1" indent="0">
              <a:buNone/>
            </a:pPr>
            <a:r>
              <a:rPr lang="ru-RU" sz="2900" dirty="0"/>
              <a:t>l3 3 — нарисовать линию на 3 вправо и 3 вниз → попадаем в (6, 7).</a:t>
            </a:r>
          </a:p>
          <a:p>
            <a:pPr marL="457200" lvl="1" indent="0">
              <a:buNone/>
            </a:pPr>
            <a:r>
              <a:rPr lang="ru-RU" sz="2900" dirty="0"/>
              <a:t>l3-3 — ещё линия на 3 вправо и 3 вверх → попадаем в (9, 4).</a:t>
            </a:r>
          </a:p>
          <a:p>
            <a:pPr marL="0" indent="0">
              <a:buNone/>
            </a:pPr>
            <a:r>
              <a:rPr lang="ru-RU" sz="2900" dirty="0"/>
              <a:t>В итоге получается простая «галочка» или стрелка вниз (два отрезка, образующие угол).</a:t>
            </a:r>
          </a:p>
          <a:p>
            <a:pPr marL="0" lvl="0" indent="0">
              <a:buNone/>
            </a:pPr>
            <a:r>
              <a:rPr lang="ru-RU" sz="2900" dirty="0" err="1"/>
              <a:t>stroke</a:t>
            </a:r>
            <a:r>
              <a:rPr lang="ru-RU" sz="2900" dirty="0"/>
              <a:t>="#666" — цвет линии: серый.</a:t>
            </a:r>
          </a:p>
          <a:p>
            <a:pPr marL="0" lvl="0" indent="0">
              <a:buNone/>
            </a:pPr>
            <a:r>
              <a:rPr lang="ru-RU" sz="2900" dirty="0" err="1"/>
              <a:t>stroke-width</a:t>
            </a:r>
            <a:r>
              <a:rPr lang="ru-RU" sz="2900" dirty="0"/>
              <a:t>="1.5" — толщина линии 1.5 единицы.</a:t>
            </a:r>
          </a:p>
          <a:p>
            <a:pPr marL="0" lvl="0" indent="0">
              <a:buNone/>
            </a:pPr>
            <a:r>
              <a:rPr lang="ru-RU" sz="2900" dirty="0" err="1"/>
              <a:t>fill</a:t>
            </a:r>
            <a:r>
              <a:rPr lang="ru-RU" sz="2900" dirty="0"/>
              <a:t>="</a:t>
            </a:r>
            <a:r>
              <a:rPr lang="ru-RU" sz="2900" dirty="0" err="1"/>
              <a:t>none</a:t>
            </a:r>
            <a:r>
              <a:rPr lang="ru-RU" sz="2900" dirty="0"/>
              <a:t>" — внутри фигуры нет заливки, виден только </a:t>
            </a:r>
            <a:r>
              <a:rPr lang="ru-RU" sz="2900" dirty="0" smtClean="0"/>
              <a:t>контур.</a:t>
            </a:r>
          </a:p>
          <a:p>
            <a:pPr marL="0" indent="0">
              <a:buNone/>
            </a:pPr>
            <a:endParaRPr lang="ru-RU" sz="2900" dirty="0"/>
          </a:p>
        </p:txBody>
      </p:sp>
    </p:spTree>
    <p:extLst>
      <p:ext uri="{BB962C8B-B14F-4D97-AF65-F5344CB8AC3E}">
        <p14:creationId xmlns:p14="http://schemas.microsoft.com/office/powerpoint/2010/main" xmlns="" val="27180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Стилизация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2031" y="1336431"/>
            <a:ext cx="10931769" cy="53721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/* --- </a:t>
            </a:r>
            <a:r>
              <a:rPr lang="ru-RU" dirty="0"/>
              <a:t>Текст ошибки</a:t>
            </a:r>
            <a:r>
              <a:rPr lang="en-US" dirty="0"/>
              <a:t> --- </a:t>
            </a:r>
            <a:r>
              <a:rPr lang="en-US" dirty="0" smtClean="0"/>
              <a:t>*/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field__error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margin-top: 4px;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font-size: 13px;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color: #ef4444</a:t>
            </a:r>
            <a:r>
              <a:rPr lang="en-US" dirty="0" smtClean="0"/>
              <a:t>;}</a:t>
            </a: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/* --- </a:t>
            </a:r>
            <a:r>
              <a:rPr lang="ru-RU" dirty="0"/>
              <a:t>Кнопки</a:t>
            </a:r>
            <a:r>
              <a:rPr lang="en-US" dirty="0"/>
              <a:t> --- </a:t>
            </a:r>
            <a:r>
              <a:rPr lang="en-US" dirty="0" smtClean="0"/>
              <a:t>*/</a:t>
            </a: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.actions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display: flex;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gap: 12px;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margin-bottom: 24px</a:t>
            </a:r>
            <a:r>
              <a:rPr lang="en-US" dirty="0" smtClean="0"/>
              <a:t>;}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btn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flex: 1;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padding: 12px;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font-size: 16px;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font-weight: 600;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border: none;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border-radius: 8px;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cursor: pointer;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transition: background 0.2s</a:t>
            </a:r>
            <a:r>
              <a:rPr lang="en-US" dirty="0" smtClean="0"/>
              <a:t>;}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611815" y="921519"/>
            <a:ext cx="49061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.btn--primary {</a:t>
            </a:r>
            <a:endParaRPr lang="ru-RU"/>
          </a:p>
          <a:p>
            <a:r>
              <a:rPr lang="en-US"/>
              <a:t>  background: #3b82f6;</a:t>
            </a:r>
            <a:endParaRPr lang="ru-RU"/>
          </a:p>
          <a:p>
            <a:r>
              <a:rPr lang="en-US"/>
              <a:t>  color: #fff;</a:t>
            </a:r>
            <a:endParaRPr lang="ru-RU"/>
          </a:p>
          <a:p>
            <a:r>
              <a:rPr lang="en-US"/>
              <a:t>}</a:t>
            </a:r>
            <a:endParaRPr lang="ru-RU"/>
          </a:p>
          <a:p>
            <a:r>
              <a:rPr lang="en-US"/>
              <a:t> </a:t>
            </a:r>
            <a:endParaRPr lang="ru-RU"/>
          </a:p>
          <a:p>
            <a:r>
              <a:rPr lang="en-US"/>
              <a:t>.btn--primary:hover {</a:t>
            </a:r>
            <a:endParaRPr lang="ru-RU"/>
          </a:p>
          <a:p>
            <a:r>
              <a:rPr lang="en-US"/>
              <a:t>  background: #2563eb;</a:t>
            </a:r>
            <a:endParaRPr lang="ru-RU"/>
          </a:p>
          <a:p>
            <a:r>
              <a:rPr lang="en-US"/>
              <a:t>}</a:t>
            </a:r>
            <a:endParaRPr lang="ru-RU"/>
          </a:p>
          <a:p>
            <a:r>
              <a:rPr lang="en-US"/>
              <a:t> </a:t>
            </a:r>
            <a:endParaRPr lang="ru-RU"/>
          </a:p>
          <a:p>
            <a:r>
              <a:rPr lang="en-US"/>
              <a:t>.btn--primary:active {</a:t>
            </a:r>
            <a:endParaRPr lang="ru-RU"/>
          </a:p>
          <a:p>
            <a:r>
              <a:rPr lang="en-US"/>
              <a:t>  background: #1d4ed8;</a:t>
            </a:r>
            <a:endParaRPr lang="ru-RU"/>
          </a:p>
          <a:p>
            <a:r>
              <a:rPr lang="en-US"/>
              <a:t>}</a:t>
            </a:r>
            <a:endParaRPr lang="ru-RU"/>
          </a:p>
          <a:p>
            <a:r>
              <a:rPr lang="en-US"/>
              <a:t> </a:t>
            </a:r>
            <a:endParaRPr lang="ru-RU"/>
          </a:p>
          <a:p>
            <a:r>
              <a:rPr lang="en-US"/>
              <a:t>.btn--secondary {</a:t>
            </a:r>
            <a:endParaRPr lang="ru-RU"/>
          </a:p>
          <a:p>
            <a:r>
              <a:rPr lang="en-US"/>
              <a:t>  background: #f3f4f6;</a:t>
            </a:r>
            <a:endParaRPr lang="ru-RU"/>
          </a:p>
          <a:p>
            <a:r>
              <a:rPr lang="en-US"/>
              <a:t>  color: #374151;</a:t>
            </a:r>
            <a:endParaRPr lang="ru-RU"/>
          </a:p>
          <a:p>
            <a:r>
              <a:rPr lang="en-US"/>
              <a:t>}</a:t>
            </a:r>
            <a:endParaRPr lang="ru-RU"/>
          </a:p>
          <a:p>
            <a:r>
              <a:rPr lang="en-US"/>
              <a:t> </a:t>
            </a:r>
            <a:endParaRPr lang="ru-RU"/>
          </a:p>
          <a:p>
            <a:r>
              <a:rPr lang="en-US"/>
              <a:t>.btn--secondary:hover {</a:t>
            </a:r>
            <a:endParaRPr lang="ru-RU"/>
          </a:p>
          <a:p>
            <a:r>
              <a:rPr lang="en-US"/>
              <a:t>  background: #e5e7eb;</a:t>
            </a:r>
            <a:endParaRPr lang="ru-RU"/>
          </a:p>
          <a:p>
            <a:r>
              <a:rPr lang="en-US"/>
              <a:t>}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4160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Стилизация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8068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/* --- </a:t>
            </a:r>
            <a:r>
              <a:rPr lang="ru-RU" dirty="0"/>
              <a:t>Результаты</a:t>
            </a:r>
            <a:r>
              <a:rPr lang="en-US" dirty="0"/>
              <a:t> --- */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smtClean="0"/>
              <a:t>.</a:t>
            </a:r>
            <a:r>
              <a:rPr lang="en-US" dirty="0"/>
              <a:t>results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padding-top: 8px;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border-top: 1px solid #e5e7eb</a:t>
            </a:r>
            <a:r>
              <a:rPr lang="en-US" dirty="0" smtClean="0"/>
              <a:t>;}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smtClean="0"/>
              <a:t>.</a:t>
            </a:r>
            <a:r>
              <a:rPr lang="en-US" dirty="0" err="1"/>
              <a:t>results__title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margin: 16px 0 12px;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font-size: 16px;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color: #6b7280</a:t>
            </a:r>
            <a:r>
              <a:rPr lang="en-US" dirty="0" smtClean="0"/>
              <a:t>;}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/>
              <a:t>results__table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width: 100%;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border-collapse: collapse;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font-size: 15px</a:t>
            </a:r>
            <a:r>
              <a:rPr lang="en-US" dirty="0" smtClean="0"/>
              <a:t>;}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.</a:t>
            </a:r>
            <a:r>
              <a:rPr lang="en-US" dirty="0" err="1"/>
              <a:t>results__table</a:t>
            </a:r>
            <a:r>
              <a:rPr lang="en-US" dirty="0"/>
              <a:t> td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padding: 8px 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border-bottom: 1px solid #f3f4f6</a:t>
            </a:r>
            <a:r>
              <a:rPr lang="en-US" dirty="0" smtClean="0"/>
              <a:t>;}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304084" y="1369804"/>
            <a:ext cx="367518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.</a:t>
            </a:r>
            <a:r>
              <a:rPr lang="en-US" sz="1400" dirty="0" err="1" smtClean="0"/>
              <a:t>results__table</a:t>
            </a:r>
            <a:r>
              <a:rPr lang="en-US" sz="1400" dirty="0" smtClean="0"/>
              <a:t> </a:t>
            </a:r>
            <a:r>
              <a:rPr lang="en-US" sz="1400" dirty="0" err="1" smtClean="0"/>
              <a:t>td:first-child</a:t>
            </a:r>
            <a:r>
              <a:rPr lang="en-US" sz="1400" dirty="0" smtClean="0"/>
              <a:t> {</a:t>
            </a:r>
            <a:endParaRPr lang="ru-RU" sz="1400" dirty="0" smtClean="0"/>
          </a:p>
          <a:p>
            <a:r>
              <a:rPr lang="en-US" sz="1400" dirty="0" smtClean="0"/>
              <a:t>  color: #6b7280;</a:t>
            </a:r>
            <a:endParaRPr lang="ru-RU" sz="1400" dirty="0" smtClean="0"/>
          </a:p>
          <a:p>
            <a:r>
              <a:rPr lang="en-US" sz="1400" dirty="0" smtClean="0"/>
              <a:t>}</a:t>
            </a:r>
            <a:endParaRPr lang="ru-RU" sz="1400" dirty="0" smtClean="0"/>
          </a:p>
          <a:p>
            <a:r>
              <a:rPr lang="en-US" sz="1400" dirty="0" smtClean="0"/>
              <a:t>.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 {</a:t>
            </a:r>
            <a:endParaRPr lang="ru-RU" sz="1400" dirty="0" smtClean="0"/>
          </a:p>
          <a:p>
            <a:r>
              <a:rPr lang="en-US" sz="1400" dirty="0" smtClean="0"/>
              <a:t>  text-align: right;</a:t>
            </a:r>
            <a:endParaRPr lang="ru-RU" sz="1400" dirty="0" smtClean="0"/>
          </a:p>
          <a:p>
            <a:r>
              <a:rPr lang="en-US" sz="1400" dirty="0" smtClean="0"/>
              <a:t>  font-weight: 600;</a:t>
            </a:r>
            <a:endParaRPr lang="ru-RU" sz="1400" dirty="0" smtClean="0"/>
          </a:p>
          <a:p>
            <a:r>
              <a:rPr lang="en-US" sz="1400" dirty="0" smtClean="0"/>
              <a:t>  color: #111827;</a:t>
            </a:r>
            <a:endParaRPr lang="ru-RU" sz="1400" dirty="0" smtClean="0"/>
          </a:p>
          <a:p>
            <a:r>
              <a:rPr lang="en-US" sz="1400" dirty="0" smtClean="0"/>
              <a:t>  white-space: </a:t>
            </a:r>
            <a:r>
              <a:rPr lang="en-US" sz="1400" dirty="0" err="1" smtClean="0"/>
              <a:t>nowrap</a:t>
            </a:r>
            <a:r>
              <a:rPr lang="en-US" sz="1400" dirty="0" smtClean="0"/>
              <a:t>;}</a:t>
            </a:r>
            <a:endParaRPr lang="ru-RU" sz="1400" dirty="0" smtClean="0"/>
          </a:p>
          <a:p>
            <a:r>
              <a:rPr lang="en-US" sz="1400" dirty="0" smtClean="0"/>
              <a:t>.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--discount {</a:t>
            </a:r>
            <a:endParaRPr lang="ru-RU" sz="1400" dirty="0" smtClean="0"/>
          </a:p>
          <a:p>
            <a:r>
              <a:rPr lang="en-US" sz="1400" dirty="0" smtClean="0"/>
              <a:t>  color: #ef4444;</a:t>
            </a:r>
            <a:endParaRPr lang="ru-RU" sz="1400" dirty="0" smtClean="0"/>
          </a:p>
          <a:p>
            <a:r>
              <a:rPr lang="en-US" sz="1400" dirty="0" smtClean="0"/>
              <a:t>}</a:t>
            </a:r>
            <a:endParaRPr lang="ru-RU" sz="1400" dirty="0" smtClean="0"/>
          </a:p>
          <a:p>
            <a:r>
              <a:rPr lang="en-US" sz="1400" dirty="0" smtClean="0"/>
              <a:t>.</a:t>
            </a:r>
            <a:r>
              <a:rPr lang="en-US" sz="1400" dirty="0" err="1" smtClean="0"/>
              <a:t>results__row</a:t>
            </a:r>
            <a:r>
              <a:rPr lang="en-US" sz="1400" dirty="0" smtClean="0"/>
              <a:t>--total td {</a:t>
            </a:r>
            <a:endParaRPr lang="ru-RU" sz="1400" dirty="0" smtClean="0"/>
          </a:p>
          <a:p>
            <a:r>
              <a:rPr lang="en-US" sz="1400" dirty="0" smtClean="0"/>
              <a:t>  padding-top: 14px;</a:t>
            </a:r>
            <a:endParaRPr lang="ru-RU" sz="1400" dirty="0" smtClean="0"/>
          </a:p>
          <a:p>
            <a:r>
              <a:rPr lang="en-US" sz="1400" dirty="0" smtClean="0"/>
              <a:t>  border-top: 2px solid #111827;</a:t>
            </a:r>
            <a:endParaRPr lang="ru-RU" sz="1400" dirty="0" smtClean="0"/>
          </a:p>
          <a:p>
            <a:r>
              <a:rPr lang="en-US" sz="1400" dirty="0" smtClean="0"/>
              <a:t>  border-bottom: none;</a:t>
            </a:r>
            <a:endParaRPr lang="ru-RU" sz="1400" dirty="0" smtClean="0"/>
          </a:p>
          <a:p>
            <a:r>
              <a:rPr lang="en-US" sz="1400" dirty="0" smtClean="0"/>
              <a:t>  font-size: 17px;}</a:t>
            </a:r>
            <a:endParaRPr lang="ru-RU" sz="1400" dirty="0" smtClean="0"/>
          </a:p>
          <a:p>
            <a:endParaRPr lang="ru-RU" sz="1400" dirty="0" smtClean="0"/>
          </a:p>
          <a:p>
            <a:r>
              <a:rPr lang="en-US" sz="1400" dirty="0" smtClean="0"/>
              <a:t>.</a:t>
            </a:r>
            <a:r>
              <a:rPr lang="en-US" sz="1400" dirty="0" err="1" smtClean="0"/>
              <a:t>results__row</a:t>
            </a:r>
            <a:r>
              <a:rPr lang="en-US" sz="1400" dirty="0" smtClean="0"/>
              <a:t>--total </a:t>
            </a:r>
            <a:r>
              <a:rPr lang="en-US" sz="1400" dirty="0" err="1" smtClean="0"/>
              <a:t>td:first-child</a:t>
            </a:r>
            <a:r>
              <a:rPr lang="en-US" sz="1400" dirty="0" smtClean="0"/>
              <a:t> {</a:t>
            </a:r>
            <a:endParaRPr lang="ru-RU" sz="1400" dirty="0" smtClean="0"/>
          </a:p>
          <a:p>
            <a:r>
              <a:rPr lang="en-US" sz="1400" dirty="0" smtClean="0"/>
              <a:t>  color: #111827;</a:t>
            </a:r>
            <a:endParaRPr lang="ru-RU" sz="1400" dirty="0" smtClean="0"/>
          </a:p>
          <a:p>
            <a:r>
              <a:rPr lang="en-US" sz="1400" dirty="0" smtClean="0"/>
              <a:t>  font-weight: 700;}</a:t>
            </a:r>
            <a:endParaRPr lang="ru-RU" sz="1400" dirty="0" smtClean="0"/>
          </a:p>
          <a:p>
            <a:r>
              <a:rPr lang="en-US" sz="1400" dirty="0" smtClean="0"/>
              <a:t> </a:t>
            </a:r>
            <a:endParaRPr lang="ru-RU" sz="1400" dirty="0" smtClean="0"/>
          </a:p>
          <a:p>
            <a:r>
              <a:rPr lang="en-US" sz="1400" dirty="0" smtClean="0"/>
              <a:t>.</a:t>
            </a:r>
            <a:r>
              <a:rPr lang="en-US" sz="1400" dirty="0" err="1" smtClean="0"/>
              <a:t>results__row</a:t>
            </a:r>
            <a:r>
              <a:rPr lang="en-US" sz="1400" dirty="0" smtClean="0"/>
              <a:t>--total .</a:t>
            </a:r>
            <a:r>
              <a:rPr lang="en-US" sz="1400" dirty="0" err="1" smtClean="0"/>
              <a:t>results__value</a:t>
            </a:r>
            <a:r>
              <a:rPr lang="en-US" sz="1400" dirty="0" smtClean="0"/>
              <a:t> {</a:t>
            </a:r>
            <a:endParaRPr lang="ru-RU" sz="1400" dirty="0" smtClean="0"/>
          </a:p>
          <a:p>
            <a:r>
              <a:rPr lang="en-US" sz="1400" dirty="0" smtClean="0"/>
              <a:t>  font-size: 19px;</a:t>
            </a:r>
            <a:endParaRPr lang="ru-RU" sz="1400" dirty="0" smtClean="0"/>
          </a:p>
          <a:p>
            <a:r>
              <a:rPr lang="en-US" sz="1400" dirty="0" smtClean="0"/>
              <a:t>  color: #2563eb;</a:t>
            </a:r>
            <a:r>
              <a:rPr lang="ru-RU" sz="1400" dirty="0" smtClean="0"/>
              <a:t>}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xmlns="" val="341700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Шаг 3. Подключение в приложении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файле </a:t>
            </a:r>
            <a:r>
              <a:rPr lang="ru-RU" dirty="0" err="1"/>
              <a:t>src</a:t>
            </a:r>
            <a:r>
              <a:rPr lang="ru-RU" dirty="0"/>
              <a:t>/</a:t>
            </a:r>
            <a:r>
              <a:rPr lang="ru-RU" dirty="0" err="1"/>
              <a:t>App.jsx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/>
              <a:t>DiscountCalculator</a:t>
            </a:r>
            <a:r>
              <a:rPr lang="en-US" dirty="0"/>
              <a:t> from "./</a:t>
            </a:r>
            <a:r>
              <a:rPr lang="en-US" dirty="0" err="1"/>
              <a:t>DiscountCalculator</a:t>
            </a:r>
            <a:r>
              <a:rPr lang="en-US" dirty="0"/>
              <a:t>";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function App()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return &lt;</a:t>
            </a:r>
            <a:r>
              <a:rPr lang="en-US" dirty="0" err="1"/>
              <a:t>DiscountCalculator</a:t>
            </a:r>
            <a:r>
              <a:rPr lang="en-US" dirty="0"/>
              <a:t> /&gt;;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export default App;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85613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Разбор ключевых концепций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Состояния</a:t>
            </a:r>
            <a:r>
              <a:rPr lang="ru-RU" b="1" dirty="0"/>
              <a:t> </a:t>
            </a:r>
            <a:r>
              <a:rPr lang="ru-RU" dirty="0" err="1"/>
              <a:t>useState</a:t>
            </a:r>
            <a:endParaRPr lang="ru-RU" dirty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40245105"/>
              </p:ext>
            </p:extLst>
          </p:nvPr>
        </p:nvGraphicFramePr>
        <p:xfrm>
          <a:off x="1362807" y="2637690"/>
          <a:ext cx="8660424" cy="3380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6808">
                  <a:extLst>
                    <a:ext uri="{9D8B030D-6E8A-4147-A177-3AD203B41FA5}">
                      <a16:colId xmlns:a16="http://schemas.microsoft.com/office/drawing/2014/main" xmlns="" val="2240520518"/>
                    </a:ext>
                  </a:extLst>
                </a:gridCol>
                <a:gridCol w="2886808">
                  <a:extLst>
                    <a:ext uri="{9D8B030D-6E8A-4147-A177-3AD203B41FA5}">
                      <a16:colId xmlns:a16="http://schemas.microsoft.com/office/drawing/2014/main" xmlns="" val="3754669527"/>
                    </a:ext>
                  </a:extLst>
                </a:gridCol>
                <a:gridCol w="2886808">
                  <a:extLst>
                    <a:ext uri="{9D8B030D-6E8A-4147-A177-3AD203B41FA5}">
                      <a16:colId xmlns:a16="http://schemas.microsoft.com/office/drawing/2014/main" xmlns="" val="4073517104"/>
                    </a:ext>
                  </a:extLst>
                </a:gridCol>
              </a:tblGrid>
              <a:tr h="5297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Состояние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Тип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Назначение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3067165868"/>
                  </a:ext>
                </a:extLst>
              </a:tr>
              <a:tr h="8231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</a:rPr>
                        <a:t>price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string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Введённая цена (строка для controlled input)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288022150"/>
                  </a:ext>
                </a:extLst>
              </a:tr>
              <a:tr h="5297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category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string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ID выбранной категории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4009081845"/>
                  </a:ext>
                </a:extLst>
              </a:tr>
              <a:tr h="8231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calculated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boolean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Флаг: показывать ли результаты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1606249950"/>
                  </a:ext>
                </a:extLst>
              </a:tr>
              <a:tr h="5297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error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string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Текст ошибки </a:t>
                      </a:r>
                      <a:r>
                        <a:rPr lang="ru-RU" sz="1600" dirty="0" err="1">
                          <a:effectLst/>
                        </a:rPr>
                        <a:t>валидации</a:t>
                      </a:r>
                      <a:r>
                        <a:rPr lang="ru-RU" sz="1600" dirty="0">
                          <a:effectLst/>
                        </a:rPr>
                        <a:t> цены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106494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54896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Обработчики событий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20144701"/>
              </p:ext>
            </p:extLst>
          </p:nvPr>
        </p:nvGraphicFramePr>
        <p:xfrm>
          <a:off x="975945" y="2013435"/>
          <a:ext cx="10014441" cy="40005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8147">
                  <a:extLst>
                    <a:ext uri="{9D8B030D-6E8A-4147-A177-3AD203B41FA5}">
                      <a16:colId xmlns:a16="http://schemas.microsoft.com/office/drawing/2014/main" xmlns="" val="2629544099"/>
                    </a:ext>
                  </a:extLst>
                </a:gridCol>
                <a:gridCol w="3338147">
                  <a:extLst>
                    <a:ext uri="{9D8B030D-6E8A-4147-A177-3AD203B41FA5}">
                      <a16:colId xmlns:a16="http://schemas.microsoft.com/office/drawing/2014/main" xmlns="" val="407849076"/>
                    </a:ext>
                  </a:extLst>
                </a:gridCol>
                <a:gridCol w="3338147">
                  <a:extLst>
                    <a:ext uri="{9D8B030D-6E8A-4147-A177-3AD203B41FA5}">
                      <a16:colId xmlns:a16="http://schemas.microsoft.com/office/drawing/2014/main" xmlns="" val="3319979068"/>
                    </a:ext>
                  </a:extLst>
                </a:gridCol>
              </a:tblGrid>
              <a:tr h="5148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Обработчик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Событие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Что делает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4073091663"/>
                  </a:ext>
                </a:extLst>
              </a:tr>
              <a:tr h="10853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handlePriceChange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onChange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Фильтрует ввод (только цифры и точка), сбрасывает ошибку и флаг расчёта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3237807091"/>
                  </a:ext>
                </a:extLst>
              </a:tr>
              <a:tr h="800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handleCategoryChange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onChange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Меняет категорию, сбрасывает флаг расчёта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925713847"/>
                  </a:ext>
                </a:extLst>
              </a:tr>
              <a:tr h="800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handleCalculate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onClick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Валидирует цену, устанавливает calculated = true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2581335626"/>
                  </a:ext>
                </a:extLst>
              </a:tr>
              <a:tr h="800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handleReset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</a:rPr>
                        <a:t>onClick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</a:rPr>
                        <a:t>Сбрасывает все состояния к начальным значениям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8600" marR="228600" marT="76200" marB="76200" anchor="ctr"/>
                </a:tc>
                <a:extLst>
                  <a:ext uri="{0D108BD9-81ED-4DB2-BD59-A6C34878D82A}">
                    <a16:rowId xmlns:a16="http://schemas.microsoft.com/office/drawing/2014/main" xmlns="" val="1811965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689303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Обсуждение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Почему </a:t>
            </a:r>
            <a:r>
              <a:rPr lang="ru-RU" b="1" dirty="0" err="1" smtClean="0"/>
              <a:t>price</a:t>
            </a:r>
            <a:r>
              <a:rPr lang="ru-RU" b="1" dirty="0" smtClean="0"/>
              <a:t> — строка, а не число</a:t>
            </a:r>
          </a:p>
          <a:p>
            <a:pPr marL="0" indent="0">
              <a:buNone/>
            </a:pPr>
            <a:r>
              <a:rPr lang="ru-RU" dirty="0" err="1" smtClean="0"/>
              <a:t>Controlled</a:t>
            </a:r>
            <a:r>
              <a:rPr lang="ru-RU" dirty="0" smtClean="0"/>
              <a:t> </a:t>
            </a:r>
            <a:r>
              <a:rPr lang="ru-RU" dirty="0" err="1" smtClean="0"/>
              <a:t>input</a:t>
            </a:r>
            <a:r>
              <a:rPr lang="ru-RU" dirty="0" smtClean="0"/>
              <a:t> в React работает со строками. Если хранить число, то при стирании символов </a:t>
            </a:r>
            <a:r>
              <a:rPr lang="ru-RU" dirty="0" err="1" smtClean="0"/>
              <a:t>parseFloat</a:t>
            </a:r>
            <a:r>
              <a:rPr lang="ru-RU" dirty="0" smtClean="0"/>
              <a:t>("") вернёт </a:t>
            </a:r>
            <a:r>
              <a:rPr lang="ru-RU" dirty="0" err="1" smtClean="0"/>
              <a:t>NaN</a:t>
            </a:r>
            <a:r>
              <a:rPr lang="ru-RU" dirty="0" smtClean="0"/>
              <a:t>, и поле «залипнет». Строкой же можно легко разрешить промежуточные состояния вроде "1" или "10.".</a:t>
            </a:r>
          </a:p>
          <a:p>
            <a:pPr marL="0" indent="0">
              <a:buNone/>
            </a:pPr>
            <a:r>
              <a:rPr lang="ru-RU" b="1" dirty="0" smtClean="0"/>
              <a:t>Почему результаты пересчитываются при смене категории</a:t>
            </a:r>
          </a:p>
          <a:p>
            <a:pPr marL="0" indent="0">
              <a:buNone/>
            </a:pPr>
            <a:r>
              <a:rPr lang="ru-RU" dirty="0" smtClean="0"/>
              <a:t>При изменении категории или цены вызывается </a:t>
            </a:r>
            <a:r>
              <a:rPr lang="ru-RU" dirty="0" err="1" smtClean="0"/>
              <a:t>setCalculated</a:t>
            </a:r>
            <a:r>
              <a:rPr lang="ru-RU" dirty="0" smtClean="0"/>
              <a:t>(</a:t>
            </a:r>
            <a:r>
              <a:rPr lang="ru-RU" dirty="0" err="1" smtClean="0"/>
              <a:t>false</a:t>
            </a:r>
            <a:r>
              <a:rPr lang="ru-RU" dirty="0" smtClean="0"/>
              <a:t>) — старые результаты скрываются, пока пользователь не нажмёт «Рассчитать» снова. Это даёт чёткое разделение: ввод → действие → результат.</a:t>
            </a:r>
          </a:p>
          <a:p>
            <a:pPr marL="0" indent="0">
              <a:buNone/>
            </a:pPr>
            <a:r>
              <a:rPr lang="ru-RU" b="1" dirty="0" smtClean="0"/>
              <a:t>Формула расчёта</a:t>
            </a:r>
          </a:p>
          <a:p>
            <a:pPr marL="0" indent="0">
              <a:buNone/>
            </a:pPr>
            <a:r>
              <a:rPr lang="ru-RU" dirty="0" err="1" smtClean="0"/>
              <a:t>discountAmount</a:t>
            </a:r>
            <a:r>
              <a:rPr lang="ru-RU" dirty="0" smtClean="0"/>
              <a:t>    = </a:t>
            </a:r>
            <a:r>
              <a:rPr lang="ru-RU" dirty="0" err="1" smtClean="0"/>
              <a:t>price</a:t>
            </a:r>
            <a:r>
              <a:rPr lang="ru-RU" dirty="0" smtClean="0"/>
              <a:t> × (</a:t>
            </a:r>
            <a:r>
              <a:rPr lang="ru-RU" dirty="0" err="1" smtClean="0"/>
              <a:t>discountPercent</a:t>
            </a:r>
            <a:r>
              <a:rPr lang="ru-RU" dirty="0" smtClean="0"/>
              <a:t> / 100)   // сумма скидки</a:t>
            </a:r>
          </a:p>
          <a:p>
            <a:pPr marL="0" indent="0">
              <a:buNone/>
            </a:pPr>
            <a:r>
              <a:rPr lang="ru-RU" dirty="0" err="1" smtClean="0"/>
              <a:t>priceAfterDiscount</a:t>
            </a:r>
            <a:r>
              <a:rPr lang="ru-RU" dirty="0" smtClean="0"/>
              <a:t> = </a:t>
            </a:r>
            <a:r>
              <a:rPr lang="ru-RU" dirty="0" err="1" smtClean="0"/>
              <a:t>price</a:t>
            </a:r>
            <a:r>
              <a:rPr lang="ru-RU" dirty="0" smtClean="0"/>
              <a:t> − </a:t>
            </a:r>
            <a:r>
              <a:rPr lang="ru-RU" dirty="0" err="1" smtClean="0"/>
              <a:t>discountAmount</a:t>
            </a:r>
            <a:r>
              <a:rPr lang="ru-RU" dirty="0" smtClean="0"/>
              <a:t>           // цена после скидки</a:t>
            </a:r>
          </a:p>
          <a:p>
            <a:pPr marL="0" indent="0">
              <a:buNone/>
            </a:pPr>
            <a:r>
              <a:rPr lang="ru-RU" dirty="0" err="1" smtClean="0"/>
              <a:t>vatAmount</a:t>
            </a:r>
            <a:r>
              <a:rPr lang="ru-RU" dirty="0" smtClean="0"/>
              <a:t>          = </a:t>
            </a:r>
            <a:r>
              <a:rPr lang="ru-RU" dirty="0" err="1" smtClean="0"/>
              <a:t>priceAfterDiscount</a:t>
            </a:r>
            <a:r>
              <a:rPr lang="ru-RU" dirty="0" smtClean="0"/>
              <a:t> × 0.22         // НДС от цены после скидки</a:t>
            </a:r>
          </a:p>
          <a:p>
            <a:pPr marL="0" indent="0">
              <a:buNone/>
            </a:pPr>
            <a:r>
              <a:rPr lang="ru-RU" dirty="0" err="1" smtClean="0"/>
              <a:t>total</a:t>
            </a:r>
            <a:r>
              <a:rPr lang="ru-RU" dirty="0" smtClean="0"/>
              <a:t>              = </a:t>
            </a:r>
            <a:r>
              <a:rPr lang="ru-RU" dirty="0" err="1" smtClean="0"/>
              <a:t>priceAfterDiscount</a:t>
            </a:r>
            <a:r>
              <a:rPr lang="ru-RU" dirty="0" smtClean="0"/>
              <a:t> + </a:t>
            </a:r>
            <a:r>
              <a:rPr lang="ru-RU" dirty="0" err="1" smtClean="0"/>
              <a:t>vatAmount</a:t>
            </a:r>
            <a:r>
              <a:rPr lang="ru-RU" dirty="0" smtClean="0"/>
              <a:t>   // итог</a:t>
            </a:r>
          </a:p>
          <a:p>
            <a:pPr marL="0" indent="0">
              <a:buNone/>
            </a:pPr>
            <a:r>
              <a:rPr lang="ru-RU" dirty="0" smtClean="0"/>
              <a:t>НДС начисляется после скидки — то есть на сумму, которую покупатель реально платит за товар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67924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Задания для самостоятельной работы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u-RU" b="1" dirty="0" smtClean="0"/>
              <a:t>Несколько </a:t>
            </a:r>
            <a:r>
              <a:rPr lang="ru-RU" b="1" dirty="0"/>
              <a:t>товаров</a:t>
            </a:r>
            <a:r>
              <a:rPr lang="ru-RU" dirty="0"/>
              <a:t> — добавьте возможность ввести список из нескольких товаров (массив в </a:t>
            </a:r>
            <a:r>
              <a:rPr lang="ru-RU" dirty="0" err="1"/>
              <a:t>useState</a:t>
            </a:r>
            <a:r>
              <a:rPr lang="ru-RU" dirty="0"/>
              <a:t>), каждый со своей ценой и категорией. Итог — сумма по всем позициям.</a:t>
            </a:r>
          </a:p>
          <a:p>
            <a:pPr lvl="0"/>
            <a:r>
              <a:rPr lang="ru-RU" b="1" dirty="0" err="1"/>
              <a:t>Промокод</a:t>
            </a:r>
            <a:r>
              <a:rPr lang="ru-RU" dirty="0"/>
              <a:t> — добавьте текстовое поле для </a:t>
            </a:r>
            <a:r>
              <a:rPr lang="ru-RU" dirty="0" err="1"/>
              <a:t>промокода</a:t>
            </a:r>
            <a:r>
              <a:rPr lang="ru-RU" dirty="0"/>
              <a:t>. Если введён WELCOME10, добавляется ещё 10% скидки поверх </a:t>
            </a:r>
            <a:r>
              <a:rPr lang="ru-RU" dirty="0" err="1"/>
              <a:t>категорийной</a:t>
            </a:r>
            <a:r>
              <a:rPr lang="ru-RU" dirty="0"/>
              <a:t>.</a:t>
            </a:r>
          </a:p>
          <a:p>
            <a:pPr lvl="0"/>
            <a:r>
              <a:rPr lang="ru-RU" b="1" dirty="0" err="1"/>
              <a:t>Кастомная</a:t>
            </a:r>
            <a:r>
              <a:rPr lang="ru-RU" b="1" dirty="0"/>
              <a:t> скидка</a:t>
            </a:r>
            <a:r>
              <a:rPr lang="ru-RU" dirty="0"/>
              <a:t> — добавьте ползунок (</a:t>
            </a:r>
            <a:r>
              <a:rPr lang="ru-RU" dirty="0" err="1"/>
              <a:t>range</a:t>
            </a:r>
            <a:r>
              <a:rPr lang="ru-RU" dirty="0"/>
              <a:t> </a:t>
            </a:r>
            <a:r>
              <a:rPr lang="ru-RU" dirty="0" err="1"/>
              <a:t>input</a:t>
            </a:r>
            <a:r>
              <a:rPr lang="ru-RU" dirty="0"/>
              <a:t>) для ручной корректировки скидки от 0% до 50%, который заменяет скидку категории.</a:t>
            </a:r>
          </a:p>
          <a:p>
            <a:pPr lvl="0"/>
            <a:r>
              <a:rPr lang="ru-RU" b="1" dirty="0"/>
              <a:t>Переключатель НДС</a:t>
            </a:r>
            <a:r>
              <a:rPr lang="ru-RU" dirty="0"/>
              <a:t> — добавьте выбор: с НДС / без НДС. Флаг через </a:t>
            </a:r>
            <a:r>
              <a:rPr lang="ru-RU" dirty="0" err="1"/>
              <a:t>useState</a:t>
            </a:r>
            <a:r>
              <a:rPr lang="ru-RU" dirty="0"/>
              <a:t> управляет, прибавляется ли НДС к итогу.</a:t>
            </a:r>
          </a:p>
          <a:p>
            <a:pPr lvl="0"/>
            <a:r>
              <a:rPr lang="ru-RU" b="1" dirty="0"/>
              <a:t>История расчётов</a:t>
            </a:r>
            <a:r>
              <a:rPr lang="ru-RU" dirty="0"/>
              <a:t> — сохраняйте каждый расчёт в массив </a:t>
            </a:r>
            <a:r>
              <a:rPr lang="ru-RU" dirty="0" err="1"/>
              <a:t>history</a:t>
            </a:r>
            <a:r>
              <a:rPr lang="ru-RU" dirty="0"/>
              <a:t> и выводите список последних 5 расчётов под формой.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398973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Контрольные вопросы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ru-RU" dirty="0" smtClean="0"/>
              <a:t>Почему </a:t>
            </a:r>
            <a:r>
              <a:rPr lang="ru-RU" dirty="0"/>
              <a:t>цена хранится в состоянии как строка, а не как число?</a:t>
            </a:r>
          </a:p>
          <a:p>
            <a:pPr marL="0" lvl="0" indent="0">
              <a:buNone/>
            </a:pPr>
            <a:r>
              <a:rPr lang="ru-RU" dirty="0"/>
              <a:t>Зачем нужен флаг </a:t>
            </a:r>
            <a:r>
              <a:rPr lang="ru-RU" dirty="0" err="1"/>
              <a:t>calculated</a:t>
            </a:r>
            <a:r>
              <a:rPr lang="ru-RU" dirty="0"/>
              <a:t> и что изменится, если его убрать?</a:t>
            </a:r>
          </a:p>
          <a:p>
            <a:pPr marL="0" lvl="0" indent="0">
              <a:buNone/>
            </a:pPr>
            <a:r>
              <a:rPr lang="ru-RU" dirty="0"/>
              <a:t>Почему при каждом </a:t>
            </a:r>
            <a:r>
              <a:rPr lang="ru-RU" dirty="0" err="1"/>
              <a:t>onChange</a:t>
            </a:r>
            <a:r>
              <a:rPr lang="ru-RU" dirty="0"/>
              <a:t> сбрасывается </a:t>
            </a:r>
            <a:r>
              <a:rPr lang="ru-RU" dirty="0" err="1"/>
              <a:t>calculated</a:t>
            </a:r>
            <a:r>
              <a:rPr lang="ru-RU" dirty="0"/>
              <a:t> в </a:t>
            </a:r>
            <a:r>
              <a:rPr lang="ru-RU" dirty="0" err="1"/>
              <a:t>false</a:t>
            </a:r>
            <a:r>
              <a:rPr lang="ru-RU" dirty="0"/>
              <a:t>?</a:t>
            </a:r>
          </a:p>
          <a:p>
            <a:pPr marL="0" lvl="0" indent="0">
              <a:buNone/>
            </a:pPr>
            <a:r>
              <a:rPr lang="ru-RU" dirty="0"/>
              <a:t>Как работает регулярное выражение /^\d*\.?\d*$/ в </a:t>
            </a:r>
            <a:r>
              <a:rPr lang="ru-RU" dirty="0" err="1"/>
              <a:t>handlePriceChange</a:t>
            </a:r>
            <a:r>
              <a:rPr lang="ru-RU" dirty="0"/>
              <a:t>?</a:t>
            </a:r>
          </a:p>
          <a:p>
            <a:pPr marL="0" lvl="0" indent="0">
              <a:buNone/>
            </a:pPr>
            <a:r>
              <a:rPr lang="ru-RU" dirty="0"/>
              <a:t>В чём разница между </a:t>
            </a:r>
            <a:r>
              <a:rPr lang="ru-RU" dirty="0" err="1"/>
              <a:t>onClick</a:t>
            </a:r>
            <a:r>
              <a:rPr lang="ru-RU" dirty="0"/>
              <a:t> и </a:t>
            </a:r>
            <a:r>
              <a:rPr lang="ru-RU" dirty="0" err="1"/>
              <a:t>onChange</a:t>
            </a:r>
            <a:r>
              <a:rPr lang="ru-RU" dirty="0"/>
              <a:t> для кнопки и поля ввода соответственно?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106702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1641</Words>
  <Application>Microsoft Office PowerPoint</Application>
  <PresentationFormat>Произвольный</PresentationFormat>
  <Paragraphs>424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Лабораторная работа 4. Калькулятор скидок </vt:lpstr>
      <vt:lpstr>Постановка задачи </vt:lpstr>
      <vt:lpstr>Слайд 3</vt:lpstr>
      <vt:lpstr>Слайд 4</vt:lpstr>
      <vt:lpstr>Категория Скидка </vt:lpstr>
      <vt:lpstr>Шаг 1. Компонент калькулятора</vt:lpstr>
      <vt:lpstr>function DiscountCalculator </vt:lpstr>
      <vt:lpstr>function DiscountCalculator</vt:lpstr>
      <vt:lpstr>function DiscountCalculator</vt:lpstr>
      <vt:lpstr>// --- Разметка --- </vt:lpstr>
      <vt:lpstr> {/* Выбор категории */} </vt:lpstr>
      <vt:lpstr> {/* Результаты — показываем только после расчёта */} </vt:lpstr>
      <vt:lpstr>Шаг 2. Стилизация </vt:lpstr>
      <vt:lpstr>Стилизация</vt:lpstr>
      <vt:lpstr>Стилизация</vt:lpstr>
      <vt:lpstr>Комментарий SVG </vt:lpstr>
      <vt:lpstr>Стилизация</vt:lpstr>
      <vt:lpstr>Стилизация</vt:lpstr>
      <vt:lpstr>Шаг 3. Подключение в приложении </vt:lpstr>
      <vt:lpstr>Разбор ключевых концепций </vt:lpstr>
      <vt:lpstr>Обработчики событий </vt:lpstr>
      <vt:lpstr>Обсуждение</vt:lpstr>
      <vt:lpstr>Задания для самостоятельной работы </vt:lpstr>
      <vt:lpstr>Контрольные вопросы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4. Калькулятор скидок</dc:title>
  <dc:creator>Alexander Agafonov</dc:creator>
  <cp:lastModifiedBy>Agafonov</cp:lastModifiedBy>
  <cp:revision>9</cp:revision>
  <dcterms:created xsi:type="dcterms:W3CDTF">2026-09-19T16:04:56Z</dcterms:created>
  <dcterms:modified xsi:type="dcterms:W3CDTF">2026-09-20T05:01:20Z</dcterms:modified>
</cp:coreProperties>
</file>