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80" r:id="rId9"/>
    <p:sldId id="279" r:id="rId10"/>
    <p:sldId id="262" r:id="rId11"/>
    <p:sldId id="263" r:id="rId12"/>
    <p:sldId id="264" r:id="rId13"/>
    <p:sldId id="266" r:id="rId14"/>
    <p:sldId id="267" r:id="rId15"/>
    <p:sldId id="265" r:id="rId16"/>
    <p:sldId id="271" r:id="rId17"/>
    <p:sldId id="268" r:id="rId18"/>
    <p:sldId id="275" r:id="rId19"/>
    <p:sldId id="276" r:id="rId20"/>
    <p:sldId id="272" r:id="rId21"/>
    <p:sldId id="273" r:id="rId22"/>
    <p:sldId id="274" r:id="rId23"/>
    <p:sldId id="277" r:id="rId24"/>
    <p:sldId id="278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DC072-F42B-4815-9A62-52DF2D6D6E05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C4FFD-1CFA-44DD-B1FA-AAFA59D389D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Лабораторная </a:t>
            </a:r>
            <a:r>
              <a:rPr lang="ru-RU" dirty="0" smtClean="0"/>
              <a:t>работа</a:t>
            </a:r>
            <a:r>
              <a:rPr lang="en-US" dirty="0" smtClean="0"/>
              <a:t> 2</a:t>
            </a:r>
            <a:r>
              <a:rPr lang="ru-RU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 </a:t>
            </a:r>
            <a:r>
              <a:rPr lang="ru-RU" b="1" dirty="0" err="1"/>
              <a:t>React</a:t>
            </a:r>
            <a:r>
              <a:rPr lang="ru-RU" b="1" dirty="0"/>
              <a:t> + JS+</a:t>
            </a:r>
            <a:r>
              <a:rPr lang="en-US" b="1" dirty="0"/>
              <a:t>Grid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Grid +Flex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11523" cy="4785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Структура проекта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Text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en-US" dirty="0"/>
              <a:t>my-grid-demo/</a:t>
            </a:r>
            <a:endParaRPr lang="ru-RU" dirty="0"/>
          </a:p>
          <a:p>
            <a:pPr>
              <a:buNone/>
            </a:pPr>
            <a:r>
              <a:rPr lang="en-US" dirty="0"/>
              <a:t>├── index.html</a:t>
            </a:r>
            <a:endParaRPr lang="ru-RU" dirty="0"/>
          </a:p>
          <a:p>
            <a:pPr>
              <a:buNone/>
            </a:pPr>
            <a:r>
              <a:rPr lang="en-US" dirty="0"/>
              <a:t>├── </a:t>
            </a:r>
            <a:r>
              <a:rPr lang="en-US" dirty="0" err="1"/>
              <a:t>vite.config.js</a:t>
            </a:r>
            <a:endParaRPr lang="ru-RU" dirty="0"/>
          </a:p>
          <a:p>
            <a:pPr>
              <a:buNone/>
            </a:pPr>
            <a:r>
              <a:rPr lang="en-US" dirty="0"/>
              <a:t>├── </a:t>
            </a:r>
            <a:r>
              <a:rPr lang="en-US" dirty="0" err="1"/>
              <a:t>package.json</a:t>
            </a:r>
            <a:endParaRPr lang="ru-RU" dirty="0"/>
          </a:p>
          <a:p>
            <a:pPr>
              <a:buNone/>
            </a:pPr>
            <a:r>
              <a:rPr lang="en-US" dirty="0"/>
              <a:t>└── </a:t>
            </a:r>
            <a:r>
              <a:rPr lang="en-US" dirty="0" err="1"/>
              <a:t>src</a:t>
            </a:r>
            <a:r>
              <a:rPr lang="en-US" dirty="0"/>
              <a:t>/</a:t>
            </a:r>
            <a:endParaRPr lang="ru-RU" dirty="0"/>
          </a:p>
          <a:p>
            <a:pPr>
              <a:buNone/>
            </a:pPr>
            <a:r>
              <a:rPr lang="en-US" dirty="0"/>
              <a:t>    ├── main.jsx</a:t>
            </a:r>
            <a:endParaRPr lang="ru-RU" dirty="0"/>
          </a:p>
          <a:p>
            <a:pPr>
              <a:buNone/>
            </a:pPr>
            <a:r>
              <a:rPr lang="en-US" dirty="0"/>
              <a:t>    ├── App.jsx</a:t>
            </a:r>
            <a:endParaRPr lang="ru-RU" dirty="0"/>
          </a:p>
          <a:p>
            <a:pPr>
              <a:buNone/>
            </a:pPr>
            <a:r>
              <a:rPr lang="en-US" dirty="0"/>
              <a:t>    └── components/</a:t>
            </a:r>
            <a:endParaRPr lang="ru-RU" dirty="0"/>
          </a:p>
          <a:p>
            <a:pPr>
              <a:buNone/>
            </a:pPr>
            <a:r>
              <a:rPr lang="en-US" dirty="0"/>
              <a:t>        ├── Layout.jsx</a:t>
            </a:r>
            <a:endParaRPr lang="ru-RU" dirty="0"/>
          </a:p>
          <a:p>
            <a:pPr>
              <a:buNone/>
            </a:pPr>
            <a:r>
              <a:rPr lang="en-US" dirty="0"/>
              <a:t>        ├── Header.jsx</a:t>
            </a:r>
            <a:endParaRPr lang="ru-RU" dirty="0"/>
          </a:p>
          <a:p>
            <a:pPr>
              <a:buNone/>
            </a:pPr>
            <a:r>
              <a:rPr lang="en-US" dirty="0"/>
              <a:t>        ├── Sidebar.jsx</a:t>
            </a:r>
            <a:endParaRPr lang="ru-RU" dirty="0"/>
          </a:p>
          <a:p>
            <a:pPr>
              <a:buNone/>
            </a:pPr>
            <a:r>
              <a:rPr lang="en-US" dirty="0"/>
              <a:t>        </a:t>
            </a:r>
            <a:r>
              <a:rPr lang="ru-RU" dirty="0"/>
              <a:t>├── </a:t>
            </a:r>
            <a:r>
              <a:rPr lang="ru-RU" dirty="0" err="1"/>
              <a:t>MainContent.jsx</a:t>
            </a:r>
            <a:endParaRPr lang="ru-RU" dirty="0"/>
          </a:p>
          <a:p>
            <a:pPr>
              <a:buNone/>
            </a:pPr>
            <a:r>
              <a:rPr lang="ru-RU" dirty="0"/>
              <a:t>        └── </a:t>
            </a:r>
            <a:r>
              <a:rPr lang="ru-RU" dirty="0" err="1"/>
              <a:t>Footer.jsx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Как запустить (JS-версия)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buNone/>
            </a:pPr>
            <a:r>
              <a:rPr lang="ru-RU" dirty="0" smtClean="0"/>
              <a:t>Создай </a:t>
            </a:r>
            <a:r>
              <a:rPr lang="ru-RU" dirty="0"/>
              <a:t>проект:</a:t>
            </a:r>
          </a:p>
          <a:p>
            <a:pPr>
              <a:buNone/>
            </a:pPr>
            <a:r>
              <a:rPr lang="ru-RU" dirty="0" err="1"/>
              <a:t>bash</a:t>
            </a:r>
            <a:endParaRPr lang="ru-RU" dirty="0"/>
          </a:p>
          <a:p>
            <a:pPr>
              <a:buNone/>
            </a:pPr>
            <a:r>
              <a:rPr lang="en-US" dirty="0" err="1"/>
              <a:t>npm</a:t>
            </a:r>
            <a:r>
              <a:rPr lang="en-US" dirty="0"/>
              <a:t> create </a:t>
            </a:r>
            <a:r>
              <a:rPr lang="en-US" dirty="0" err="1"/>
              <a:t>vite@latest</a:t>
            </a:r>
            <a:r>
              <a:rPr lang="en-US" dirty="0"/>
              <a:t> my-grid-demo -- --template react</a:t>
            </a:r>
            <a:endParaRPr lang="ru-RU" dirty="0"/>
          </a:p>
          <a:p>
            <a:pPr>
              <a:buNone/>
            </a:pPr>
            <a:r>
              <a:rPr lang="en-US" dirty="0" err="1"/>
              <a:t>cd</a:t>
            </a:r>
            <a:r>
              <a:rPr lang="en-US" dirty="0"/>
              <a:t> my-grid-demo</a:t>
            </a:r>
            <a:endParaRPr lang="ru-RU" dirty="0"/>
          </a:p>
          <a:p>
            <a:pPr>
              <a:buNone/>
            </a:pPr>
            <a:r>
              <a:rPr lang="en-US" dirty="0" err="1"/>
              <a:t>npm</a:t>
            </a:r>
            <a:r>
              <a:rPr lang="en-US" dirty="0"/>
              <a:t> install</a:t>
            </a:r>
            <a:endParaRPr lang="ru-RU" dirty="0"/>
          </a:p>
          <a:p>
            <a:pPr lvl="0">
              <a:buNone/>
            </a:pPr>
            <a:r>
              <a:rPr lang="ru-RU" dirty="0"/>
              <a:t>Удали содержимое </a:t>
            </a:r>
            <a:r>
              <a:rPr lang="ru-RU" dirty="0" err="1"/>
              <a:t>src</a:t>
            </a:r>
            <a:r>
              <a:rPr lang="ru-RU" dirty="0"/>
              <a:t> и создай файлы по структуре выше.</a:t>
            </a:r>
          </a:p>
          <a:p>
            <a:pPr lvl="0">
              <a:buNone/>
            </a:pPr>
            <a:r>
              <a:rPr lang="ru-RU" dirty="0"/>
              <a:t>Запусти:</a:t>
            </a:r>
          </a:p>
          <a:p>
            <a:pPr>
              <a:buNone/>
            </a:pPr>
            <a:r>
              <a:rPr lang="ru-RU" dirty="0" err="1"/>
              <a:t>bash</a:t>
            </a:r>
            <a:endParaRPr lang="ru-RU" dirty="0"/>
          </a:p>
          <a:p>
            <a:pPr>
              <a:buNone/>
            </a:pPr>
            <a:r>
              <a:rPr lang="ru-RU" dirty="0" err="1"/>
              <a:t>npm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 </a:t>
            </a:r>
            <a:r>
              <a:rPr lang="ru-RU" dirty="0" err="1"/>
              <a:t>dev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1. </a:t>
            </a:r>
            <a:r>
              <a:rPr lang="en-US" dirty="0" smtClean="0"/>
              <a:t>index.html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html</a:t>
            </a:r>
            <a:endParaRPr lang="ru-RU" dirty="0"/>
          </a:p>
          <a:p>
            <a:pPr>
              <a:buNone/>
            </a:pPr>
            <a:r>
              <a:rPr lang="en-US" dirty="0"/>
              <a:t>&lt;!DOCTYPE html&gt;</a:t>
            </a:r>
            <a:endParaRPr lang="ru-RU" dirty="0"/>
          </a:p>
          <a:p>
            <a:pPr>
              <a:buNone/>
            </a:pPr>
            <a:r>
              <a:rPr lang="en-US" dirty="0"/>
              <a:t>&lt;html </a:t>
            </a:r>
            <a:r>
              <a:rPr lang="en-US" dirty="0" err="1"/>
              <a:t>lang</a:t>
            </a:r>
            <a:r>
              <a:rPr lang="en-US" dirty="0"/>
              <a:t>="</a:t>
            </a:r>
            <a:r>
              <a:rPr lang="en-US" dirty="0" err="1"/>
              <a:t>ru</a:t>
            </a:r>
            <a:r>
              <a:rPr lang="en-US" dirty="0"/>
              <a:t>"&gt;</a:t>
            </a:r>
            <a:endParaRPr lang="ru-RU" dirty="0"/>
          </a:p>
          <a:p>
            <a:pPr>
              <a:buNone/>
            </a:pPr>
            <a:r>
              <a:rPr lang="en-US" dirty="0"/>
              <a:t>  &lt;head&gt;</a:t>
            </a:r>
            <a:endParaRPr lang="ru-RU" dirty="0"/>
          </a:p>
          <a:p>
            <a:pPr>
              <a:buNone/>
            </a:pPr>
            <a:r>
              <a:rPr lang="en-US" dirty="0"/>
              <a:t>    &lt;meta </a:t>
            </a:r>
            <a:r>
              <a:rPr lang="en-US" dirty="0" err="1"/>
              <a:t>charset</a:t>
            </a:r>
            <a:r>
              <a:rPr lang="en-US" dirty="0"/>
              <a:t>="UTF-8" /&gt;</a:t>
            </a:r>
            <a:endParaRPr lang="ru-RU" dirty="0"/>
          </a:p>
          <a:p>
            <a:pPr>
              <a:buNone/>
            </a:pPr>
            <a:r>
              <a:rPr lang="en-US" dirty="0"/>
              <a:t>    &lt;meta name="viewport" content="width=device-width, initial-scale=1.0" /&gt;</a:t>
            </a:r>
            <a:endParaRPr lang="ru-RU" dirty="0"/>
          </a:p>
          <a:p>
            <a:pPr>
              <a:buNone/>
            </a:pPr>
            <a:r>
              <a:rPr lang="en-US" dirty="0"/>
              <a:t>    &lt;title&gt;React + CSS Grid (JS)&lt;/title&gt;</a:t>
            </a:r>
            <a:endParaRPr lang="ru-RU" dirty="0"/>
          </a:p>
          <a:p>
            <a:pPr>
              <a:buNone/>
            </a:pPr>
            <a:r>
              <a:rPr lang="en-US" dirty="0"/>
              <a:t>  &lt;/head&gt;</a:t>
            </a:r>
            <a:endParaRPr lang="ru-RU" dirty="0"/>
          </a:p>
          <a:p>
            <a:pPr>
              <a:buNone/>
            </a:pPr>
            <a:r>
              <a:rPr lang="en-US" dirty="0"/>
              <a:t>  &lt;body&gt;</a:t>
            </a:r>
            <a:endParaRPr lang="ru-RU" dirty="0"/>
          </a:p>
          <a:p>
            <a:pPr>
              <a:buNone/>
            </a:pPr>
            <a:r>
              <a:rPr lang="en-US" dirty="0"/>
              <a:t>    &lt;div id="root"&gt;&lt;/div&gt;</a:t>
            </a:r>
            <a:endParaRPr lang="ru-RU" dirty="0"/>
          </a:p>
          <a:p>
            <a:pPr>
              <a:buNone/>
            </a:pPr>
            <a:r>
              <a:rPr lang="en-US" dirty="0"/>
              <a:t>    &lt;script type="module" </a:t>
            </a:r>
            <a:r>
              <a:rPr lang="en-US" dirty="0" err="1"/>
              <a:t>src</a:t>
            </a:r>
            <a:r>
              <a:rPr lang="en-US" dirty="0"/>
              <a:t>="/</a:t>
            </a:r>
            <a:r>
              <a:rPr lang="en-US" dirty="0" err="1"/>
              <a:t>src</a:t>
            </a:r>
            <a:r>
              <a:rPr lang="en-US" dirty="0"/>
              <a:t>/main.jsx"&gt;&lt;/script&gt;</a:t>
            </a:r>
            <a:endParaRPr lang="ru-RU" dirty="0"/>
          </a:p>
          <a:p>
            <a:pPr>
              <a:buNone/>
            </a:pPr>
            <a:r>
              <a:rPr lang="en-US" dirty="0"/>
              <a:t>  </a:t>
            </a:r>
            <a:r>
              <a:rPr lang="ru-RU" dirty="0"/>
              <a:t>&lt;/</a:t>
            </a:r>
            <a:r>
              <a:rPr lang="ru-RU" dirty="0" err="1"/>
              <a:t>body</a:t>
            </a:r>
            <a:r>
              <a:rPr lang="ru-RU" dirty="0"/>
              <a:t>&gt;</a:t>
            </a:r>
          </a:p>
          <a:p>
            <a:pPr>
              <a:buNone/>
            </a:pPr>
            <a:r>
              <a:rPr lang="ru-RU" dirty="0"/>
              <a:t>&lt;/</a:t>
            </a:r>
            <a:r>
              <a:rPr lang="ru-RU" dirty="0" err="1"/>
              <a:t>html</a:t>
            </a:r>
            <a:r>
              <a:rPr lang="ru-RU" dirty="0"/>
              <a:t>&gt;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2. </a:t>
            </a:r>
            <a:r>
              <a:rPr lang="en-US" dirty="0" err="1" smtClean="0"/>
              <a:t>src</a:t>
            </a:r>
            <a:r>
              <a:rPr lang="en-US" dirty="0" smtClean="0"/>
              <a:t>/main.jsx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err="1" smtClean="0"/>
              <a:t>jsx</a:t>
            </a:r>
            <a:endParaRPr lang="ru-RU" dirty="0"/>
          </a:p>
          <a:p>
            <a:pPr>
              <a:buNone/>
            </a:pPr>
            <a:r>
              <a:rPr lang="en-US" dirty="0"/>
              <a:t>import React from 'react'</a:t>
            </a:r>
            <a:endParaRPr lang="ru-RU" dirty="0"/>
          </a:p>
          <a:p>
            <a:pPr>
              <a:buNone/>
            </a:pPr>
            <a:r>
              <a:rPr lang="en-US" dirty="0"/>
              <a:t>import </a:t>
            </a:r>
            <a:r>
              <a:rPr lang="en-US" dirty="0" err="1"/>
              <a:t>ReactDOM</a:t>
            </a:r>
            <a:r>
              <a:rPr lang="en-US" dirty="0"/>
              <a:t> from 'react-</a:t>
            </a:r>
            <a:r>
              <a:rPr lang="en-US" dirty="0" err="1"/>
              <a:t>dom</a:t>
            </a:r>
            <a:r>
              <a:rPr lang="en-US" dirty="0"/>
              <a:t>/client'</a:t>
            </a:r>
            <a:endParaRPr lang="ru-RU" dirty="0"/>
          </a:p>
          <a:p>
            <a:pPr>
              <a:buNone/>
            </a:pPr>
            <a:r>
              <a:rPr lang="en-US" dirty="0"/>
              <a:t>import App from './App.jsx'</a:t>
            </a:r>
            <a:endParaRPr lang="ru-RU" dirty="0"/>
          </a:p>
          <a:p>
            <a:pPr>
              <a:buNone/>
            </a:pPr>
            <a:r>
              <a:rPr lang="en-US" dirty="0"/>
              <a:t>import './styles/index.css'</a:t>
            </a:r>
            <a:endParaRPr lang="ru-RU" dirty="0"/>
          </a:p>
          <a:p>
            <a:pPr>
              <a:buNone/>
            </a:pP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 err="1"/>
              <a:t>ReactDOM.createRoot</a:t>
            </a:r>
            <a:r>
              <a:rPr lang="en-US" dirty="0"/>
              <a:t>(</a:t>
            </a:r>
            <a:r>
              <a:rPr lang="en-US" dirty="0" err="1"/>
              <a:t>document.getElementById</a:t>
            </a:r>
            <a:r>
              <a:rPr lang="en-US" dirty="0"/>
              <a:t>('root')).render(</a:t>
            </a:r>
            <a:endParaRPr lang="ru-RU" dirty="0"/>
          </a:p>
          <a:p>
            <a:pPr>
              <a:buNone/>
            </a:pPr>
            <a:r>
              <a:rPr lang="en-US" dirty="0"/>
              <a:t>  &lt;</a:t>
            </a:r>
            <a:r>
              <a:rPr lang="en-US" dirty="0" err="1"/>
              <a:t>React.StrictMode</a:t>
            </a:r>
            <a:r>
              <a:rPr lang="en-US" dirty="0"/>
              <a:t>&gt;</a:t>
            </a:r>
            <a:endParaRPr lang="ru-RU" dirty="0"/>
          </a:p>
          <a:p>
            <a:pPr>
              <a:buNone/>
            </a:pPr>
            <a:r>
              <a:rPr lang="en-US" dirty="0"/>
              <a:t>    &lt;App /&gt;</a:t>
            </a:r>
            <a:endParaRPr lang="ru-RU" dirty="0"/>
          </a:p>
          <a:p>
            <a:pPr>
              <a:buNone/>
            </a:pPr>
            <a:r>
              <a:rPr lang="en-US" dirty="0"/>
              <a:t>  &lt;/</a:t>
            </a:r>
            <a:r>
              <a:rPr lang="en-US" dirty="0" err="1"/>
              <a:t>React.StrictMode</a:t>
            </a:r>
            <a:r>
              <a:rPr lang="en-US" dirty="0" smtClean="0"/>
              <a:t>&gt;</a:t>
            </a:r>
            <a:endParaRPr lang="ru-RU" dirty="0"/>
          </a:p>
          <a:p>
            <a:pPr>
              <a:buNone/>
            </a:pPr>
            <a:r>
              <a:rPr lang="ru-RU" dirty="0"/>
              <a:t>)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3. </a:t>
            </a:r>
            <a:r>
              <a:rPr lang="en-US" dirty="0" err="1" smtClean="0"/>
              <a:t>src</a:t>
            </a:r>
            <a:r>
              <a:rPr lang="en-US" dirty="0" smtClean="0"/>
              <a:t>/App.jsx</a:t>
            </a:r>
            <a:r>
              <a:rPr lang="en-US" b="1" dirty="0" smtClean="0"/>
              <a:t> (props + children)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6021288"/>
          </a:xfrm>
        </p:spPr>
        <p:txBody>
          <a:bodyPr>
            <a:normAutofit fontScale="25000" lnSpcReduction="20000"/>
          </a:bodyPr>
          <a:lstStyle/>
          <a:p>
            <a:pPr marL="216000">
              <a:buNone/>
            </a:pPr>
            <a:r>
              <a:rPr lang="en-US" sz="4800" dirty="0" smtClean="0"/>
              <a:t>import </a:t>
            </a:r>
            <a:r>
              <a:rPr lang="en-US" sz="4800" dirty="0"/>
              <a:t>Layout from './components/Layout.jsx'</a:t>
            </a:r>
            <a:endParaRPr lang="ru-RU" sz="4800" dirty="0"/>
          </a:p>
          <a:p>
            <a:pPr marL="216000">
              <a:buNone/>
            </a:pPr>
            <a:r>
              <a:rPr lang="en-US" sz="5600" dirty="0"/>
              <a:t>import Header from './components/Header.jsx'</a:t>
            </a:r>
            <a:endParaRPr lang="ru-RU" sz="5600" dirty="0"/>
          </a:p>
          <a:p>
            <a:pPr marL="216000">
              <a:buNone/>
            </a:pPr>
            <a:r>
              <a:rPr lang="en-US" sz="5600" dirty="0"/>
              <a:t>import Sidebar from './components/Sidebar.jsx'</a:t>
            </a:r>
            <a:endParaRPr lang="ru-RU" sz="5600" dirty="0"/>
          </a:p>
          <a:p>
            <a:pPr marL="216000">
              <a:buNone/>
            </a:pPr>
            <a:r>
              <a:rPr lang="en-US" sz="5600" dirty="0"/>
              <a:t>import </a:t>
            </a:r>
            <a:r>
              <a:rPr lang="en-US" sz="5600" dirty="0" err="1"/>
              <a:t>MainContent</a:t>
            </a:r>
            <a:r>
              <a:rPr lang="en-US" sz="5600" dirty="0"/>
              <a:t> from './components/MainContent.jsx'</a:t>
            </a:r>
            <a:endParaRPr lang="ru-RU" sz="5600" dirty="0"/>
          </a:p>
          <a:p>
            <a:pPr marL="216000">
              <a:buNone/>
            </a:pPr>
            <a:r>
              <a:rPr lang="en-US" sz="5600" dirty="0"/>
              <a:t>import Footer from './components/Footer.jsx</a:t>
            </a:r>
            <a:r>
              <a:rPr lang="en-US" sz="5600" dirty="0" smtClean="0"/>
              <a:t>'</a:t>
            </a:r>
            <a:endParaRPr lang="ru-RU" sz="5600" dirty="0"/>
          </a:p>
          <a:p>
            <a:pPr marL="216000">
              <a:buNone/>
            </a:pPr>
            <a:r>
              <a:rPr lang="en-US" sz="5600" b="1" dirty="0"/>
              <a:t>function App() {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const </a:t>
            </a:r>
            <a:r>
              <a:rPr lang="en-US" sz="5600" b="1" dirty="0" err="1"/>
              <a:t>siteTitle</a:t>
            </a:r>
            <a:r>
              <a:rPr lang="en-US" sz="5600" b="1" dirty="0"/>
              <a:t> = '</a:t>
            </a:r>
            <a:r>
              <a:rPr lang="ru-RU" sz="5600" b="1" dirty="0"/>
              <a:t>Мой</a:t>
            </a:r>
            <a:r>
              <a:rPr lang="en-US" sz="5600" b="1" dirty="0"/>
              <a:t> React-</a:t>
            </a:r>
            <a:r>
              <a:rPr lang="ru-RU" sz="5600" b="1" dirty="0"/>
              <a:t>сайт</a:t>
            </a:r>
            <a:r>
              <a:rPr lang="en-US" sz="5600" b="1" dirty="0"/>
              <a:t>'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const </a:t>
            </a:r>
            <a:r>
              <a:rPr lang="en-US" sz="5600" b="1" dirty="0" err="1"/>
              <a:t>userName</a:t>
            </a:r>
            <a:r>
              <a:rPr lang="en-US" sz="5600" b="1" dirty="0"/>
              <a:t> = '</a:t>
            </a:r>
            <a:r>
              <a:rPr lang="ru-RU" sz="5600" b="1" dirty="0"/>
              <a:t>Студент</a:t>
            </a:r>
            <a:r>
              <a:rPr lang="en-US" sz="5600" b="1" dirty="0"/>
              <a:t>'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 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return (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&lt;Layout </a:t>
            </a:r>
            <a:r>
              <a:rPr lang="en-US" sz="5600" b="1" dirty="0" err="1"/>
              <a:t>siteTitle</a:t>
            </a:r>
            <a:r>
              <a:rPr lang="en-US" sz="5600" b="1" dirty="0"/>
              <a:t>={</a:t>
            </a:r>
            <a:r>
              <a:rPr lang="en-US" sz="5600" b="1" dirty="0" err="1"/>
              <a:t>siteTitle</a:t>
            </a:r>
            <a:r>
              <a:rPr lang="en-US" sz="5600" b="1" dirty="0"/>
              <a:t>}&gt;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&lt;Header title={</a:t>
            </a:r>
            <a:r>
              <a:rPr lang="en-US" sz="5600" b="1" dirty="0" err="1"/>
              <a:t>siteTitle</a:t>
            </a:r>
            <a:r>
              <a:rPr lang="en-US" sz="5600" b="1" dirty="0"/>
              <a:t>} </a:t>
            </a:r>
            <a:r>
              <a:rPr lang="en-US" sz="5600" b="1" dirty="0" err="1"/>
              <a:t>userName</a:t>
            </a:r>
            <a:r>
              <a:rPr lang="en-US" sz="5600" b="1" dirty="0"/>
              <a:t>={</a:t>
            </a:r>
            <a:r>
              <a:rPr lang="en-US" sz="5600" b="1" dirty="0" err="1"/>
              <a:t>userName</a:t>
            </a:r>
            <a:r>
              <a:rPr lang="en-US" sz="5600" b="1" dirty="0"/>
              <a:t>} /&gt;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&lt;Sidebar items={['</a:t>
            </a:r>
            <a:r>
              <a:rPr lang="ru-RU" sz="5600" b="1" dirty="0"/>
              <a:t>Главная</a:t>
            </a:r>
            <a:r>
              <a:rPr lang="en-US" sz="5600" b="1" dirty="0"/>
              <a:t>', '</a:t>
            </a:r>
            <a:r>
              <a:rPr lang="ru-RU" sz="5600" b="1" dirty="0"/>
              <a:t>О нас</a:t>
            </a:r>
            <a:r>
              <a:rPr lang="en-US" sz="5600" b="1" dirty="0"/>
              <a:t>', '</a:t>
            </a:r>
            <a:r>
              <a:rPr lang="ru-RU" sz="5600" b="1" dirty="0"/>
              <a:t>Услуги</a:t>
            </a:r>
            <a:r>
              <a:rPr lang="en-US" sz="5600" b="1" dirty="0"/>
              <a:t>', '</a:t>
            </a:r>
            <a:r>
              <a:rPr lang="ru-RU" sz="5600" b="1" dirty="0"/>
              <a:t>Контакты</a:t>
            </a:r>
            <a:r>
              <a:rPr lang="en-US" sz="5600" b="1" dirty="0"/>
              <a:t>']} /&gt;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</a:t>
            </a:r>
            <a:r>
              <a:rPr lang="ru-RU" sz="5600" b="1" dirty="0"/>
              <a:t>&lt;</a:t>
            </a:r>
            <a:r>
              <a:rPr lang="ru-RU" sz="5600" b="1" dirty="0" err="1"/>
              <a:t>MainContent</a:t>
            </a:r>
            <a:r>
              <a:rPr lang="ru-RU" sz="5600" b="1" dirty="0"/>
              <a:t>&gt;</a:t>
            </a:r>
          </a:p>
          <a:p>
            <a:pPr marL="216000">
              <a:buNone/>
            </a:pPr>
            <a:r>
              <a:rPr lang="ru-RU" sz="5600" b="1" dirty="0"/>
              <a:t>        &lt;h1&gt;Добро пожаловать!&lt;/h1&gt;</a:t>
            </a:r>
          </a:p>
          <a:p>
            <a:pPr marL="216000">
              <a:buNone/>
            </a:pPr>
            <a:r>
              <a:rPr lang="ru-RU" sz="5600" b="1" dirty="0"/>
              <a:t>        &lt;</a:t>
            </a:r>
            <a:r>
              <a:rPr lang="ru-RU" sz="5600" b="1" dirty="0" err="1"/>
              <a:t>p</a:t>
            </a:r>
            <a:r>
              <a:rPr lang="ru-RU" sz="5600" b="1" dirty="0"/>
              <a:t>&gt;Это пример макета на CSS </a:t>
            </a:r>
            <a:r>
              <a:rPr lang="ru-RU" sz="5600" b="1" dirty="0" err="1"/>
              <a:t>Grid</a:t>
            </a:r>
            <a:r>
              <a:rPr lang="ru-RU" sz="5600" b="1" dirty="0"/>
              <a:t> с React-компонентами (JS версия).&lt;/</a:t>
            </a:r>
            <a:r>
              <a:rPr lang="ru-RU" sz="5600" b="1" dirty="0" err="1"/>
              <a:t>p</a:t>
            </a:r>
            <a:r>
              <a:rPr lang="ru-RU" sz="5600" b="1" dirty="0"/>
              <a:t>&gt;</a:t>
            </a:r>
          </a:p>
          <a:p>
            <a:pPr marL="216000">
              <a:buNone/>
            </a:pPr>
            <a:r>
              <a:rPr lang="ru-RU" sz="5600" b="1" dirty="0"/>
              <a:t>        </a:t>
            </a:r>
            <a:r>
              <a:rPr lang="en-US" sz="5600" b="1" dirty="0"/>
              <a:t>&lt;</a:t>
            </a:r>
            <a:r>
              <a:rPr lang="en-US" sz="5600" b="1" dirty="0" err="1"/>
              <a:t>ul</a:t>
            </a:r>
            <a:r>
              <a:rPr lang="en-US" sz="5600" b="1" dirty="0"/>
              <a:t>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    &lt;</a:t>
            </a:r>
            <a:r>
              <a:rPr lang="en-US" sz="5600" b="1" dirty="0" err="1"/>
              <a:t>li</a:t>
            </a:r>
            <a:r>
              <a:rPr lang="en-US" sz="5600" b="1" dirty="0"/>
              <a:t>&gt;Grid-</a:t>
            </a:r>
            <a:r>
              <a:rPr lang="ru-RU" sz="5600" b="1" dirty="0"/>
              <a:t>области задаются через</a:t>
            </a:r>
            <a:r>
              <a:rPr lang="en-US" sz="5600" b="1" dirty="0"/>
              <a:t> &lt;code&gt;grid-template-areas&lt;/code&gt;.&lt;/</a:t>
            </a:r>
            <a:r>
              <a:rPr lang="en-US" sz="5600" b="1" dirty="0" err="1"/>
              <a:t>li</a:t>
            </a:r>
            <a:r>
              <a:rPr lang="en-US" sz="5600" b="1" dirty="0"/>
              <a:t>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    &lt;</a:t>
            </a:r>
            <a:r>
              <a:rPr lang="en-US" sz="5600" b="1" dirty="0" err="1"/>
              <a:t>li</a:t>
            </a:r>
            <a:r>
              <a:rPr lang="en-US" sz="5600" b="1" dirty="0"/>
              <a:t>&gt;</a:t>
            </a:r>
            <a:r>
              <a:rPr lang="ru-RU" sz="5600" b="1" dirty="0" err="1"/>
              <a:t>Контент</a:t>
            </a:r>
            <a:r>
              <a:rPr lang="ru-RU" sz="5600" b="1" dirty="0"/>
              <a:t> передаётся через</a:t>
            </a:r>
            <a:r>
              <a:rPr lang="en-US" sz="5600" b="1" dirty="0"/>
              <a:t> &lt;code&gt;children&lt;/code&gt; (</a:t>
            </a:r>
            <a:r>
              <a:rPr lang="ru-RU" sz="5600" b="1" dirty="0"/>
              <a:t>аналог слотов</a:t>
            </a:r>
            <a:r>
              <a:rPr lang="en-US" sz="5600" b="1" dirty="0"/>
              <a:t>).&lt;/</a:t>
            </a:r>
            <a:r>
              <a:rPr lang="en-US" sz="5600" b="1" dirty="0" err="1"/>
              <a:t>li</a:t>
            </a:r>
            <a:r>
              <a:rPr lang="en-US" sz="5600" b="1" dirty="0"/>
              <a:t>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    </a:t>
            </a:r>
            <a:r>
              <a:rPr lang="ru-RU" sz="5600" b="1" dirty="0"/>
              <a:t>&lt;</a:t>
            </a:r>
            <a:r>
              <a:rPr lang="ru-RU" sz="5600" b="1" dirty="0" err="1"/>
              <a:t>li</a:t>
            </a:r>
            <a:r>
              <a:rPr lang="ru-RU" sz="5600" b="1" dirty="0"/>
              <a:t>&gt;Данные передаются через &lt;</a:t>
            </a:r>
            <a:r>
              <a:rPr lang="ru-RU" sz="5600" b="1" dirty="0" err="1"/>
              <a:t>code</a:t>
            </a:r>
            <a:r>
              <a:rPr lang="ru-RU" sz="5600" b="1" dirty="0"/>
              <a:t>&gt;</a:t>
            </a:r>
            <a:r>
              <a:rPr lang="ru-RU" sz="5600" b="1" dirty="0" err="1"/>
              <a:t>props</a:t>
            </a:r>
            <a:r>
              <a:rPr lang="ru-RU" sz="5600" b="1" dirty="0"/>
              <a:t>&lt;/</a:t>
            </a:r>
            <a:r>
              <a:rPr lang="ru-RU" sz="5600" b="1" dirty="0" err="1"/>
              <a:t>code</a:t>
            </a:r>
            <a:r>
              <a:rPr lang="ru-RU" sz="5600" b="1" dirty="0"/>
              <a:t>&gt;.&lt;/</a:t>
            </a:r>
            <a:r>
              <a:rPr lang="ru-RU" sz="5600" b="1" dirty="0" err="1"/>
              <a:t>li</a:t>
            </a:r>
            <a:r>
              <a:rPr lang="ru-RU" sz="5600" b="1" dirty="0"/>
              <a:t>&gt;</a:t>
            </a:r>
          </a:p>
          <a:p>
            <a:pPr marL="216000">
              <a:buNone/>
            </a:pPr>
            <a:r>
              <a:rPr lang="ru-RU" sz="5600" b="1" dirty="0"/>
              <a:t>        </a:t>
            </a:r>
            <a:r>
              <a:rPr lang="en-US" sz="5600" b="1" dirty="0"/>
              <a:t>&lt;/</a:t>
            </a:r>
            <a:r>
              <a:rPr lang="en-US" sz="5600" b="1" dirty="0" err="1"/>
              <a:t>ul</a:t>
            </a:r>
            <a:r>
              <a:rPr lang="en-US" sz="5600" b="1" dirty="0"/>
              <a:t>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&lt;/</a:t>
            </a:r>
            <a:r>
              <a:rPr lang="en-US" sz="5600" b="1" dirty="0" err="1"/>
              <a:t>MainContent</a:t>
            </a:r>
            <a:r>
              <a:rPr lang="en-US" sz="5600" b="1" dirty="0"/>
              <a:t>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  &lt;Footer year={new Date().</a:t>
            </a:r>
            <a:r>
              <a:rPr lang="en-US" sz="5600" b="1" dirty="0" err="1"/>
              <a:t>getFullYear</a:t>
            </a:r>
            <a:r>
              <a:rPr lang="en-US" sz="5600" b="1" dirty="0"/>
              <a:t>()} /&gt;</a:t>
            </a:r>
            <a:endParaRPr lang="ru-RU" sz="5600" b="1" dirty="0"/>
          </a:p>
          <a:p>
            <a:pPr marL="216000">
              <a:buNone/>
            </a:pPr>
            <a:r>
              <a:rPr lang="en-US" sz="5600" b="1" dirty="0"/>
              <a:t>    </a:t>
            </a:r>
            <a:r>
              <a:rPr lang="ru-RU" sz="5600" b="1" dirty="0"/>
              <a:t>&lt;/</a:t>
            </a:r>
            <a:r>
              <a:rPr lang="ru-RU" sz="5600" b="1" dirty="0" err="1"/>
              <a:t>Layout</a:t>
            </a:r>
            <a:r>
              <a:rPr lang="ru-RU" sz="5600" b="1" dirty="0" smtClean="0"/>
              <a:t>&gt;  </a:t>
            </a:r>
            <a:r>
              <a:rPr lang="ru-RU" sz="5600" b="1" dirty="0"/>
              <a:t>)</a:t>
            </a:r>
          </a:p>
          <a:p>
            <a:pPr marL="216000">
              <a:buNone/>
            </a:pPr>
            <a:r>
              <a:rPr lang="ru-RU" sz="5600" b="1" dirty="0" smtClean="0"/>
              <a:t>}</a:t>
            </a:r>
            <a:r>
              <a:rPr lang="ru-RU" sz="5600" b="1" dirty="0"/>
              <a:t> </a:t>
            </a:r>
          </a:p>
          <a:p>
            <a:pPr marL="216000">
              <a:buNone/>
            </a:pPr>
            <a:r>
              <a:rPr lang="ru-RU" sz="5600" b="1" dirty="0" err="1"/>
              <a:t>export</a:t>
            </a:r>
            <a:r>
              <a:rPr lang="ru-RU" sz="5600" b="1" dirty="0"/>
              <a:t> </a:t>
            </a:r>
            <a:r>
              <a:rPr lang="ru-RU" sz="5600" b="1" dirty="0" err="1"/>
              <a:t>default</a:t>
            </a:r>
            <a:r>
              <a:rPr lang="ru-RU" sz="5600" b="1" dirty="0"/>
              <a:t> </a:t>
            </a:r>
            <a:r>
              <a:rPr lang="ru-RU" sz="5600" b="1" dirty="0" err="1"/>
              <a:t>App</a:t>
            </a:r>
            <a:endParaRPr lang="ru-RU" sz="5600" b="1" dirty="0"/>
          </a:p>
          <a:p>
            <a:pPr marL="216000">
              <a:buNone/>
            </a:pPr>
            <a:endParaRPr lang="ru-RU" sz="5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 чём суть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b="1" dirty="0" err="1" smtClean="0"/>
              <a:t>children</a:t>
            </a:r>
            <a:r>
              <a:rPr lang="ru-RU" b="1" dirty="0" smtClean="0"/>
              <a:t> </a:t>
            </a:r>
            <a:r>
              <a:rPr lang="ru-RU" dirty="0" smtClean="0"/>
              <a:t>— это специальный </a:t>
            </a:r>
            <a:r>
              <a:rPr lang="ru-RU" dirty="0" err="1" smtClean="0"/>
              <a:t>prop</a:t>
            </a:r>
            <a:r>
              <a:rPr lang="ru-RU" dirty="0" smtClean="0"/>
              <a:t>, который </a:t>
            </a:r>
            <a:r>
              <a:rPr lang="ru-RU" dirty="0" err="1" smtClean="0"/>
              <a:t>React</a:t>
            </a:r>
            <a:r>
              <a:rPr lang="ru-RU" dirty="0" smtClean="0"/>
              <a:t> автоматически создаёт для любого компонента, у которого есть содержимое между открывающим и закрывающим тегами.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 В нашем случае внутрь </a:t>
            </a:r>
            <a:r>
              <a:rPr lang="ru-RU" dirty="0" err="1" smtClean="0"/>
              <a:t>MainContent</a:t>
            </a:r>
            <a:r>
              <a:rPr lang="ru-RU" dirty="0" smtClean="0"/>
              <a:t> положили заголовок и параграф —</a:t>
            </a:r>
            <a:endParaRPr lang="en-US" dirty="0" smtClean="0"/>
          </a:p>
          <a:p>
            <a:pPr marL="216000"/>
            <a:r>
              <a:rPr lang="ru-RU" b="1" dirty="0" smtClean="0"/>
              <a:t>&lt;h1&gt;Добро пожаловать!&lt;/h1&gt;</a:t>
            </a:r>
          </a:p>
          <a:p>
            <a:pPr marL="216000"/>
            <a:r>
              <a:rPr lang="ru-RU" b="1" dirty="0" smtClean="0"/>
              <a:t>        &lt;</a:t>
            </a:r>
            <a:r>
              <a:rPr lang="ru-RU" b="1" dirty="0" err="1" smtClean="0"/>
              <a:t>p</a:t>
            </a:r>
            <a:r>
              <a:rPr lang="ru-RU" b="1" dirty="0" smtClean="0"/>
              <a:t>&gt;Это пример макета на CSS </a:t>
            </a:r>
            <a:r>
              <a:rPr lang="ru-RU" b="1" dirty="0" err="1" smtClean="0"/>
              <a:t>Grid</a:t>
            </a:r>
            <a:r>
              <a:rPr lang="ru-RU" b="1" dirty="0" smtClean="0"/>
              <a:t> с React-компонентами (JS версия).&lt;/</a:t>
            </a:r>
            <a:r>
              <a:rPr lang="ru-RU" b="1" dirty="0" err="1" smtClean="0"/>
              <a:t>p</a:t>
            </a:r>
            <a:r>
              <a:rPr lang="ru-RU" b="1" dirty="0" smtClean="0"/>
              <a:t> </a:t>
            </a:r>
            <a:r>
              <a:rPr lang="en-US" b="1" dirty="0" smtClean="0"/>
              <a:t>&gt;</a:t>
            </a:r>
          </a:p>
          <a:p>
            <a:pPr marL="216000">
              <a:buNone/>
            </a:pPr>
            <a:r>
              <a:rPr lang="ru-RU" dirty="0" smtClean="0"/>
              <a:t> и они попадают в </a:t>
            </a:r>
            <a:r>
              <a:rPr lang="ru-RU" dirty="0" err="1" smtClean="0"/>
              <a:t>children</a:t>
            </a:r>
            <a:r>
              <a:rPr lang="ru-RU" dirty="0" smtClean="0"/>
              <a:t> как фрагмент JSX.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Компонент не знает и не должен знать, что там лежит: это может быть текст, картинка, другой компонент или целая вложенная структура.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Он просто </a:t>
            </a:r>
            <a:r>
              <a:rPr lang="ru-RU" dirty="0" err="1" smtClean="0"/>
              <a:t>рендерит</a:t>
            </a:r>
            <a:r>
              <a:rPr lang="ru-RU" dirty="0" smtClean="0"/>
              <a:t> {</a:t>
            </a:r>
            <a:r>
              <a:rPr lang="ru-RU" dirty="0" err="1" smtClean="0"/>
              <a:t>children</a:t>
            </a:r>
            <a:r>
              <a:rPr lang="ru-RU" dirty="0" smtClean="0"/>
              <a:t>} в нужном месте.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Что именно делает &lt;</a:t>
            </a:r>
            <a:r>
              <a:rPr lang="ru-RU" b="1" dirty="0" err="1" smtClean="0"/>
              <a:t>code</a:t>
            </a:r>
            <a:r>
              <a:rPr lang="ru-RU" b="1" dirty="0" smtClean="0"/>
              <a:t>&gt;</a:t>
            </a:r>
            <a:r>
              <a:rPr lang="ru-RU" b="1" dirty="0" err="1" smtClean="0"/>
              <a:t>grid-template-areas</a:t>
            </a:r>
            <a:r>
              <a:rPr lang="ru-RU" b="1" dirty="0" smtClean="0"/>
              <a:t>&lt;/</a:t>
            </a:r>
            <a:r>
              <a:rPr lang="ru-RU" b="1" dirty="0" err="1" smtClean="0"/>
              <a:t>code</a:t>
            </a:r>
            <a:r>
              <a:rPr lang="ru-RU" b="1" dirty="0" smtClean="0"/>
              <a:t>&gt;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dirty="0" smtClean="0"/>
              <a:t>&lt;</a:t>
            </a:r>
            <a:r>
              <a:rPr lang="ru-RU" dirty="0" err="1"/>
              <a:t>code</a:t>
            </a:r>
            <a:r>
              <a:rPr lang="ru-RU" dirty="0"/>
              <a:t>&gt;</a:t>
            </a:r>
            <a:r>
              <a:rPr lang="ru-RU" dirty="0" err="1"/>
              <a:t>grid-template-areas</a:t>
            </a:r>
            <a:r>
              <a:rPr lang="ru-RU" dirty="0"/>
              <a:t>&lt;/</a:t>
            </a:r>
            <a:r>
              <a:rPr lang="ru-RU" dirty="0" err="1"/>
              <a:t>code</a:t>
            </a:r>
            <a:r>
              <a:rPr lang="ru-RU" dirty="0"/>
              <a:t>&gt; </a:t>
            </a:r>
          </a:p>
          <a:p>
            <a:pPr>
              <a:buNone/>
            </a:pPr>
            <a:r>
              <a:rPr lang="ru-RU" dirty="0"/>
              <a:t>Браузер отобразит </a:t>
            </a:r>
            <a:r>
              <a:rPr lang="ru-RU" dirty="0" err="1"/>
              <a:t>grid-template-areas</a:t>
            </a:r>
            <a:r>
              <a:rPr lang="ru-RU" dirty="0"/>
              <a:t> как фрагмент кода.</a:t>
            </a:r>
          </a:p>
          <a:p>
            <a:pPr>
              <a:buNone/>
            </a:pPr>
            <a:r>
              <a:rPr lang="ru-RU" dirty="0"/>
              <a:t>Шрифт станет </a:t>
            </a:r>
            <a:r>
              <a:rPr lang="ru-RU" dirty="0" err="1"/>
              <a:t>моноширинным</a:t>
            </a:r>
            <a:r>
              <a:rPr lang="ru-RU" dirty="0"/>
              <a:t> (как в редакторе кода).</a:t>
            </a:r>
          </a:p>
          <a:p>
            <a:pPr>
              <a:buNone/>
            </a:pPr>
            <a:r>
              <a:rPr lang="ru-RU" dirty="0"/>
              <a:t>Слово будет визуально отделено от остального текста — читателю сразу понятно: «это название CSS‑свойства, а не часть предложения».</a:t>
            </a:r>
          </a:p>
          <a:p>
            <a:pPr>
              <a:buNone/>
            </a:pPr>
            <a:r>
              <a:rPr lang="ru-RU" b="1" dirty="0"/>
              <a:t>Зачем это нужно в </a:t>
            </a:r>
            <a:r>
              <a:rPr lang="ru-RU" b="1" dirty="0" smtClean="0"/>
              <a:t>документации</a:t>
            </a:r>
            <a:endParaRPr lang="ru-RU" b="1" dirty="0"/>
          </a:p>
          <a:p>
            <a:pPr>
              <a:buNone/>
            </a:pPr>
            <a:r>
              <a:rPr lang="ru-RU" b="1" dirty="0"/>
              <a:t>Читаемость.</a:t>
            </a:r>
            <a:r>
              <a:rPr lang="ru-RU" dirty="0"/>
              <a:t> В обычном тексте </a:t>
            </a:r>
            <a:r>
              <a:rPr lang="ru-RU" dirty="0" err="1"/>
              <a:t>grid-template-areas</a:t>
            </a:r>
            <a:r>
              <a:rPr lang="ru-RU" dirty="0"/>
              <a:t> может сливаться с окружением. В &lt;</a:t>
            </a:r>
            <a:r>
              <a:rPr lang="ru-RU" dirty="0" err="1"/>
              <a:t>code</a:t>
            </a:r>
            <a:r>
              <a:rPr lang="ru-RU" dirty="0"/>
              <a:t>&gt; оно сразу бросается в глаза.</a:t>
            </a:r>
          </a:p>
          <a:p>
            <a:pPr>
              <a:buNone/>
            </a:pPr>
            <a:r>
              <a:rPr lang="ru-RU" b="1" dirty="0"/>
              <a:t>Однозначность.</a:t>
            </a:r>
            <a:r>
              <a:rPr lang="ru-RU" dirty="0"/>
              <a:t> Если пишешь «используй </a:t>
            </a:r>
            <a:r>
              <a:rPr lang="ru-RU" dirty="0" err="1"/>
              <a:t>grid-template-areas</a:t>
            </a:r>
            <a:r>
              <a:rPr lang="ru-RU" dirty="0"/>
              <a:t>», читатель может подумать, что это фраза на английском. В коде — это технический термин.</a:t>
            </a:r>
          </a:p>
          <a:p>
            <a:pPr>
              <a:buNone/>
            </a:pPr>
            <a:r>
              <a:rPr lang="ru-RU" b="1" dirty="0"/>
              <a:t>Доступность.</a:t>
            </a:r>
            <a:r>
              <a:rPr lang="ru-RU" dirty="0"/>
              <a:t> </a:t>
            </a:r>
            <a:r>
              <a:rPr lang="ru-RU" dirty="0" err="1"/>
              <a:t>Скринридеры</a:t>
            </a:r>
            <a:r>
              <a:rPr lang="ru-RU" dirty="0"/>
              <a:t> (программы для незрячих) по умолчанию читают содержимое &lt;</a:t>
            </a:r>
            <a:r>
              <a:rPr lang="ru-RU" dirty="0" err="1"/>
              <a:t>code</a:t>
            </a:r>
            <a:r>
              <a:rPr lang="ru-RU" dirty="0"/>
              <a:t>&gt; с особой интонацией, сигнализируя: «тут фрагмент кода».</a:t>
            </a:r>
          </a:p>
          <a:p>
            <a:pPr>
              <a:buNone/>
            </a:pPr>
            <a:r>
              <a:rPr lang="ru-RU" b="1" dirty="0"/>
              <a:t>Стилизация.</a:t>
            </a:r>
            <a:r>
              <a:rPr lang="ru-RU" dirty="0"/>
              <a:t> К &lt;</a:t>
            </a:r>
            <a:r>
              <a:rPr lang="ru-RU" dirty="0" err="1"/>
              <a:t>code</a:t>
            </a:r>
            <a:r>
              <a:rPr lang="ru-RU" dirty="0"/>
              <a:t>&gt; легко применить </a:t>
            </a:r>
            <a:r>
              <a:rPr lang="ru-RU" dirty="0" err="1"/>
              <a:t>кастомные</a:t>
            </a:r>
            <a:r>
              <a:rPr lang="ru-RU" dirty="0"/>
              <a:t> стили: тёмный фон, подсветку синтаксиса, рамки — чтобы код выглядел как в редакторе.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В JS работает </a:t>
            </a:r>
            <a:r>
              <a:rPr lang="ru-RU" sz="2800" b="1" dirty="0" smtClean="0"/>
              <a:t>автоматическая вставка точек с запятой (ASI — </a:t>
            </a:r>
            <a:r>
              <a:rPr lang="ru-RU" sz="2800" b="1" dirty="0" err="1" smtClean="0"/>
              <a:t>Automatic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Semicolon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Insertion</a:t>
            </a:r>
            <a:r>
              <a:rPr lang="ru-RU" sz="2800" b="1" dirty="0" smtClean="0"/>
              <a:t>)</a:t>
            </a:r>
            <a:r>
              <a:rPr lang="ru-RU" sz="2800" dirty="0" smtClean="0"/>
              <a:t>. 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Если строка заканчивается и дальше идёт что-то, что не может быть продолжением этого выражения, JS сам «подставит» точку с запятой.</a:t>
            </a:r>
          </a:p>
          <a:p>
            <a:pPr>
              <a:buNone/>
            </a:pPr>
            <a:r>
              <a:rPr lang="ru-RU" dirty="0" smtClean="0"/>
              <a:t>В данном случае:</a:t>
            </a:r>
          </a:p>
          <a:p>
            <a:pPr>
              <a:buNone/>
            </a:pPr>
            <a:r>
              <a:rPr lang="ru-RU" dirty="0" smtClean="0"/>
              <a:t>строка заканчивается после );</a:t>
            </a:r>
          </a:p>
          <a:p>
            <a:pPr>
              <a:buNone/>
            </a:pPr>
            <a:r>
              <a:rPr lang="ru-RU" dirty="0" smtClean="0"/>
              <a:t>дальше ничего нет (или идёт конец файла/новая строка);</a:t>
            </a:r>
          </a:p>
          <a:p>
            <a:pPr>
              <a:buNone/>
            </a:pPr>
            <a:r>
              <a:rPr lang="ru-RU" dirty="0" smtClean="0"/>
              <a:t>JS понимает, что это конец выражения, и считает, что точка с запятой там есть.</a:t>
            </a:r>
          </a:p>
          <a:p>
            <a:pPr>
              <a:buNone/>
            </a:pPr>
            <a:r>
              <a:rPr lang="ru-RU" b="1" dirty="0" smtClean="0"/>
              <a:t>Почему в современном коде часто её не ставят</a:t>
            </a:r>
          </a:p>
          <a:p>
            <a:pPr>
              <a:buNone/>
            </a:pPr>
            <a:r>
              <a:rPr lang="ru-RU" b="1" dirty="0" smtClean="0"/>
              <a:t>Стиль (</a:t>
            </a:r>
            <a:r>
              <a:rPr lang="ru-RU" b="1" dirty="0" err="1" smtClean="0"/>
              <a:t>Prettier</a:t>
            </a:r>
            <a:r>
              <a:rPr lang="ru-RU" b="1" dirty="0" smtClean="0"/>
              <a:t> и др.)</a:t>
            </a:r>
            <a:r>
              <a:rPr lang="ru-RU" dirty="0" smtClean="0"/>
              <a:t> — популярные </a:t>
            </a:r>
            <a:r>
              <a:rPr lang="ru-RU" dirty="0" err="1" smtClean="0"/>
              <a:t>форматтеры</a:t>
            </a:r>
            <a:r>
              <a:rPr lang="ru-RU" dirty="0" smtClean="0"/>
              <a:t> по умолчанию убирают «лишние» точки с запятой.</a:t>
            </a:r>
          </a:p>
          <a:p>
            <a:pPr>
              <a:buNone/>
            </a:pPr>
            <a:r>
              <a:rPr lang="ru-RU" b="1" dirty="0" smtClean="0"/>
              <a:t>Меньше шума</a:t>
            </a:r>
            <a:r>
              <a:rPr lang="ru-RU" dirty="0" smtClean="0"/>
              <a:t> — код выглядит чище.</a:t>
            </a:r>
          </a:p>
          <a:p>
            <a:pPr>
              <a:buNone/>
            </a:pPr>
            <a:r>
              <a:rPr lang="ru-RU" b="1" dirty="0" smtClean="0"/>
              <a:t>Это безопасно</a:t>
            </a:r>
            <a:r>
              <a:rPr lang="ru-RU" dirty="0" smtClean="0"/>
              <a:t> для таких случаев, как вызов функции в конце строки.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4. </a:t>
            </a:r>
            <a:r>
              <a:rPr lang="en-US" dirty="0" err="1" smtClean="0"/>
              <a:t>src</a:t>
            </a:r>
            <a:r>
              <a:rPr lang="en-US" dirty="0" smtClean="0"/>
              <a:t>/components/Layout.jsx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function </a:t>
            </a:r>
            <a:r>
              <a:rPr lang="en-US" dirty="0"/>
              <a:t>Layout({ </a:t>
            </a:r>
            <a:r>
              <a:rPr lang="en-US" dirty="0" err="1"/>
              <a:t>siteTitle</a:t>
            </a:r>
            <a:r>
              <a:rPr lang="en-US" dirty="0"/>
              <a:t>, children }) {</a:t>
            </a:r>
            <a:endParaRPr lang="ru-RU" dirty="0"/>
          </a:p>
          <a:p>
            <a:pPr>
              <a:buNone/>
            </a:pPr>
            <a:r>
              <a:rPr lang="en-US" dirty="0"/>
              <a:t>  return (</a:t>
            </a:r>
            <a:endParaRPr lang="ru-RU" dirty="0"/>
          </a:p>
          <a:p>
            <a:pPr>
              <a:buNone/>
            </a:pPr>
            <a:r>
              <a:rPr lang="en-US" dirty="0"/>
              <a:t>    &lt;div </a:t>
            </a:r>
            <a:r>
              <a:rPr lang="en-US" dirty="0" err="1"/>
              <a:t>className</a:t>
            </a:r>
            <a:r>
              <a:rPr lang="en-US" dirty="0"/>
              <a:t>="layout" aria-label={`</a:t>
            </a:r>
            <a:r>
              <a:rPr lang="ru-RU" dirty="0"/>
              <a:t>Макет сайта</a:t>
            </a:r>
            <a:r>
              <a:rPr lang="en-US" dirty="0"/>
              <a:t>: ${</a:t>
            </a:r>
            <a:r>
              <a:rPr lang="en-US" dirty="0" err="1"/>
              <a:t>siteTitle</a:t>
            </a:r>
            <a:r>
              <a:rPr lang="en-US" dirty="0"/>
              <a:t>}`}&gt;</a:t>
            </a:r>
            <a:endParaRPr lang="ru-RU" dirty="0"/>
          </a:p>
          <a:p>
            <a:pPr>
              <a:buNone/>
            </a:pPr>
            <a:r>
              <a:rPr lang="en-US" dirty="0"/>
              <a:t>      </a:t>
            </a:r>
            <a:r>
              <a:rPr lang="ru-RU" dirty="0"/>
              <a:t>{</a:t>
            </a:r>
            <a:r>
              <a:rPr lang="ru-RU" dirty="0" err="1"/>
              <a:t>children</a:t>
            </a: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    &lt;/</a:t>
            </a:r>
            <a:r>
              <a:rPr lang="ru-RU" dirty="0" err="1"/>
              <a:t>div</a:t>
            </a:r>
            <a:r>
              <a:rPr lang="ru-RU" dirty="0"/>
              <a:t>&gt;</a:t>
            </a:r>
          </a:p>
          <a:p>
            <a:pPr>
              <a:buNone/>
            </a:pPr>
            <a:r>
              <a:rPr lang="ru-RU" dirty="0"/>
              <a:t>  )</a:t>
            </a:r>
          </a:p>
          <a:p>
            <a:pPr>
              <a:buNone/>
            </a:pP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 </a:t>
            </a:r>
          </a:p>
          <a:p>
            <a:pPr>
              <a:buNone/>
            </a:pPr>
            <a:r>
              <a:rPr lang="ru-RU" dirty="0" err="1"/>
              <a:t>export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Layout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5. </a:t>
            </a:r>
            <a:r>
              <a:rPr lang="en-US" dirty="0" err="1" smtClean="0"/>
              <a:t>src</a:t>
            </a:r>
            <a:r>
              <a:rPr lang="en-US" dirty="0" smtClean="0"/>
              <a:t>/components/Header.jsx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function </a:t>
            </a:r>
            <a:r>
              <a:rPr lang="en-US" dirty="0"/>
              <a:t>Header({ title, </a:t>
            </a:r>
            <a:r>
              <a:rPr lang="en-US" dirty="0" err="1"/>
              <a:t>userName</a:t>
            </a:r>
            <a:r>
              <a:rPr lang="en-US" dirty="0"/>
              <a:t> }) {</a:t>
            </a:r>
            <a:endParaRPr lang="ru-RU" dirty="0"/>
          </a:p>
          <a:p>
            <a:pPr>
              <a:buNone/>
            </a:pPr>
            <a:r>
              <a:rPr lang="en-US" dirty="0"/>
              <a:t>  return (</a:t>
            </a:r>
            <a:endParaRPr lang="ru-RU" dirty="0"/>
          </a:p>
          <a:p>
            <a:pPr>
              <a:buNone/>
            </a:pPr>
            <a:r>
              <a:rPr lang="en-US" dirty="0"/>
              <a:t>    &lt;header </a:t>
            </a:r>
            <a:r>
              <a:rPr lang="en-US" dirty="0" err="1"/>
              <a:t>className</a:t>
            </a:r>
            <a:r>
              <a:rPr lang="en-US" dirty="0"/>
              <a:t>="header"&gt;</a:t>
            </a:r>
            <a:endParaRPr lang="ru-RU" dirty="0"/>
          </a:p>
          <a:p>
            <a:pPr>
              <a:buNone/>
            </a:pPr>
            <a:r>
              <a:rPr lang="en-US" dirty="0"/>
              <a:t>      &lt;h1&gt;{title}&lt;/h1&gt;</a:t>
            </a:r>
            <a:endParaRPr lang="ru-RU" dirty="0"/>
          </a:p>
          <a:p>
            <a:pPr>
              <a:buNone/>
            </a:pPr>
            <a:r>
              <a:rPr lang="en-US" dirty="0"/>
              <a:t>      {</a:t>
            </a:r>
            <a:r>
              <a:rPr lang="en-US" dirty="0" err="1"/>
              <a:t>userName</a:t>
            </a:r>
            <a:r>
              <a:rPr lang="en-US" dirty="0"/>
              <a:t> &amp;&amp; (</a:t>
            </a:r>
            <a:endParaRPr lang="ru-RU" dirty="0"/>
          </a:p>
          <a:p>
            <a:pPr>
              <a:buNone/>
            </a:pPr>
            <a:r>
              <a:rPr lang="en-US" dirty="0"/>
              <a:t>        &lt;span </a:t>
            </a:r>
            <a:r>
              <a:rPr lang="en-US" dirty="0" err="1"/>
              <a:t>className</a:t>
            </a:r>
            <a:r>
              <a:rPr lang="en-US" dirty="0"/>
              <a:t>="user-badge"&gt;</a:t>
            </a:r>
            <a:r>
              <a:rPr lang="ru-RU" dirty="0"/>
              <a:t>Привет</a:t>
            </a:r>
            <a:r>
              <a:rPr lang="en-US" dirty="0"/>
              <a:t>, {</a:t>
            </a:r>
            <a:r>
              <a:rPr lang="en-US" dirty="0" err="1"/>
              <a:t>userName</a:t>
            </a:r>
            <a:r>
              <a:rPr lang="en-US" dirty="0"/>
              <a:t>}&lt;/span&gt;</a:t>
            </a:r>
            <a:endParaRPr lang="ru-RU" dirty="0"/>
          </a:p>
          <a:p>
            <a:pPr>
              <a:buNone/>
            </a:pPr>
            <a:r>
              <a:rPr lang="en-US" dirty="0"/>
              <a:t>      </a:t>
            </a:r>
            <a:r>
              <a:rPr lang="ru-RU" dirty="0"/>
              <a:t>)}</a:t>
            </a:r>
          </a:p>
          <a:p>
            <a:pPr>
              <a:buNone/>
            </a:pPr>
            <a:r>
              <a:rPr lang="ru-RU" dirty="0"/>
              <a:t>    &lt;/</a:t>
            </a:r>
            <a:r>
              <a:rPr lang="ru-RU" dirty="0" err="1"/>
              <a:t>header</a:t>
            </a:r>
            <a:r>
              <a:rPr lang="ru-RU" dirty="0"/>
              <a:t>&gt;</a:t>
            </a:r>
          </a:p>
          <a:p>
            <a:pPr>
              <a:buNone/>
            </a:pPr>
            <a:r>
              <a:rPr lang="ru-RU" dirty="0"/>
              <a:t>  )</a:t>
            </a:r>
          </a:p>
          <a:p>
            <a:pPr>
              <a:buNone/>
            </a:pP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 </a:t>
            </a:r>
          </a:p>
          <a:p>
            <a:pPr>
              <a:buNone/>
            </a:pPr>
            <a:r>
              <a:rPr lang="ru-RU" dirty="0" err="1"/>
              <a:t>export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Header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6. </a:t>
            </a:r>
            <a:r>
              <a:rPr lang="en-US" dirty="0" err="1" smtClean="0"/>
              <a:t>src</a:t>
            </a:r>
            <a:r>
              <a:rPr lang="en-US" dirty="0" smtClean="0"/>
              <a:t>/components/Sidebar.jsx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function </a:t>
            </a:r>
            <a:r>
              <a:rPr lang="en-US" dirty="0"/>
              <a:t>Sidebar({ items }) {</a:t>
            </a:r>
            <a:endParaRPr lang="ru-RU" dirty="0"/>
          </a:p>
          <a:p>
            <a:pPr>
              <a:buNone/>
            </a:pPr>
            <a:r>
              <a:rPr lang="en-US" dirty="0"/>
              <a:t>  return (</a:t>
            </a:r>
            <a:endParaRPr lang="ru-RU" dirty="0"/>
          </a:p>
          <a:p>
            <a:pPr>
              <a:buNone/>
            </a:pPr>
            <a:r>
              <a:rPr lang="en-US" dirty="0"/>
              <a:t>    &lt;aside </a:t>
            </a:r>
            <a:r>
              <a:rPr lang="en-US" dirty="0" err="1"/>
              <a:t>className</a:t>
            </a:r>
            <a:r>
              <a:rPr lang="en-US" dirty="0"/>
              <a:t>="sidebar"&gt;</a:t>
            </a:r>
            <a:endParaRPr lang="ru-RU" dirty="0"/>
          </a:p>
          <a:p>
            <a:pPr>
              <a:buNone/>
            </a:pPr>
            <a:r>
              <a:rPr lang="en-US" dirty="0"/>
              <a:t>      &lt;</a:t>
            </a:r>
            <a:r>
              <a:rPr lang="en-US" dirty="0" err="1"/>
              <a:t>nav</a:t>
            </a:r>
            <a:r>
              <a:rPr lang="en-US" dirty="0"/>
              <a:t>&gt;</a:t>
            </a:r>
            <a:endParaRPr lang="ru-RU" dirty="0"/>
          </a:p>
          <a:p>
            <a:pPr>
              <a:buNone/>
            </a:pPr>
            <a:r>
              <a:rPr lang="en-US" dirty="0"/>
              <a:t>        &lt;</a:t>
            </a:r>
            <a:r>
              <a:rPr lang="en-US" dirty="0" err="1"/>
              <a:t>ul</a:t>
            </a:r>
            <a:r>
              <a:rPr lang="en-US" dirty="0"/>
              <a:t>&gt;</a:t>
            </a:r>
            <a:endParaRPr lang="ru-RU" dirty="0"/>
          </a:p>
          <a:p>
            <a:pPr>
              <a:buNone/>
            </a:pPr>
            <a:r>
              <a:rPr lang="en-US" dirty="0"/>
              <a:t>          {items.map((item, </a:t>
            </a:r>
            <a:r>
              <a:rPr lang="en-US" dirty="0" err="1"/>
              <a:t>idx</a:t>
            </a:r>
            <a:r>
              <a:rPr lang="en-US" dirty="0"/>
              <a:t>) =&gt; (</a:t>
            </a:r>
            <a:endParaRPr lang="ru-RU" dirty="0"/>
          </a:p>
          <a:p>
            <a:pPr>
              <a:buNone/>
            </a:pPr>
            <a:r>
              <a:rPr lang="en-US" dirty="0"/>
              <a:t>            &lt;</a:t>
            </a:r>
            <a:r>
              <a:rPr lang="en-US" dirty="0" err="1"/>
              <a:t>li</a:t>
            </a:r>
            <a:r>
              <a:rPr lang="en-US" dirty="0"/>
              <a:t> key={</a:t>
            </a:r>
            <a:r>
              <a:rPr lang="en-US" dirty="0" err="1"/>
              <a:t>idx</a:t>
            </a:r>
            <a:r>
              <a:rPr lang="en-US" dirty="0"/>
              <a:t>}&gt;{item}&lt;/</a:t>
            </a:r>
            <a:r>
              <a:rPr lang="en-US" dirty="0" err="1"/>
              <a:t>li</a:t>
            </a:r>
            <a:r>
              <a:rPr lang="en-US" dirty="0"/>
              <a:t>&gt;</a:t>
            </a:r>
            <a:endParaRPr lang="ru-RU" dirty="0"/>
          </a:p>
          <a:p>
            <a:pPr>
              <a:buNone/>
            </a:pPr>
            <a:r>
              <a:rPr lang="en-US" dirty="0"/>
              <a:t>          ))}</a:t>
            </a:r>
            <a:endParaRPr lang="ru-RU" dirty="0"/>
          </a:p>
          <a:p>
            <a:pPr>
              <a:buNone/>
            </a:pPr>
            <a:r>
              <a:rPr lang="en-US" dirty="0"/>
              <a:t>        &lt;/</a:t>
            </a:r>
            <a:r>
              <a:rPr lang="en-US" dirty="0" err="1"/>
              <a:t>ul</a:t>
            </a:r>
            <a:r>
              <a:rPr lang="en-US" dirty="0"/>
              <a:t>&gt;</a:t>
            </a:r>
            <a:endParaRPr lang="ru-RU" dirty="0"/>
          </a:p>
          <a:p>
            <a:pPr>
              <a:buNone/>
            </a:pPr>
            <a:r>
              <a:rPr lang="en-US" dirty="0"/>
              <a:t>      &lt;/</a:t>
            </a:r>
            <a:r>
              <a:rPr lang="en-US" dirty="0" err="1"/>
              <a:t>nav</a:t>
            </a:r>
            <a:r>
              <a:rPr lang="en-US" dirty="0"/>
              <a:t>&gt;</a:t>
            </a:r>
            <a:endParaRPr lang="ru-RU" dirty="0"/>
          </a:p>
          <a:p>
            <a:pPr>
              <a:buNone/>
            </a:pPr>
            <a:r>
              <a:rPr lang="en-US" dirty="0"/>
              <a:t>    &lt;/aside&gt;</a:t>
            </a:r>
            <a:endParaRPr lang="ru-RU" dirty="0"/>
          </a:p>
          <a:p>
            <a:pPr>
              <a:buNone/>
            </a:pPr>
            <a:r>
              <a:rPr lang="en-US" dirty="0"/>
              <a:t>  )</a:t>
            </a:r>
            <a:endParaRPr lang="ru-RU" dirty="0"/>
          </a:p>
          <a:p>
            <a:pPr>
              <a:buNone/>
            </a:pPr>
            <a:r>
              <a:rPr lang="en-US" dirty="0"/>
              <a:t>}</a:t>
            </a:r>
            <a:endParaRPr lang="ru-RU" dirty="0"/>
          </a:p>
          <a:p>
            <a:pPr>
              <a:buNone/>
            </a:pP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/>
              <a:t>export default Sidebar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7. </a:t>
            </a:r>
            <a:r>
              <a:rPr lang="en-US" dirty="0" err="1" smtClean="0"/>
              <a:t>src</a:t>
            </a:r>
            <a:r>
              <a:rPr lang="en-US" dirty="0" smtClean="0"/>
              <a:t>/components/MainContent.jsx</a:t>
            </a:r>
            <a:r>
              <a:rPr lang="en-US" b="1" dirty="0" smtClean="0"/>
              <a:t> </a:t>
            </a:r>
            <a:br>
              <a:rPr lang="en-US" b="1" dirty="0" smtClean="0"/>
            </a:br>
            <a:r>
              <a:rPr lang="en-US" b="1" dirty="0" smtClean="0"/>
              <a:t>(children = </a:t>
            </a:r>
            <a:r>
              <a:rPr lang="ru-RU" b="1" dirty="0" smtClean="0"/>
              <a:t>слоты</a:t>
            </a:r>
            <a:r>
              <a:rPr lang="en-US" b="1" dirty="0" smtClean="0"/>
              <a:t>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function </a:t>
            </a:r>
            <a:r>
              <a:rPr lang="en-US" dirty="0" err="1"/>
              <a:t>MainContent</a:t>
            </a:r>
            <a:r>
              <a:rPr lang="en-US" dirty="0"/>
              <a:t>({ children }) {</a:t>
            </a:r>
            <a:endParaRPr lang="ru-RU" dirty="0"/>
          </a:p>
          <a:p>
            <a:pPr>
              <a:buNone/>
            </a:pPr>
            <a:r>
              <a:rPr lang="en-US" dirty="0"/>
              <a:t>  return &lt;main </a:t>
            </a:r>
            <a:r>
              <a:rPr lang="en-US" dirty="0" err="1"/>
              <a:t>className</a:t>
            </a:r>
            <a:r>
              <a:rPr lang="en-US" dirty="0"/>
              <a:t>="main"&gt;{children}&lt;/main&gt;</a:t>
            </a:r>
            <a:endParaRPr lang="ru-RU" dirty="0"/>
          </a:p>
          <a:p>
            <a:pPr>
              <a:buNone/>
            </a:pP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 </a:t>
            </a:r>
          </a:p>
          <a:p>
            <a:pPr>
              <a:buNone/>
            </a:pPr>
            <a:r>
              <a:rPr lang="ru-RU" dirty="0" err="1"/>
              <a:t>export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MainContent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8. </a:t>
            </a:r>
            <a:r>
              <a:rPr lang="en-US" dirty="0" err="1" smtClean="0"/>
              <a:t>src</a:t>
            </a:r>
            <a:r>
              <a:rPr lang="en-US" dirty="0" smtClean="0"/>
              <a:t>/components/Footer.jsx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function </a:t>
            </a:r>
            <a:r>
              <a:rPr lang="en-US" dirty="0"/>
              <a:t>Footer({ year }) {</a:t>
            </a:r>
            <a:endParaRPr lang="ru-RU" dirty="0"/>
          </a:p>
          <a:p>
            <a:pPr>
              <a:buNone/>
            </a:pPr>
            <a:r>
              <a:rPr lang="en-US" dirty="0"/>
              <a:t>  return (</a:t>
            </a:r>
            <a:endParaRPr lang="ru-RU" dirty="0"/>
          </a:p>
          <a:p>
            <a:pPr>
              <a:buNone/>
            </a:pPr>
            <a:r>
              <a:rPr lang="en-US" dirty="0"/>
              <a:t>    &lt;footer </a:t>
            </a:r>
            <a:r>
              <a:rPr lang="en-US" dirty="0" err="1"/>
              <a:t>className</a:t>
            </a:r>
            <a:r>
              <a:rPr lang="en-US" dirty="0"/>
              <a:t>="footer"&gt;</a:t>
            </a:r>
            <a:endParaRPr lang="ru-RU" dirty="0"/>
          </a:p>
          <a:p>
            <a:pPr>
              <a:buNone/>
            </a:pPr>
            <a:r>
              <a:rPr lang="en-US" dirty="0"/>
              <a:t>      &amp;copy; {year} </a:t>
            </a:r>
            <a:r>
              <a:rPr lang="ru-RU" dirty="0"/>
              <a:t>Все права защищены</a:t>
            </a:r>
            <a:r>
              <a:rPr lang="en-US" dirty="0"/>
              <a:t>.</a:t>
            </a:r>
            <a:endParaRPr lang="ru-RU" dirty="0"/>
          </a:p>
          <a:p>
            <a:pPr>
              <a:buNone/>
            </a:pPr>
            <a:r>
              <a:rPr lang="en-US" dirty="0"/>
              <a:t>    </a:t>
            </a:r>
            <a:r>
              <a:rPr lang="ru-RU" dirty="0"/>
              <a:t>&lt;/</a:t>
            </a:r>
            <a:r>
              <a:rPr lang="ru-RU" dirty="0" err="1"/>
              <a:t>footer</a:t>
            </a:r>
            <a:r>
              <a:rPr lang="ru-RU" dirty="0"/>
              <a:t>&gt;</a:t>
            </a:r>
          </a:p>
          <a:p>
            <a:pPr>
              <a:buNone/>
            </a:pPr>
            <a:r>
              <a:rPr lang="ru-RU" dirty="0"/>
              <a:t>  )</a:t>
            </a:r>
          </a:p>
          <a:p>
            <a:pPr>
              <a:buNone/>
            </a:pP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 </a:t>
            </a:r>
          </a:p>
          <a:p>
            <a:pPr>
              <a:buNone/>
            </a:pPr>
            <a:r>
              <a:rPr lang="ru-RU" dirty="0" err="1"/>
              <a:t>export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Footer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9. </a:t>
            </a:r>
            <a:r>
              <a:rPr lang="ru-RU" sz="2800" dirty="0" err="1" smtClean="0"/>
              <a:t>src</a:t>
            </a:r>
            <a:r>
              <a:rPr lang="ru-RU" sz="2800" dirty="0" smtClean="0"/>
              <a:t>/</a:t>
            </a:r>
            <a:r>
              <a:rPr lang="ru-RU" sz="2800" dirty="0" err="1" smtClean="0"/>
              <a:t>styles</a:t>
            </a:r>
            <a:r>
              <a:rPr lang="ru-RU" sz="2800" dirty="0" smtClean="0"/>
              <a:t>/</a:t>
            </a:r>
            <a:r>
              <a:rPr lang="ru-RU" sz="2800" dirty="0" err="1" smtClean="0"/>
              <a:t>index.css</a:t>
            </a:r>
            <a:r>
              <a:rPr lang="ru-RU" sz="2800" b="1" dirty="0" smtClean="0"/>
              <a:t> (</a:t>
            </a:r>
            <a:r>
              <a:rPr lang="ru-RU" sz="2800" b="1" dirty="0" err="1" smtClean="0"/>
              <a:t>Grid</a:t>
            </a:r>
            <a:r>
              <a:rPr lang="ru-RU" sz="2800" b="1" dirty="0" smtClean="0"/>
              <a:t> + переменные + </a:t>
            </a:r>
            <a:r>
              <a:rPr lang="ru-RU" sz="2800" b="1" dirty="0" err="1" smtClean="0"/>
              <a:t>псевдоклассы</a:t>
            </a:r>
            <a:r>
              <a:rPr lang="ru-RU" sz="2800" b="1" dirty="0" smtClean="0"/>
              <a:t> + </a:t>
            </a:r>
            <a:r>
              <a:rPr lang="ru-RU" sz="2800" b="1" dirty="0" err="1" smtClean="0"/>
              <a:t>адаптив</a:t>
            </a:r>
            <a:r>
              <a:rPr lang="ru-RU" sz="2800" b="1" dirty="0" smtClean="0"/>
              <a:t>)</a:t>
            </a:r>
            <a:endParaRPr lang="ru-RU" sz="2800" dirty="0"/>
          </a:p>
        </p:txBody>
      </p:sp>
      <p:sp>
        <p:nvSpPr>
          <p:cNvPr id="4" name="Содержимое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781128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dirty="0" smtClean="0"/>
              <a:t>:</a:t>
            </a:r>
            <a:r>
              <a:rPr lang="en-US" dirty="0"/>
              <a:t>root {</a:t>
            </a:r>
            <a:endParaRPr lang="ru-RU" dirty="0"/>
          </a:p>
          <a:p>
            <a:pPr>
              <a:buNone/>
            </a:pPr>
            <a:r>
              <a:rPr lang="en-US" dirty="0"/>
              <a:t>  --gap: 16px;</a:t>
            </a:r>
            <a:endParaRPr lang="ru-RU" dirty="0"/>
          </a:p>
          <a:p>
            <a:pPr>
              <a:buNone/>
            </a:pPr>
            <a:r>
              <a:rPr lang="en-US" dirty="0"/>
              <a:t>  --header-</a:t>
            </a:r>
            <a:r>
              <a:rPr lang="en-US" dirty="0" err="1"/>
              <a:t>bg</a:t>
            </a:r>
            <a:r>
              <a:rPr lang="en-US" dirty="0"/>
              <a:t>: #e3f2fd;</a:t>
            </a:r>
            <a:endParaRPr lang="ru-RU" dirty="0"/>
          </a:p>
          <a:p>
            <a:pPr>
              <a:buNone/>
            </a:pPr>
            <a:r>
              <a:rPr lang="en-US" dirty="0" smtClean="0"/>
              <a:t>  --sidebar-</a:t>
            </a:r>
            <a:r>
              <a:rPr lang="en-US" dirty="0" err="1" smtClean="0"/>
              <a:t>bg</a:t>
            </a:r>
            <a:r>
              <a:rPr lang="en-US" dirty="0" smtClean="0"/>
              <a:t>: #fff3e0;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/>
              <a:t>--main-</a:t>
            </a:r>
            <a:r>
              <a:rPr lang="en-US" dirty="0" err="1"/>
              <a:t>bg</a:t>
            </a:r>
            <a:r>
              <a:rPr lang="en-US" dirty="0"/>
              <a:t>: #f3e5f5;</a:t>
            </a:r>
            <a:endParaRPr lang="ru-RU" dirty="0"/>
          </a:p>
          <a:p>
            <a:pPr>
              <a:buNone/>
            </a:pPr>
            <a:r>
              <a:rPr lang="en-US" dirty="0"/>
              <a:t>  --footer-</a:t>
            </a:r>
            <a:r>
              <a:rPr lang="en-US" dirty="0" err="1"/>
              <a:t>bg</a:t>
            </a:r>
            <a:r>
              <a:rPr lang="en-US" dirty="0"/>
              <a:t>: #e8f5e9;</a:t>
            </a:r>
            <a:endParaRPr lang="ru-RU" dirty="0"/>
          </a:p>
          <a:p>
            <a:pPr>
              <a:buNone/>
            </a:pPr>
            <a:r>
              <a:rPr lang="en-US" dirty="0"/>
              <a:t>  --text-color: #111;</a:t>
            </a:r>
            <a:endParaRPr lang="ru-RU" dirty="0"/>
          </a:p>
          <a:p>
            <a:pPr>
              <a:buNone/>
            </a:pPr>
            <a:r>
              <a:rPr lang="en-US" dirty="0" smtClean="0"/>
              <a:t>}</a:t>
            </a: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 smtClean="0"/>
              <a:t>*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/>
              <a:t>box-sizing: border-box;</a:t>
            </a:r>
            <a:endParaRPr lang="ru-RU" dirty="0"/>
          </a:p>
          <a:p>
            <a:pPr>
              <a:buNone/>
            </a:pPr>
            <a:r>
              <a:rPr lang="en-US" dirty="0" smtClean="0"/>
              <a:t>}</a:t>
            </a: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/>
              <a:t>body {</a:t>
            </a:r>
            <a:endParaRPr lang="ru-RU" dirty="0"/>
          </a:p>
          <a:p>
            <a:pPr>
              <a:buNone/>
            </a:pPr>
            <a:r>
              <a:rPr lang="en-US" dirty="0"/>
              <a:t>  </a:t>
            </a:r>
            <a:r>
              <a:rPr lang="ru-RU" dirty="0" err="1"/>
              <a:t>margin</a:t>
            </a:r>
            <a:r>
              <a:rPr lang="ru-RU" dirty="0"/>
              <a:t>: 0;</a:t>
            </a:r>
          </a:p>
          <a:p>
            <a:pPr>
              <a:buNone/>
            </a:pPr>
            <a:r>
              <a:rPr lang="ru-RU" dirty="0"/>
              <a:t>  </a:t>
            </a:r>
            <a:r>
              <a:rPr lang="ru-RU" dirty="0" err="1"/>
              <a:t>padding</a:t>
            </a:r>
            <a:r>
              <a:rPr lang="ru-RU" dirty="0"/>
              <a:t>: 0;</a:t>
            </a:r>
          </a:p>
          <a:p>
            <a:pPr>
              <a:buNone/>
            </a:pPr>
            <a:r>
              <a:rPr lang="en-US" dirty="0"/>
              <a:t>  font-family: system-</a:t>
            </a:r>
            <a:r>
              <a:rPr lang="en-US" dirty="0" err="1"/>
              <a:t>ui</a:t>
            </a:r>
            <a:r>
              <a:rPr lang="en-US" dirty="0"/>
              <a:t>, -apple-system, sans-serif;</a:t>
            </a:r>
            <a:endParaRPr lang="ru-RU" dirty="0"/>
          </a:p>
          <a:p>
            <a:pPr>
              <a:buNone/>
            </a:pPr>
            <a:r>
              <a:rPr lang="en-US" dirty="0"/>
              <a:t>  color: </a:t>
            </a:r>
            <a:r>
              <a:rPr lang="en-US" dirty="0" err="1"/>
              <a:t>var</a:t>
            </a:r>
            <a:r>
              <a:rPr lang="en-US" dirty="0"/>
              <a:t>(--text-color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b="1" dirty="0" smtClean="0"/>
              <a:t>Это блок объявления CSS‑переменных (</a:t>
            </a:r>
            <a:r>
              <a:rPr lang="ru-RU" b="1" dirty="0" err="1" smtClean="0"/>
              <a:t>кастомных</a:t>
            </a:r>
            <a:r>
              <a:rPr lang="ru-RU" b="1" dirty="0" smtClean="0"/>
              <a:t> свойств) в </a:t>
            </a:r>
            <a:r>
              <a:rPr lang="ru-RU" b="1" dirty="0" err="1" smtClean="0"/>
              <a:t>псевдоклассе</a:t>
            </a:r>
            <a:r>
              <a:rPr lang="ru-RU" b="1" dirty="0" smtClean="0"/>
              <a:t> :</a:t>
            </a:r>
            <a:r>
              <a:rPr lang="ru-RU" b="1" dirty="0" err="1" smtClean="0"/>
              <a:t>root</a:t>
            </a:r>
            <a:r>
              <a:rPr lang="ru-RU" b="1" dirty="0" smtClean="0"/>
              <a:t> — они задают базовые настройки темы для всей страницы.</a:t>
            </a:r>
          </a:p>
          <a:p>
            <a:pPr>
              <a:buNone/>
            </a:pPr>
            <a:r>
              <a:rPr lang="ru-RU" b="1" dirty="0" smtClean="0"/>
              <a:t>Что такое :</a:t>
            </a:r>
            <a:r>
              <a:rPr lang="ru-RU" b="1" dirty="0" err="1" smtClean="0"/>
              <a:t>root</a:t>
            </a:r>
            <a:endParaRPr lang="ru-RU" b="1" dirty="0" smtClean="0"/>
          </a:p>
          <a:p>
            <a:pPr>
              <a:buNone/>
            </a:pPr>
            <a:r>
              <a:rPr lang="ru-RU" b="1" dirty="0" smtClean="0"/>
              <a:t>:</a:t>
            </a:r>
            <a:r>
              <a:rPr lang="ru-RU" b="1" dirty="0" err="1" smtClean="0"/>
              <a:t>root</a:t>
            </a:r>
            <a:r>
              <a:rPr lang="ru-RU" b="1" dirty="0" smtClean="0"/>
              <a:t> в CSS соответствует элементу &lt;</a:t>
            </a:r>
            <a:r>
              <a:rPr lang="ru-RU" b="1" dirty="0" err="1" smtClean="0"/>
              <a:t>html</a:t>
            </a:r>
            <a:r>
              <a:rPr lang="ru-RU" b="1" dirty="0" smtClean="0"/>
              <a:t>&gt;. Переменные, объявленные там, становятся глобальными: их можно использовать в любом селекторе на странице через </a:t>
            </a:r>
            <a:r>
              <a:rPr lang="ru-RU" b="1" dirty="0" err="1" smtClean="0"/>
              <a:t>var</a:t>
            </a:r>
            <a:r>
              <a:rPr lang="ru-RU" b="1" dirty="0" smtClean="0"/>
              <a:t>(--имя)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850106"/>
          </a:xfrm>
        </p:spPr>
        <p:txBody>
          <a:bodyPr>
            <a:normAutofit fontScale="90000"/>
          </a:bodyPr>
          <a:lstStyle/>
          <a:p>
            <a:r>
              <a:rPr lang="ru-RU" sz="3100" b="1" dirty="0" smtClean="0"/>
              <a:t>9. </a:t>
            </a:r>
            <a:r>
              <a:rPr lang="ru-RU" sz="3100" dirty="0" err="1" smtClean="0"/>
              <a:t>src</a:t>
            </a:r>
            <a:r>
              <a:rPr lang="ru-RU" sz="3100" dirty="0" smtClean="0"/>
              <a:t>/</a:t>
            </a:r>
            <a:r>
              <a:rPr lang="ru-RU" sz="3100" dirty="0" err="1" smtClean="0"/>
              <a:t>styles</a:t>
            </a:r>
            <a:r>
              <a:rPr lang="ru-RU" sz="3100" dirty="0" smtClean="0"/>
              <a:t>/</a:t>
            </a:r>
            <a:r>
              <a:rPr lang="ru-RU" sz="3100" dirty="0" err="1" smtClean="0"/>
              <a:t>index.css</a:t>
            </a:r>
            <a:r>
              <a:rPr lang="ru-RU" sz="3100" b="1" dirty="0" smtClean="0"/>
              <a:t> (</a:t>
            </a:r>
            <a:r>
              <a:rPr lang="ru-RU" sz="3100" b="1" dirty="0" err="1" smtClean="0"/>
              <a:t>Grid</a:t>
            </a:r>
            <a:r>
              <a:rPr lang="ru-RU" sz="3100" b="1" dirty="0" smtClean="0"/>
              <a:t> + переменные + </a:t>
            </a:r>
            <a:r>
              <a:rPr lang="ru-RU" sz="3100" b="1" dirty="0" err="1" smtClean="0"/>
              <a:t>псевдоклассы</a:t>
            </a:r>
            <a:r>
              <a:rPr lang="ru-RU" sz="3100" b="1" dirty="0" smtClean="0"/>
              <a:t> + </a:t>
            </a:r>
            <a:r>
              <a:rPr lang="ru-RU" sz="3100" b="1" dirty="0" err="1" smtClean="0"/>
              <a:t>адаптив</a:t>
            </a:r>
            <a:r>
              <a:rPr lang="ru-RU" sz="3100" b="1" dirty="0" smtClean="0"/>
              <a:t>)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51520" y="1412776"/>
            <a:ext cx="3744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.layout {</a:t>
            </a:r>
            <a:endParaRPr lang="ru-RU" dirty="0" smtClean="0"/>
          </a:p>
          <a:p>
            <a:r>
              <a:rPr lang="en-US" dirty="0" smtClean="0"/>
              <a:t>  display: grid;</a:t>
            </a:r>
            <a:endParaRPr lang="ru-RU" dirty="0" smtClean="0"/>
          </a:p>
          <a:p>
            <a:r>
              <a:rPr lang="en-US" dirty="0" smtClean="0"/>
              <a:t>  grid-template-columns: 250px 1fr;</a:t>
            </a:r>
            <a:endParaRPr lang="ru-RU" dirty="0" smtClean="0"/>
          </a:p>
          <a:p>
            <a:r>
              <a:rPr lang="en-US" dirty="0" smtClean="0"/>
              <a:t>  grid-template-rows: auto 1fr auto;</a:t>
            </a:r>
            <a:endParaRPr lang="ru-RU" dirty="0" smtClean="0"/>
          </a:p>
          <a:p>
            <a:r>
              <a:rPr lang="en-US" dirty="0" smtClean="0"/>
              <a:t>  grid-template-areas:</a:t>
            </a:r>
            <a:endParaRPr lang="ru-RU" dirty="0" smtClean="0"/>
          </a:p>
          <a:p>
            <a:r>
              <a:rPr lang="en-US" dirty="0" smtClean="0"/>
              <a:t>    "header </a:t>
            </a:r>
            <a:r>
              <a:rPr lang="en-US" dirty="0" err="1" smtClean="0"/>
              <a:t>header</a:t>
            </a:r>
            <a:r>
              <a:rPr lang="en-US" dirty="0" smtClean="0"/>
              <a:t>"</a:t>
            </a:r>
            <a:endParaRPr lang="ru-RU" dirty="0" smtClean="0"/>
          </a:p>
          <a:p>
            <a:r>
              <a:rPr lang="en-US" dirty="0" smtClean="0"/>
              <a:t>    "sidebar main"</a:t>
            </a:r>
            <a:endParaRPr lang="ru-RU" dirty="0" smtClean="0"/>
          </a:p>
          <a:p>
            <a:r>
              <a:rPr lang="en-US" dirty="0" smtClean="0"/>
              <a:t>    "footer </a:t>
            </a:r>
            <a:r>
              <a:rPr lang="en-US" dirty="0" err="1" smtClean="0"/>
              <a:t>footer</a:t>
            </a:r>
            <a:r>
              <a:rPr lang="en-US" dirty="0" smtClean="0"/>
              <a:t>";</a:t>
            </a:r>
            <a:endParaRPr lang="ru-RU" dirty="0" smtClean="0"/>
          </a:p>
          <a:p>
            <a:r>
              <a:rPr lang="en-US" dirty="0" smtClean="0"/>
              <a:t>  gap: </a:t>
            </a:r>
            <a:r>
              <a:rPr lang="en-US" dirty="0" err="1" smtClean="0"/>
              <a:t>var</a:t>
            </a:r>
            <a:r>
              <a:rPr lang="en-US" dirty="0" smtClean="0"/>
              <a:t>(--gap);</a:t>
            </a:r>
            <a:endParaRPr lang="ru-RU" dirty="0" smtClean="0"/>
          </a:p>
          <a:p>
            <a:r>
              <a:rPr lang="en-US" dirty="0" smtClean="0"/>
              <a:t>  min-height: 80vh;</a:t>
            </a:r>
            <a:endParaRPr lang="ru-RU" dirty="0" smtClean="0"/>
          </a:p>
          <a:p>
            <a:r>
              <a:rPr lang="en-US" dirty="0" smtClean="0"/>
              <a:t>  padding: </a:t>
            </a:r>
            <a:r>
              <a:rPr lang="en-US" dirty="0" err="1" smtClean="0"/>
              <a:t>var</a:t>
            </a:r>
            <a:r>
              <a:rPr lang="en-US" dirty="0" smtClean="0"/>
              <a:t>(--gap);</a:t>
            </a:r>
            <a:endParaRPr lang="ru-RU" dirty="0" smtClean="0"/>
          </a:p>
          <a:p>
            <a:r>
              <a:rPr lang="en-US" dirty="0" smtClean="0"/>
              <a:t>}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211960" y="1484784"/>
            <a:ext cx="410445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display: grid — </a:t>
            </a:r>
            <a:r>
              <a:rPr lang="ru-RU" dirty="0">
                <a:solidFill>
                  <a:prstClr val="black"/>
                </a:solidFill>
              </a:rPr>
              <a:t>включает </a:t>
            </a:r>
            <a:r>
              <a:rPr lang="en-US" dirty="0">
                <a:solidFill>
                  <a:prstClr val="black"/>
                </a:solidFill>
              </a:rPr>
              <a:t>Grid </a:t>
            </a:r>
            <a:r>
              <a:rPr lang="ru-RU" dirty="0">
                <a:solidFill>
                  <a:prstClr val="black"/>
                </a:solidFill>
              </a:rPr>
              <a:t>для контейнера.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grid-template-columns </a:t>
            </a:r>
            <a:r>
              <a:rPr lang="en-US" dirty="0">
                <a:solidFill>
                  <a:prstClr val="black"/>
                </a:solidFill>
              </a:rPr>
              <a:t>/ grid-template-rows — </a:t>
            </a:r>
            <a:r>
              <a:rPr lang="ru-RU" dirty="0">
                <a:solidFill>
                  <a:prstClr val="black"/>
                </a:solidFill>
              </a:rPr>
              <a:t>размеры треков.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grid-template-areas</a:t>
            </a:r>
            <a:r>
              <a:rPr lang="en-US" dirty="0">
                <a:solidFill>
                  <a:prstClr val="black"/>
                </a:solidFill>
              </a:rPr>
              <a:t> — </a:t>
            </a:r>
            <a:r>
              <a:rPr lang="ru-RU" dirty="0">
                <a:solidFill>
                  <a:prstClr val="black"/>
                </a:solidFill>
              </a:rPr>
              <a:t>текстовая схема: каждая строка — </a:t>
            </a:r>
            <a:r>
              <a:rPr lang="ru-RU" dirty="0" err="1">
                <a:solidFill>
                  <a:prstClr val="black"/>
                </a:solidFill>
              </a:rPr>
              <a:t>строка</a:t>
            </a:r>
            <a:r>
              <a:rPr lang="ru-RU" dirty="0">
                <a:solidFill>
                  <a:prstClr val="black"/>
                </a:solidFill>
              </a:rPr>
              <a:t> сетки, каждое слово — имя области</a:t>
            </a:r>
            <a:r>
              <a:rPr lang="ru-RU" dirty="0" smtClean="0">
                <a:solidFill>
                  <a:prstClr val="black"/>
                </a:solidFill>
              </a:rPr>
              <a:t>.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ru-RU" dirty="0" smtClean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gap — </a:t>
            </a:r>
            <a:r>
              <a:rPr lang="ru-RU" dirty="0">
                <a:solidFill>
                  <a:prstClr val="black"/>
                </a:solidFill>
              </a:rPr>
              <a:t>отступы между ячейками (не путать с </a:t>
            </a:r>
            <a:r>
              <a:rPr lang="en-US" dirty="0">
                <a:solidFill>
                  <a:prstClr val="black"/>
                </a:solidFill>
              </a:rPr>
              <a:t>margin). 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grid-area </a:t>
            </a:r>
            <a:r>
              <a:rPr lang="ru-RU" dirty="0" smtClean="0">
                <a:solidFill>
                  <a:prstClr val="black"/>
                </a:solidFill>
              </a:rPr>
              <a:t>у элементов — привязывает элемент к области.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src</a:t>
            </a:r>
            <a:r>
              <a:rPr lang="ru-RU" dirty="0" smtClean="0"/>
              <a:t>/</a:t>
            </a:r>
            <a:r>
              <a:rPr lang="ru-RU" dirty="0" err="1" smtClean="0"/>
              <a:t>styles</a:t>
            </a:r>
            <a:r>
              <a:rPr lang="ru-RU" dirty="0" smtClean="0"/>
              <a:t>/</a:t>
            </a:r>
            <a:r>
              <a:rPr lang="ru-RU" dirty="0" err="1" smtClean="0"/>
              <a:t>index.css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258816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.header   { grid-area: header; background: </a:t>
            </a:r>
            <a:r>
              <a:rPr lang="en-US" dirty="0" err="1"/>
              <a:t>var</a:t>
            </a:r>
            <a:r>
              <a:rPr lang="en-US" dirty="0"/>
              <a:t>(--header-</a:t>
            </a:r>
            <a:r>
              <a:rPr lang="en-US" dirty="0" err="1"/>
              <a:t>bg</a:t>
            </a:r>
            <a:r>
              <a:rPr lang="en-US" dirty="0"/>
              <a:t>); padding: 1rem; }</a:t>
            </a:r>
            <a:endParaRPr lang="ru-RU" dirty="0"/>
          </a:p>
          <a:p>
            <a:pPr>
              <a:buNone/>
            </a:pPr>
            <a:r>
              <a:rPr lang="en-US" dirty="0"/>
              <a:t>.sidebar  { grid-area: sidebar; background: </a:t>
            </a:r>
            <a:r>
              <a:rPr lang="en-US" dirty="0" err="1"/>
              <a:t>var</a:t>
            </a:r>
            <a:r>
              <a:rPr lang="en-US" dirty="0"/>
              <a:t>(--sidebar-</a:t>
            </a:r>
            <a:r>
              <a:rPr lang="en-US" dirty="0" err="1"/>
              <a:t>bg</a:t>
            </a:r>
            <a:r>
              <a:rPr lang="en-US" dirty="0"/>
              <a:t>); padding: 1rem; }</a:t>
            </a:r>
            <a:endParaRPr lang="ru-RU" dirty="0"/>
          </a:p>
          <a:p>
            <a:pPr>
              <a:buNone/>
            </a:pPr>
            <a:r>
              <a:rPr lang="en-US" dirty="0"/>
              <a:t>.main     { grid-area: main; background: </a:t>
            </a:r>
            <a:r>
              <a:rPr lang="en-US" dirty="0" err="1"/>
              <a:t>var</a:t>
            </a:r>
            <a:r>
              <a:rPr lang="en-US" dirty="0"/>
              <a:t>(--main-</a:t>
            </a:r>
            <a:r>
              <a:rPr lang="en-US" dirty="0" err="1"/>
              <a:t>bg</a:t>
            </a:r>
            <a:r>
              <a:rPr lang="en-US" dirty="0"/>
              <a:t>); padding: 1rem; }</a:t>
            </a:r>
            <a:endParaRPr lang="ru-RU" dirty="0"/>
          </a:p>
          <a:p>
            <a:pPr>
              <a:buNone/>
            </a:pPr>
            <a:r>
              <a:rPr lang="en-US" dirty="0"/>
              <a:t>.footer   { grid-area: footer; background: </a:t>
            </a:r>
            <a:r>
              <a:rPr lang="en-US" dirty="0" err="1"/>
              <a:t>var</a:t>
            </a:r>
            <a:r>
              <a:rPr lang="en-US" dirty="0"/>
              <a:t>(--footer-</a:t>
            </a:r>
            <a:r>
              <a:rPr lang="en-US" dirty="0" err="1"/>
              <a:t>bg</a:t>
            </a:r>
            <a:r>
              <a:rPr lang="en-US" dirty="0"/>
              <a:t>); padding: 1rem; }</a:t>
            </a:r>
            <a:endParaRPr lang="ru-RU" dirty="0"/>
          </a:p>
          <a:p>
            <a:pPr>
              <a:buNone/>
            </a:pP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/>
              <a:t>.sidebar </a:t>
            </a:r>
            <a:r>
              <a:rPr lang="en-US" dirty="0" err="1"/>
              <a:t>ul</a:t>
            </a:r>
            <a:r>
              <a:rPr lang="en-US" dirty="0"/>
              <a:t> {</a:t>
            </a:r>
            <a:endParaRPr lang="ru-RU" dirty="0"/>
          </a:p>
          <a:p>
            <a:pPr>
              <a:buNone/>
            </a:pPr>
            <a:r>
              <a:rPr lang="en-US" dirty="0"/>
              <a:t>  list-style: none;</a:t>
            </a:r>
            <a:endParaRPr lang="ru-RU" dirty="0"/>
          </a:p>
          <a:p>
            <a:pPr>
              <a:buNone/>
            </a:pPr>
            <a:r>
              <a:rPr lang="en-US" dirty="0"/>
              <a:t>  </a:t>
            </a:r>
            <a:r>
              <a:rPr lang="ru-RU" dirty="0" err="1"/>
              <a:t>padding</a:t>
            </a:r>
            <a:r>
              <a:rPr lang="ru-RU" dirty="0"/>
              <a:t>: 0;</a:t>
            </a:r>
          </a:p>
          <a:p>
            <a:pPr>
              <a:buNone/>
            </a:pPr>
            <a:r>
              <a:rPr lang="en-US" dirty="0"/>
              <a:t>  margin: 0;</a:t>
            </a:r>
            <a:endParaRPr lang="ru-RU" dirty="0"/>
          </a:p>
          <a:p>
            <a:pPr>
              <a:buNone/>
            </a:pPr>
            <a:r>
              <a:rPr lang="en-US" dirty="0"/>
              <a:t>}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940152" y="1412776"/>
            <a:ext cx="27363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.sidebar </a:t>
            </a:r>
            <a:r>
              <a:rPr lang="en-US" dirty="0" err="1" smtClean="0"/>
              <a:t>li</a:t>
            </a:r>
            <a:r>
              <a:rPr lang="en-US" dirty="0" smtClean="0"/>
              <a:t> {</a:t>
            </a:r>
            <a:endParaRPr lang="ru-RU" dirty="0" smtClean="0"/>
          </a:p>
          <a:p>
            <a:r>
              <a:rPr lang="en-US" dirty="0" smtClean="0"/>
              <a:t>  margin-bottom: 0.5rem;</a:t>
            </a:r>
            <a:endParaRPr lang="ru-RU" dirty="0" smtClean="0"/>
          </a:p>
          <a:p>
            <a:r>
              <a:rPr lang="en-US" dirty="0" smtClean="0"/>
              <a:t>  </a:t>
            </a:r>
            <a:r>
              <a:rPr lang="ru-RU" dirty="0" err="1" smtClean="0"/>
              <a:t>padding</a:t>
            </a:r>
            <a:r>
              <a:rPr lang="ru-RU" dirty="0" smtClean="0"/>
              <a:t>: 0.4rem 0.6rem;</a:t>
            </a:r>
          </a:p>
          <a:p>
            <a:r>
              <a:rPr lang="en-US" dirty="0" smtClean="0"/>
              <a:t>  border-radius: 6px;</a:t>
            </a:r>
            <a:endParaRPr lang="ru-RU" dirty="0" smtClean="0"/>
          </a:p>
          <a:p>
            <a:r>
              <a:rPr lang="en-US" dirty="0" smtClean="0"/>
              <a:t>}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/* </a:t>
            </a:r>
            <a:r>
              <a:rPr lang="ru-RU" dirty="0" err="1" smtClean="0"/>
              <a:t>Псевдоклассы</a:t>
            </a:r>
            <a:r>
              <a:rPr lang="en-US" dirty="0" smtClean="0"/>
              <a:t> */</a:t>
            </a:r>
            <a:endParaRPr lang="ru-RU" dirty="0" smtClean="0"/>
          </a:p>
          <a:p>
            <a:r>
              <a:rPr lang="en-US" dirty="0" smtClean="0"/>
              <a:t>.sidebar </a:t>
            </a:r>
            <a:r>
              <a:rPr lang="en-US" dirty="0" err="1" smtClean="0"/>
              <a:t>li:hover</a:t>
            </a:r>
            <a:r>
              <a:rPr lang="en-US" dirty="0" smtClean="0"/>
              <a:t> {</a:t>
            </a:r>
            <a:endParaRPr lang="ru-RU" dirty="0" smtClean="0"/>
          </a:p>
          <a:p>
            <a:r>
              <a:rPr lang="en-US" dirty="0" smtClean="0"/>
              <a:t>  background: </a:t>
            </a:r>
            <a:r>
              <a:rPr lang="en-US" dirty="0" err="1" smtClean="0"/>
              <a:t>rgba</a:t>
            </a:r>
            <a:r>
              <a:rPr lang="en-US" dirty="0" smtClean="0"/>
              <a:t>(0, 0, 0, 0.06);</a:t>
            </a:r>
            <a:endParaRPr lang="ru-RU" dirty="0" smtClean="0"/>
          </a:p>
          <a:p>
            <a:r>
              <a:rPr lang="en-US" dirty="0" smtClean="0"/>
              <a:t>}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.sidebar </a:t>
            </a:r>
            <a:r>
              <a:rPr lang="en-US" dirty="0" err="1" smtClean="0"/>
              <a:t>li:active</a:t>
            </a:r>
            <a:r>
              <a:rPr lang="en-US" dirty="0" smtClean="0"/>
              <a:t> {</a:t>
            </a:r>
            <a:endParaRPr lang="ru-RU" dirty="0" smtClean="0"/>
          </a:p>
          <a:p>
            <a:r>
              <a:rPr lang="en-US" dirty="0" smtClean="0"/>
              <a:t>  background: </a:t>
            </a:r>
            <a:r>
              <a:rPr lang="en-US" dirty="0" err="1" smtClean="0"/>
              <a:t>rgba</a:t>
            </a:r>
            <a:r>
              <a:rPr lang="en-US" dirty="0" smtClean="0"/>
              <a:t>(0, 0, 0, 0.12);</a:t>
            </a:r>
            <a:endParaRPr lang="ru-RU" dirty="0" smtClean="0"/>
          </a:p>
          <a:p>
            <a:r>
              <a:rPr lang="en-US" dirty="0" smtClean="0"/>
              <a:t>}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src</a:t>
            </a:r>
            <a:r>
              <a:rPr lang="ru-RU" dirty="0" smtClean="0"/>
              <a:t>/</a:t>
            </a:r>
            <a:r>
              <a:rPr lang="ru-RU" dirty="0" err="1" smtClean="0"/>
              <a:t>styles</a:t>
            </a:r>
            <a:r>
              <a:rPr lang="ru-RU" dirty="0" smtClean="0"/>
              <a:t>/</a:t>
            </a:r>
            <a:r>
              <a:rPr lang="ru-RU" dirty="0" err="1" smtClean="0"/>
              <a:t>index.css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85313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.</a:t>
            </a:r>
            <a:r>
              <a:rPr lang="en-US" dirty="0"/>
              <a:t>sidebar </a:t>
            </a:r>
            <a:r>
              <a:rPr lang="en-US" dirty="0" err="1"/>
              <a:t>li</a:t>
            </a:r>
            <a:r>
              <a:rPr lang="en-US" dirty="0"/>
              <a:t> {</a:t>
            </a:r>
            <a:endParaRPr lang="ru-RU" dirty="0"/>
          </a:p>
          <a:p>
            <a:pPr>
              <a:buNone/>
            </a:pPr>
            <a:r>
              <a:rPr lang="en-US" dirty="0"/>
              <a:t>  margin-bottom: 0.5rem;</a:t>
            </a:r>
            <a:endParaRPr lang="ru-RU" dirty="0"/>
          </a:p>
          <a:p>
            <a:pPr>
              <a:buNone/>
            </a:pPr>
            <a:r>
              <a:rPr lang="en-US" dirty="0"/>
              <a:t>  </a:t>
            </a:r>
            <a:r>
              <a:rPr lang="ru-RU" dirty="0" err="1"/>
              <a:t>padding</a:t>
            </a:r>
            <a:r>
              <a:rPr lang="ru-RU" dirty="0"/>
              <a:t>: 0.4rem 0.6rem;</a:t>
            </a:r>
          </a:p>
          <a:p>
            <a:pPr>
              <a:buNone/>
            </a:pPr>
            <a:r>
              <a:rPr lang="en-US" dirty="0"/>
              <a:t>  border-radius: 6px;</a:t>
            </a:r>
            <a:endParaRPr lang="ru-RU" dirty="0"/>
          </a:p>
          <a:p>
            <a:pPr>
              <a:buNone/>
            </a:pPr>
            <a:r>
              <a:rPr lang="en-US" dirty="0"/>
              <a:t>}</a:t>
            </a:r>
            <a:endParaRPr lang="ru-RU" dirty="0"/>
          </a:p>
          <a:p>
            <a:pPr>
              <a:buNone/>
            </a:pP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/>
              <a:t>/* </a:t>
            </a:r>
            <a:r>
              <a:rPr lang="ru-RU" dirty="0" err="1"/>
              <a:t>Псевдоклассы</a:t>
            </a:r>
            <a:r>
              <a:rPr lang="en-US" dirty="0"/>
              <a:t> */</a:t>
            </a:r>
            <a:endParaRPr lang="ru-RU" dirty="0"/>
          </a:p>
          <a:p>
            <a:pPr>
              <a:buNone/>
            </a:pPr>
            <a:r>
              <a:rPr lang="en-US" dirty="0"/>
              <a:t>.sidebar </a:t>
            </a:r>
            <a:r>
              <a:rPr lang="en-US" dirty="0" err="1"/>
              <a:t>li:hover</a:t>
            </a:r>
            <a:r>
              <a:rPr lang="en-US" dirty="0"/>
              <a:t> {</a:t>
            </a:r>
            <a:endParaRPr lang="ru-RU" dirty="0"/>
          </a:p>
          <a:p>
            <a:pPr>
              <a:buNone/>
            </a:pPr>
            <a:r>
              <a:rPr lang="en-US" dirty="0"/>
              <a:t>  background: </a:t>
            </a:r>
            <a:r>
              <a:rPr lang="en-US" dirty="0" err="1"/>
              <a:t>rgba</a:t>
            </a:r>
            <a:r>
              <a:rPr lang="en-US" dirty="0"/>
              <a:t>(0, 0, 0, 0.06);</a:t>
            </a:r>
            <a:endParaRPr lang="ru-RU" dirty="0"/>
          </a:p>
          <a:p>
            <a:pPr>
              <a:buNone/>
            </a:pPr>
            <a:r>
              <a:rPr lang="en-US" dirty="0"/>
              <a:t>}</a:t>
            </a:r>
            <a:endParaRPr lang="ru-RU" dirty="0"/>
          </a:p>
          <a:p>
            <a:pPr>
              <a:buNone/>
            </a:pP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/>
              <a:t>.sidebar </a:t>
            </a:r>
            <a:r>
              <a:rPr lang="en-US" dirty="0" err="1"/>
              <a:t>li:active</a:t>
            </a:r>
            <a:r>
              <a:rPr lang="en-US" dirty="0"/>
              <a:t> {</a:t>
            </a:r>
            <a:endParaRPr lang="ru-RU" dirty="0"/>
          </a:p>
          <a:p>
            <a:pPr>
              <a:buNone/>
            </a:pPr>
            <a:r>
              <a:rPr lang="en-US" dirty="0"/>
              <a:t>  background: </a:t>
            </a:r>
            <a:r>
              <a:rPr lang="en-US" dirty="0" err="1"/>
              <a:t>rgba</a:t>
            </a:r>
            <a:r>
              <a:rPr lang="en-US" dirty="0"/>
              <a:t>(0, 0, 0, 0.12);</a:t>
            </a:r>
            <a:endParaRPr lang="ru-RU" dirty="0"/>
          </a:p>
          <a:p>
            <a:pPr>
              <a:buNone/>
            </a:pPr>
            <a:r>
              <a:rPr lang="en-US" dirty="0"/>
              <a:t>}</a:t>
            </a:r>
            <a:endParaRPr lang="ru-RU" dirty="0"/>
          </a:p>
          <a:p>
            <a:pPr>
              <a:buNone/>
            </a:pPr>
            <a:r>
              <a:rPr lang="ru-RU" dirty="0"/>
              <a:t>Если </a:t>
            </a:r>
            <a:r>
              <a:rPr lang="ru-RU" dirty="0" smtClean="0"/>
              <a:t>нет </a:t>
            </a:r>
            <a:r>
              <a:rPr lang="ru-RU" dirty="0"/>
              <a:t>папки</a:t>
            </a:r>
            <a:r>
              <a:rPr lang="en-US" dirty="0"/>
              <a:t> </a:t>
            </a:r>
            <a:r>
              <a:rPr lang="en-US" dirty="0" err="1"/>
              <a:t>src</a:t>
            </a:r>
            <a:r>
              <a:rPr lang="en-US" dirty="0"/>
              <a:t>/styles, </a:t>
            </a:r>
            <a:r>
              <a:rPr lang="ru-RU" dirty="0"/>
              <a:t>просто создай её и положи туда</a:t>
            </a:r>
            <a:r>
              <a:rPr lang="en-US" dirty="0"/>
              <a:t> index.css. </a:t>
            </a:r>
            <a:r>
              <a:rPr lang="ru-RU" dirty="0"/>
              <a:t>Либо можешь перенести всё в</a:t>
            </a:r>
            <a:r>
              <a:rPr lang="en-US" dirty="0"/>
              <a:t> </a:t>
            </a:r>
            <a:r>
              <a:rPr lang="en-US" dirty="0" err="1"/>
              <a:t>src</a:t>
            </a:r>
            <a:r>
              <a:rPr lang="en-US" dirty="0"/>
              <a:t>/index.css — </a:t>
            </a:r>
            <a:r>
              <a:rPr lang="ru-RU" dirty="0"/>
              <a:t>главное</a:t>
            </a:r>
            <a:r>
              <a:rPr lang="en-US" dirty="0"/>
              <a:t>, </a:t>
            </a:r>
            <a:r>
              <a:rPr lang="ru-RU" dirty="0"/>
              <a:t>чтобы он импортировался в</a:t>
            </a:r>
            <a:r>
              <a:rPr lang="en-US" dirty="0"/>
              <a:t> main.jsx.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200" b="1" dirty="0" smtClean="0"/>
              <a:t>Что делает </a:t>
            </a:r>
            <a:r>
              <a:rPr lang="ru-RU" sz="2200" b="1" dirty="0" err="1" smtClean="0"/>
              <a:t>display</a:t>
            </a:r>
            <a:r>
              <a:rPr lang="ru-RU" sz="2200" b="1" dirty="0" smtClean="0"/>
              <a:t>: </a:t>
            </a:r>
            <a:r>
              <a:rPr lang="ru-RU" sz="2200" b="1" dirty="0" err="1" smtClean="0"/>
              <a:t>grid</a:t>
            </a: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ru-RU" sz="2200" dirty="0"/>
              <a:t>Этот CSS-блок задаёт </a:t>
            </a:r>
            <a:r>
              <a:rPr lang="ru-RU" sz="2200" b="1" dirty="0" err="1"/>
              <a:t>двухколоночную</a:t>
            </a:r>
            <a:r>
              <a:rPr lang="ru-RU" sz="2200" b="1" dirty="0"/>
              <a:t> адаптивную сетку</a:t>
            </a:r>
            <a:r>
              <a:rPr lang="ru-RU" sz="2200" dirty="0"/>
              <a:t> для основного контейнера страницы — с фиксированной боковой панелью и растягивающимся </a:t>
            </a:r>
            <a:r>
              <a:rPr lang="ru-RU" sz="2200" dirty="0" err="1" smtClean="0"/>
              <a:t>контентом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63711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Включает</a:t>
            </a:r>
            <a:r>
              <a:rPr lang="ru-RU" dirty="0"/>
              <a:t> </a:t>
            </a:r>
            <a:r>
              <a:rPr lang="ru-RU" b="1" dirty="0"/>
              <a:t>CSS </a:t>
            </a:r>
            <a:r>
              <a:rPr lang="ru-RU" b="1" dirty="0" err="1"/>
              <a:t>Grid</a:t>
            </a:r>
            <a:r>
              <a:rPr lang="ru-RU" b="1" dirty="0"/>
              <a:t> </a:t>
            </a:r>
            <a:r>
              <a:rPr lang="ru-RU" b="1" dirty="0" err="1"/>
              <a:t>Layout</a:t>
            </a:r>
            <a:r>
              <a:rPr lang="ru-RU" dirty="0"/>
              <a:t> для элемента .</a:t>
            </a:r>
            <a:r>
              <a:rPr lang="ru-RU" dirty="0" err="1"/>
              <a:t>layout</a:t>
            </a:r>
            <a:r>
              <a:rPr lang="ru-RU" dirty="0"/>
              <a:t>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Теперь </a:t>
            </a:r>
            <a:r>
              <a:rPr lang="ru-RU" dirty="0"/>
              <a:t>его прямые потомки будут размещаться по сетке (строки и колонки), а не по потоку документа.</a:t>
            </a:r>
          </a:p>
          <a:p>
            <a:pPr>
              <a:buNone/>
            </a:pPr>
            <a:r>
              <a:rPr lang="ru-RU" b="1" dirty="0"/>
              <a:t>Колонки: </a:t>
            </a:r>
            <a:r>
              <a:rPr lang="ru-RU" b="1" dirty="0" err="1"/>
              <a:t>grid-template-columns</a:t>
            </a:r>
            <a:r>
              <a:rPr lang="ru-RU" b="1" dirty="0"/>
              <a:t>: 250px 1fr</a:t>
            </a:r>
          </a:p>
          <a:p>
            <a:pPr>
              <a:buNone/>
            </a:pPr>
            <a:r>
              <a:rPr lang="ru-RU" dirty="0"/>
              <a:t>Задаёт две колонки:</a:t>
            </a:r>
          </a:p>
          <a:p>
            <a:pPr>
              <a:buNone/>
            </a:pPr>
            <a:r>
              <a:rPr lang="ru-RU" dirty="0"/>
              <a:t>250px — фиксированная ширина для </a:t>
            </a:r>
            <a:r>
              <a:rPr lang="ru-RU" dirty="0" err="1"/>
              <a:t>сайдбара</a:t>
            </a:r>
            <a:r>
              <a:rPr lang="ru-RU" dirty="0"/>
              <a:t> (боковой панели).</a:t>
            </a:r>
          </a:p>
          <a:p>
            <a:pPr>
              <a:buNone/>
            </a:pPr>
            <a:r>
              <a:rPr lang="ru-RU" dirty="0"/>
              <a:t>1fr — «одна фракция»: оставшееся место занимает основной </a:t>
            </a:r>
            <a:r>
              <a:rPr lang="ru-RU" dirty="0" err="1"/>
              <a:t>контент</a:t>
            </a:r>
            <a:r>
              <a:rPr lang="ru-RU" dirty="0"/>
              <a:t>. Он будет растягиваться, подстраиваясь под ширину экрана.</a:t>
            </a:r>
          </a:p>
          <a:p>
            <a:pPr>
              <a:buNone/>
            </a:pPr>
            <a:r>
              <a:rPr lang="ru-RU" b="1" dirty="0"/>
              <a:t>Аналогия </a:t>
            </a:r>
            <a:r>
              <a:rPr lang="ru-RU" b="1" dirty="0" smtClean="0"/>
              <a:t>:</a:t>
            </a:r>
            <a:r>
              <a:rPr lang="ru-RU" dirty="0"/>
              <a:t> «Представь, что у тебя есть лента шириной в экран. Первые 250 пикселей ты отдаёшь под меню, а всё остальное — под статью. Если экран станет шире, статья просто растянется».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Области: </a:t>
            </a:r>
            <a:r>
              <a:rPr lang="en-US" b="1" dirty="0" smtClean="0"/>
              <a:t>grid-template-areas</a:t>
            </a:r>
            <a:br>
              <a:rPr lang="en-US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Это </a:t>
            </a:r>
            <a:r>
              <a:rPr lang="ru-RU" dirty="0"/>
              <a:t>«карта» сетки, где каждая строка — это строка сетки, а каждое слово — имя области:</a:t>
            </a:r>
          </a:p>
          <a:p>
            <a:pPr>
              <a:buNone/>
            </a:pPr>
            <a:r>
              <a:rPr lang="en-US" dirty="0" smtClean="0"/>
              <a:t>"</a:t>
            </a:r>
            <a:r>
              <a:rPr lang="en-US" dirty="0"/>
              <a:t>header </a:t>
            </a:r>
            <a:r>
              <a:rPr lang="en-US" dirty="0" err="1" smtClean="0"/>
              <a:t>header</a:t>
            </a:r>
            <a:r>
              <a:rPr lang="en-US" dirty="0" smtClean="0"/>
              <a:t>”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"sidebar </a:t>
            </a:r>
            <a:r>
              <a:rPr lang="en-US" dirty="0" smtClean="0"/>
              <a:t>main”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"footer </a:t>
            </a:r>
            <a:r>
              <a:rPr lang="en-US" dirty="0" err="1"/>
              <a:t>footer</a:t>
            </a:r>
            <a:r>
              <a:rPr lang="en-US" dirty="0"/>
              <a:t>"; </a:t>
            </a:r>
          </a:p>
          <a:p>
            <a:pPr>
              <a:buNone/>
            </a:pPr>
            <a:r>
              <a:rPr lang="ru-RU" dirty="0"/>
              <a:t>Чтобы эта карта сработала, дочерние элементы должны иметь соответствующие </a:t>
            </a:r>
            <a:r>
              <a:rPr lang="en-US" dirty="0"/>
              <a:t>grid-area:</a:t>
            </a:r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/>
              <a:t>header { grid-area: header; }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/>
              <a:t>sidebar { grid-area: sidebar; }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/>
              <a:t>main { grid-area: main; }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/>
              <a:t>footer { grid-area: footer; } </a:t>
            </a:r>
          </a:p>
          <a:p>
            <a:pPr>
              <a:buNone/>
            </a:pPr>
            <a:r>
              <a:rPr lang="ru-RU" b="1" dirty="0"/>
              <a:t>Что это даёт:</a:t>
            </a:r>
            <a:endParaRPr lang="ru-RU" dirty="0"/>
          </a:p>
          <a:p>
            <a:pPr>
              <a:buNone/>
            </a:pPr>
            <a:r>
              <a:rPr lang="ru-RU" dirty="0"/>
              <a:t>Чёткое визуальное описание макета.</a:t>
            </a:r>
          </a:p>
          <a:p>
            <a:pPr>
              <a:buNone/>
            </a:pPr>
            <a:r>
              <a:rPr lang="ru-RU" dirty="0"/>
              <a:t>Лёгкая перестройка в </a:t>
            </a:r>
            <a:r>
              <a:rPr lang="ru-RU" dirty="0" err="1"/>
              <a:t>медиа-запросах</a:t>
            </a:r>
            <a:r>
              <a:rPr lang="ru-RU" dirty="0"/>
              <a:t> (можно просто поменять строки в </a:t>
            </a:r>
            <a:r>
              <a:rPr lang="en-US" dirty="0"/>
              <a:t>grid-template-areas).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Отступы и размеры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err="1" smtClean="0"/>
              <a:t>gap</a:t>
            </a:r>
            <a:r>
              <a:rPr lang="ru-RU" dirty="0"/>
              <a:t>: </a:t>
            </a:r>
            <a:r>
              <a:rPr lang="ru-RU" dirty="0" err="1"/>
              <a:t>var</a:t>
            </a:r>
            <a:r>
              <a:rPr lang="ru-RU" dirty="0"/>
              <a:t>(--</a:t>
            </a:r>
            <a:r>
              <a:rPr lang="ru-RU" dirty="0" err="1"/>
              <a:t>gap</a:t>
            </a:r>
            <a:r>
              <a:rPr lang="ru-RU" dirty="0"/>
              <a:t>) — равномерные отступы между ячейками сетки. Значение берётся из CSS‑переменной --</a:t>
            </a:r>
            <a:r>
              <a:rPr lang="ru-RU" dirty="0" err="1"/>
              <a:t>gap</a:t>
            </a:r>
            <a:r>
              <a:rPr lang="ru-RU" dirty="0"/>
              <a:t> (например, 16px). Это удобнее, чем прописывать </a:t>
            </a:r>
            <a:r>
              <a:rPr lang="ru-RU" dirty="0" err="1"/>
              <a:t>margin</a:t>
            </a:r>
            <a:r>
              <a:rPr lang="ru-RU" dirty="0"/>
              <a:t> каждому элементу.</a:t>
            </a:r>
          </a:p>
          <a:p>
            <a:pPr>
              <a:buNone/>
            </a:pPr>
            <a:r>
              <a:rPr lang="ru-RU" dirty="0" err="1"/>
              <a:t>min-height</a:t>
            </a:r>
            <a:r>
              <a:rPr lang="ru-RU" dirty="0"/>
              <a:t>: 80vh — минимальная высота контейнера: </a:t>
            </a:r>
            <a:r>
              <a:rPr lang="ru-RU" b="1" dirty="0"/>
              <a:t>80% высоты видимой области экрана</a:t>
            </a:r>
            <a:r>
              <a:rPr lang="ru-RU" dirty="0"/>
              <a:t>. Это нужно, чтобы макет не «</a:t>
            </a:r>
            <a:r>
              <a:rPr lang="ru-RU" dirty="0" err="1"/>
              <a:t>схлопывался</a:t>
            </a:r>
            <a:r>
              <a:rPr lang="ru-RU" dirty="0"/>
              <a:t>» на коротких страницах и футер не «прыгал».</a:t>
            </a:r>
          </a:p>
          <a:p>
            <a:pPr>
              <a:buNone/>
            </a:pPr>
            <a:r>
              <a:rPr lang="ru-RU" dirty="0" err="1"/>
              <a:t>padding</a:t>
            </a:r>
            <a:r>
              <a:rPr lang="ru-RU" dirty="0"/>
              <a:t>: </a:t>
            </a:r>
            <a:r>
              <a:rPr lang="ru-RU" dirty="0" err="1"/>
              <a:t>var</a:t>
            </a:r>
            <a:r>
              <a:rPr lang="ru-RU" dirty="0"/>
              <a:t>(--</a:t>
            </a:r>
            <a:r>
              <a:rPr lang="ru-RU" dirty="0" err="1"/>
              <a:t>gap</a:t>
            </a:r>
            <a:r>
              <a:rPr lang="ru-RU" dirty="0"/>
              <a:t>) — внутренний отступ у самого контейнера. Делает макет «воздушным» и не прижимает </a:t>
            </a:r>
            <a:r>
              <a:rPr lang="ru-RU" dirty="0" err="1"/>
              <a:t>контент</a:t>
            </a:r>
            <a:r>
              <a:rPr lang="ru-RU" dirty="0"/>
              <a:t> к краям.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Медиа-запрос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На мобильных (если </a:t>
            </a:r>
            <a:r>
              <a:rPr lang="ru-RU" dirty="0" err="1" smtClean="0"/>
              <a:t>добавитьмедиа-запрос</a:t>
            </a:r>
            <a:r>
              <a:rPr lang="ru-RU" dirty="0" smtClean="0"/>
              <a:t>) можно </a:t>
            </a:r>
            <a:r>
              <a:rPr lang="ru-RU" dirty="0"/>
              <a:t>перестроить </a:t>
            </a:r>
            <a:r>
              <a:rPr lang="en-US" dirty="0"/>
              <a:t>grid-template-areas </a:t>
            </a:r>
            <a:r>
              <a:rPr lang="ru-RU" dirty="0"/>
              <a:t>и </a:t>
            </a:r>
            <a:r>
              <a:rPr lang="en-US" dirty="0"/>
              <a:t>grid-template-columns, </a:t>
            </a:r>
            <a:r>
              <a:rPr lang="ru-RU" dirty="0"/>
              <a:t>чтобы </a:t>
            </a:r>
            <a:r>
              <a:rPr lang="ru-RU" dirty="0" err="1"/>
              <a:t>сайдбар</a:t>
            </a:r>
            <a:r>
              <a:rPr lang="ru-RU" dirty="0"/>
              <a:t> ушёл вниз или вообще скрывался.</a:t>
            </a:r>
          </a:p>
          <a:p>
            <a:pPr>
              <a:buNone/>
            </a:pPr>
            <a:r>
              <a:rPr lang="ru-RU" dirty="0"/>
              <a:t>Пример </a:t>
            </a:r>
            <a:r>
              <a:rPr lang="ru-RU" dirty="0" err="1"/>
              <a:t>медиа-запроса</a:t>
            </a:r>
            <a:r>
              <a:rPr lang="ru-RU" dirty="0"/>
              <a:t>:</a:t>
            </a:r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/>
              <a:t>media (max-width: 768px) </a:t>
            </a: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.layout { grid-template-columns: 1fr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grid-template-areas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"</a:t>
            </a:r>
            <a:r>
              <a:rPr lang="en-US" dirty="0" smtClean="0"/>
              <a:t>header”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"main"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"sidebar“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"footer"; }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 </a:t>
            </a:r>
            <a:endParaRPr lang="en-US" dirty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Мини‑задания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b="1" dirty="0" smtClean="0"/>
              <a:t>Поменять </a:t>
            </a:r>
            <a:r>
              <a:rPr lang="ru-RU" b="1" dirty="0" err="1"/>
              <a:t>сайдбар</a:t>
            </a:r>
            <a:r>
              <a:rPr lang="ru-RU" b="1" dirty="0"/>
              <a:t> и </a:t>
            </a:r>
            <a:r>
              <a:rPr lang="ru-RU" b="1" dirty="0" err="1"/>
              <a:t>контент</a:t>
            </a:r>
            <a:r>
              <a:rPr lang="ru-RU" b="1" dirty="0"/>
              <a:t> местами.</a:t>
            </a:r>
            <a:r>
              <a:rPr lang="ru-RU" dirty="0"/>
              <a:t> Измени </a:t>
            </a:r>
            <a:r>
              <a:rPr lang="ru-RU" dirty="0" err="1"/>
              <a:t>grid-template-areas</a:t>
            </a:r>
            <a:r>
              <a:rPr lang="ru-RU" dirty="0"/>
              <a:t> на "</a:t>
            </a:r>
            <a:r>
              <a:rPr lang="ru-RU" dirty="0" err="1"/>
              <a:t>main</a:t>
            </a:r>
            <a:r>
              <a:rPr lang="ru-RU" dirty="0"/>
              <a:t> </a:t>
            </a:r>
            <a:r>
              <a:rPr lang="ru-RU" dirty="0" err="1"/>
              <a:t>sidebar</a:t>
            </a:r>
            <a:r>
              <a:rPr lang="ru-RU" dirty="0"/>
              <a:t>" и посмотри, как перестроится макет.</a:t>
            </a:r>
          </a:p>
          <a:p>
            <a:pPr lvl="0"/>
            <a:r>
              <a:rPr lang="ru-RU" b="1" dirty="0"/>
              <a:t>Добавить пустую колонку.</a:t>
            </a:r>
            <a:r>
              <a:rPr lang="ru-RU" dirty="0"/>
              <a:t> Измени колонки на 200px 1fr 200px и используй . в </a:t>
            </a:r>
            <a:r>
              <a:rPr lang="ru-RU" dirty="0" err="1"/>
              <a:t>grid-template-areas</a:t>
            </a:r>
            <a:r>
              <a:rPr lang="ru-RU" dirty="0"/>
              <a:t>, чтобы сделать «дырку» посередине.</a:t>
            </a:r>
          </a:p>
          <a:p>
            <a:pPr lvl="0"/>
            <a:r>
              <a:rPr lang="ru-RU" b="1" dirty="0"/>
              <a:t>Передать другой </a:t>
            </a:r>
            <a:r>
              <a:rPr lang="ru-RU" b="1" dirty="0" err="1"/>
              <a:t>контент</a:t>
            </a:r>
            <a:r>
              <a:rPr lang="ru-RU" b="1" dirty="0"/>
              <a:t> в </a:t>
            </a:r>
            <a:r>
              <a:rPr lang="ru-RU" dirty="0" err="1"/>
              <a:t>MainContent</a:t>
            </a:r>
            <a:r>
              <a:rPr lang="ru-RU" b="1" dirty="0"/>
              <a:t>.</a:t>
            </a:r>
            <a:r>
              <a:rPr lang="ru-RU" dirty="0"/>
              <a:t> Вставь туда простой список или пару абзацев и убедись, что всё встаёт на место.</a:t>
            </a:r>
          </a:p>
          <a:p>
            <a:pPr lvl="0"/>
            <a:r>
              <a:rPr lang="ru-RU" b="1" dirty="0" err="1"/>
              <a:t>Адаптив</a:t>
            </a:r>
            <a:r>
              <a:rPr lang="ru-RU" b="1" dirty="0"/>
              <a:t>.</a:t>
            </a:r>
            <a:r>
              <a:rPr lang="ru-RU" dirty="0"/>
              <a:t> Открой </a:t>
            </a:r>
            <a:r>
              <a:rPr lang="ru-RU" dirty="0" err="1"/>
              <a:t>DevTools</a:t>
            </a:r>
            <a:r>
              <a:rPr lang="ru-RU" dirty="0"/>
              <a:t> → </a:t>
            </a:r>
            <a:r>
              <a:rPr lang="ru-RU" dirty="0" err="1"/>
              <a:t>Toggle</a:t>
            </a:r>
            <a:r>
              <a:rPr lang="ru-RU" dirty="0"/>
              <a:t> </a:t>
            </a:r>
            <a:r>
              <a:rPr lang="ru-RU" dirty="0" err="1"/>
              <a:t>Device</a:t>
            </a:r>
            <a:r>
              <a:rPr lang="ru-RU" dirty="0"/>
              <a:t> </a:t>
            </a:r>
            <a:r>
              <a:rPr lang="ru-RU" dirty="0" err="1"/>
              <a:t>Toolbar</a:t>
            </a:r>
            <a:r>
              <a:rPr lang="ru-RU" dirty="0"/>
              <a:t>, выбери мобильный вид и посмотри, как срабатывает </a:t>
            </a:r>
            <a:r>
              <a:rPr lang="ru-RU" dirty="0" err="1"/>
              <a:t>медиа‑запрос</a:t>
            </a:r>
            <a:r>
              <a:rPr lang="ru-RU" dirty="0"/>
              <a:t> и меняется </a:t>
            </a:r>
            <a:r>
              <a:rPr lang="ru-RU" dirty="0" err="1"/>
              <a:t>grid-template-areas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828</Words>
  <Application>Microsoft Office PowerPoint</Application>
  <PresentationFormat>Экран (4:3)</PresentationFormat>
  <Paragraphs>292</Paragraphs>
  <Slides>24</Slides>
  <Notes>0</Notes>
  <HiddenSlides>1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Лабораторная работа 2   React + JS+Grid </vt:lpstr>
      <vt:lpstr>Слайд 2</vt:lpstr>
      <vt:lpstr>Структура проекта  </vt:lpstr>
      <vt:lpstr>Как запустить (JS-версия) </vt:lpstr>
      <vt:lpstr>1. index.html </vt:lpstr>
      <vt:lpstr>2. src/main.jsx </vt:lpstr>
      <vt:lpstr>3. src/App.jsx (props + children) </vt:lpstr>
      <vt:lpstr>В чём суть </vt:lpstr>
      <vt:lpstr>Что именно делает &lt;code&gt;grid-template-areas&lt;/code&gt; </vt:lpstr>
      <vt:lpstr>В JS работает автоматическая вставка точек с запятой (ASI — Automatic Semicolon Insertion). </vt:lpstr>
      <vt:lpstr>4. src/components/Layout.jsx </vt:lpstr>
      <vt:lpstr>5. src/components/Header.jsx </vt:lpstr>
      <vt:lpstr>6. src/components/Sidebar.jsx </vt:lpstr>
      <vt:lpstr>7. src/components/MainContent.jsx  (children = слоты) </vt:lpstr>
      <vt:lpstr>8. src/components/Footer.jsx </vt:lpstr>
      <vt:lpstr>9. src/styles/index.css (Grid + переменные + псевдоклассы + адаптив)</vt:lpstr>
      <vt:lpstr>9. src/styles/index.css (Grid + переменные + псевдоклассы + адаптив)</vt:lpstr>
      <vt:lpstr>src/styles/index.css</vt:lpstr>
      <vt:lpstr>src/styles/index.css</vt:lpstr>
      <vt:lpstr>Что делает display: grid Этот CSS-блок задаёт двухколоночную адаптивную сетку для основного контейнера страницы — с фиксированной боковой панелью и растягивающимся контентом</vt:lpstr>
      <vt:lpstr>Области: grid-template-areas </vt:lpstr>
      <vt:lpstr>Отступы и размеры </vt:lpstr>
      <vt:lpstr>Медиа-запрос </vt:lpstr>
      <vt:lpstr>Мини‑задания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  React + JS+Grid </dc:title>
  <dc:creator>Agafonov</dc:creator>
  <cp:lastModifiedBy>Agafonov</cp:lastModifiedBy>
  <cp:revision>7</cp:revision>
  <dcterms:created xsi:type="dcterms:W3CDTF">2026-09-05T13:22:42Z</dcterms:created>
  <dcterms:modified xsi:type="dcterms:W3CDTF">2026-09-05T16:17:46Z</dcterms:modified>
</cp:coreProperties>
</file>