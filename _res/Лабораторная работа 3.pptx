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25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27.xml" ContentType="application/vnd.openxmlformats-officedocument.presentationml.slide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4.xml" ContentType="application/vnd.openxmlformats-officedocument.presentationml.slid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7" d="100"/>
          <a:sy n="77" d="100"/>
        </p:scale>
        <p:origin x="-78" y="210"/>
      </p:cViewPr>
      <p:guideLst>
        <p:guide pos="2160" orient="horz"/>
        <p:guide pos="3840"/>
      </p:guideLst>
    </p:cSldViewPr>
  </p:slideViewPr>
  <p:gridSpacing cx="73736200" cy="7373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presProps" Target="presProps.xml" /><Relationship Id="rId31" Type="http://schemas.openxmlformats.org/officeDocument/2006/relationships/tableStyles" Target="tableStyles.xml" /><Relationship Id="rId32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C12C9B6-7B72-4861-926B-85C276D395C1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F582EAF-4E66-4E5C-A36F-AB75BCF9BB8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C12C9B6-7B72-4861-926B-85C276D395C1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F582EAF-4E66-4E5C-A36F-AB75BCF9BB8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C12C9B6-7B72-4861-926B-85C276D395C1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F582EAF-4E66-4E5C-A36F-AB75BCF9BB8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C12C9B6-7B72-4861-926B-85C276D395C1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F582EAF-4E66-4E5C-A36F-AB75BCF9BB8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C12C9B6-7B72-4861-926B-85C276D395C1}" type="datetimeFigureOut">
              <a:rPr lang="ru-RU"/>
              <a:t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F582EAF-4E66-4E5C-A36F-AB75BCF9BB8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C12C9B6-7B72-4861-926B-85C276D395C1}" type="datetimeFigureOut">
              <a:rPr lang="ru-RU"/>
              <a:t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F582EAF-4E66-4E5C-A36F-AB75BCF9BB8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C12C9B6-7B72-4861-926B-85C276D395C1}" type="datetimeFigureOut">
              <a:rPr lang="ru-RU"/>
              <a:t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F582EAF-4E66-4E5C-A36F-AB75BCF9BB8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C12C9B6-7B72-4861-926B-85C276D395C1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F582EAF-4E66-4E5C-A36F-AB75BCF9BB8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C12C9B6-7B72-4861-926B-85C276D395C1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F582EAF-4E66-4E5C-A36F-AB75BCF9BB8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C12C9B6-7B72-4861-926B-85C276D395C1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F582EAF-4E66-4E5C-A36F-AB75BCF9BB8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C12C9B6-7B72-4861-926B-85C276D395C1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F582EAF-4E66-4E5C-A36F-AB75BCF9BB8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C12C9B6-7B72-4861-926B-85C276D395C1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F582EAF-4E66-4E5C-A36F-AB75BCF9BB8D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 </a:t>
            </a:r>
            <a:r>
              <a:rPr lang="ru-RU"/>
              <a:t>Лабораторная работа 3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Лабораторная работа: Форма обратной связи с </a:t>
            </a:r>
            <a:r>
              <a:rPr lang="ru-RU"/>
              <a:t>валидацией</a:t>
            </a:r>
            <a:r>
              <a:rPr lang="ru-RU"/>
              <a:t> и состояниями в React</a:t>
            </a:r>
            <a:endParaRPr/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Цель работы</a:t>
            </a:r>
            <a:br>
              <a:rPr lang="ru-RU"/>
            </a:b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663879" y="1453020"/>
            <a:ext cx="10689921" cy="509809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  <a:defRPr/>
            </a:pPr>
            <a:r>
              <a:rPr lang="ru-RU"/>
              <a:t>Научиться </a:t>
            </a:r>
            <a:r>
              <a:rPr lang="ru-RU" b="1">
                <a:solidFill>
                  <a:srgbClr val="FF0000"/>
                </a:solidFill>
              </a:rPr>
              <a:t>управлять состоянием </a:t>
            </a:r>
            <a:r>
              <a:rPr lang="ru-RU"/>
              <a:t>формы в React с помощью хука </a:t>
            </a:r>
            <a:r>
              <a:rPr lang="ru-RU"/>
              <a:t>useState</a:t>
            </a:r>
            <a:r>
              <a:rPr lang="ru-RU"/>
              <a:t>, реализовать клиентскую </a:t>
            </a:r>
            <a:r>
              <a:rPr lang="ru-RU"/>
              <a:t>валидацию</a:t>
            </a:r>
            <a:r>
              <a:rPr lang="ru-RU"/>
              <a:t> полей и стилизовать различные состояния полей (</a:t>
            </a:r>
            <a:r>
              <a:rPr lang="ru-RU" b="1">
                <a:solidFill>
                  <a:srgbClr val="FF0000"/>
                </a:solidFill>
              </a:rPr>
              <a:t>покой, фокус, ошибка, успех</a:t>
            </a:r>
            <a:r>
              <a:rPr lang="ru-RU"/>
              <a:t>).</a:t>
            </a:r>
            <a:endParaRPr lang="ru-RU"/>
          </a:p>
          <a:p>
            <a:pPr marL="0" indent="0">
              <a:buNone/>
              <a:defRPr/>
            </a:pPr>
            <a:r>
              <a:rPr lang="ru-RU"/>
              <a:t>Теоретическая справка</a:t>
            </a:r>
            <a:endParaRPr/>
          </a:p>
          <a:p>
            <a:pPr marL="0" indent="0">
              <a:buNone/>
              <a:defRPr/>
            </a:pPr>
            <a:r>
              <a:rPr lang="ru-RU"/>
              <a:t>Хук </a:t>
            </a:r>
            <a:r>
              <a:rPr lang="ru-RU"/>
              <a:t>useState</a:t>
            </a:r>
            <a:r>
              <a:rPr lang="ru-RU"/>
              <a:t> — это функция React, которая позволяет функциональному компоненту хранить и обновлять локальное состояние. Возвращает массив из двух элементов: текущего значения и функции-сеттера</a:t>
            </a:r>
            <a:r>
              <a:rPr lang="ru-RU"/>
              <a:t>.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jsx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const</a:t>
            </a:r>
            <a:r>
              <a:rPr lang="en-US"/>
              <a:t> [value, </a:t>
            </a:r>
            <a:r>
              <a:rPr lang="en-US"/>
              <a:t>setValue</a:t>
            </a:r>
            <a:r>
              <a:rPr lang="en-US"/>
              <a:t>] = </a:t>
            </a:r>
            <a:r>
              <a:rPr lang="en-US"/>
              <a:t>useState</a:t>
            </a:r>
            <a:r>
              <a:rPr lang="en-US"/>
              <a:t>(</a:t>
            </a:r>
            <a:r>
              <a:rPr lang="en-US"/>
              <a:t>initialValue</a:t>
            </a:r>
            <a:r>
              <a:rPr lang="en-US"/>
              <a:t>);</a:t>
            </a:r>
            <a:endParaRPr lang="ru-RU"/>
          </a:p>
          <a:p>
            <a:pPr marL="0" indent="0">
              <a:buNone/>
              <a:defRPr/>
            </a:pPr>
            <a:r>
              <a:rPr lang="ru-RU"/>
              <a:t>Управляемые компоненты — поля формы, значение которых контролируется React-состоянием. Каждый ввод символа обновляет состояние, а состояние определяет отображаемое значение</a:t>
            </a:r>
            <a:r>
              <a:rPr lang="ru-RU"/>
              <a:t>.</a:t>
            </a:r>
            <a:r>
              <a:rPr lang="ru-RU"/>
              <a:t> </a:t>
            </a:r>
            <a:endParaRPr/>
          </a:p>
          <a:p>
            <a:pPr marL="0" indent="0">
              <a:buNone/>
              <a:defRPr/>
            </a:pPr>
            <a:r>
              <a:rPr lang="ru-RU"/>
              <a:t>Валидация</a:t>
            </a:r>
            <a:r>
              <a:rPr lang="ru-RU"/>
              <a:t> — проверка данных перед отправкой. В React обычно реализуется в двух моментах</a:t>
            </a:r>
            <a:r>
              <a:rPr lang="ru-RU"/>
              <a:t>:</a:t>
            </a:r>
            <a:endParaRPr lang="ru-RU"/>
          </a:p>
          <a:p>
            <a:pPr marL="0" indent="0">
              <a:buNone/>
              <a:defRPr/>
            </a:pPr>
            <a:r>
              <a:rPr lang="ru-RU"/>
              <a:t>при изменении поля (</a:t>
            </a:r>
            <a:r>
              <a:rPr lang="ru-RU"/>
              <a:t>on-the-fly</a:t>
            </a:r>
            <a:r>
              <a:rPr lang="ru-RU"/>
              <a:t>);</a:t>
            </a:r>
            <a:endParaRPr/>
          </a:p>
          <a:p>
            <a:pPr marL="0" indent="0">
              <a:buNone/>
              <a:defRPr/>
            </a:pPr>
            <a:r>
              <a:rPr lang="ru-RU"/>
              <a:t>при отправке формы (</a:t>
            </a:r>
            <a:r>
              <a:rPr lang="ru-RU"/>
              <a:t>on</a:t>
            </a:r>
            <a:r>
              <a:rPr lang="ru-RU"/>
              <a:t> </a:t>
            </a:r>
            <a:r>
              <a:rPr lang="ru-RU"/>
              <a:t>submit</a:t>
            </a:r>
            <a:r>
              <a:rPr lang="ru-RU"/>
              <a:t>).</a:t>
            </a:r>
            <a:endParaRPr/>
          </a:p>
          <a:p>
            <a:pPr marL="0" indent="0">
              <a:buNone/>
              <a:defRPr/>
            </a:pPr>
            <a:r>
              <a:rPr lang="ru-RU"/>
              <a:t>Состояния полей — визуальные подсказки пользователю: </a:t>
            </a:r>
            <a:endParaRPr lang="ru-RU"/>
          </a:p>
          <a:p>
            <a:pPr marL="0" indent="0">
              <a:buNone/>
              <a:defRPr/>
            </a:pPr>
            <a:r>
              <a:rPr lang="ru-RU" b="1">
                <a:solidFill>
                  <a:srgbClr val="FF0000"/>
                </a:solidFill>
              </a:rPr>
              <a:t>покой </a:t>
            </a:r>
            <a:r>
              <a:rPr lang="ru-RU" b="1">
                <a:solidFill>
                  <a:srgbClr val="FF0000"/>
                </a:solidFill>
              </a:rPr>
              <a:t>(</a:t>
            </a:r>
            <a:r>
              <a:rPr lang="ru-RU" b="1">
                <a:solidFill>
                  <a:srgbClr val="FF0000"/>
                </a:solidFill>
              </a:rPr>
              <a:t>idle</a:t>
            </a:r>
            <a:r>
              <a:rPr lang="ru-RU" b="1">
                <a:solidFill>
                  <a:srgbClr val="FF0000"/>
                </a:solidFill>
              </a:rPr>
              <a:t>), фокус (</a:t>
            </a:r>
            <a:r>
              <a:rPr lang="ru-RU" b="1">
                <a:solidFill>
                  <a:srgbClr val="FF0000"/>
                </a:solidFill>
              </a:rPr>
              <a:t>focus</a:t>
            </a:r>
            <a:r>
              <a:rPr lang="ru-RU" b="1">
                <a:solidFill>
                  <a:srgbClr val="FF0000"/>
                </a:solidFill>
              </a:rPr>
              <a:t>), ошибка (</a:t>
            </a:r>
            <a:r>
              <a:rPr lang="ru-RU" b="1">
                <a:solidFill>
                  <a:srgbClr val="FF0000"/>
                </a:solidFill>
              </a:rPr>
              <a:t>error</a:t>
            </a:r>
            <a:r>
              <a:rPr lang="ru-RU" b="1">
                <a:solidFill>
                  <a:srgbClr val="FF0000"/>
                </a:solidFill>
              </a:rPr>
              <a:t>), успех (</a:t>
            </a:r>
            <a:r>
              <a:rPr lang="ru-RU" b="1">
                <a:solidFill>
                  <a:srgbClr val="FF0000"/>
                </a:solidFill>
              </a:rPr>
              <a:t>valid</a:t>
            </a:r>
            <a:r>
              <a:rPr lang="ru-RU" b="1">
                <a:solidFill>
                  <a:srgbClr val="FF0000"/>
                </a:solidFill>
              </a:rPr>
              <a:t>).</a:t>
            </a:r>
            <a:endParaRPr/>
          </a:p>
          <a:p>
            <a:pPr marL="0" indent="0">
              <a:buNone/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/>
          <a:stretch/>
        </p:blipFill>
        <p:spPr bwMode="auto">
          <a:xfrm>
            <a:off x="494271" y="148281"/>
            <a:ext cx="11269362" cy="6176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Подготовка проекта</a:t>
            </a:r>
            <a:br>
              <a:rPr lang="ru-RU"/>
            </a:b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838200" y="1340285"/>
            <a:ext cx="10515600" cy="483667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  <a:defRPr/>
            </a:pPr>
            <a:r>
              <a:rPr lang="ru-RU"/>
              <a:t>Создайте новый проект через </a:t>
            </a:r>
            <a:r>
              <a:rPr lang="en-US"/>
              <a:t>Vite</a:t>
            </a:r>
            <a:r>
              <a:rPr lang="en-US"/>
              <a:t>:</a:t>
            </a:r>
            <a:endParaRPr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r>
              <a:rPr lang="en-US"/>
              <a:t>npm</a:t>
            </a:r>
            <a:r>
              <a:rPr lang="en-US"/>
              <a:t> create </a:t>
            </a:r>
            <a:r>
              <a:rPr lang="en-US"/>
              <a:t>vite@latest</a:t>
            </a:r>
            <a:r>
              <a:rPr lang="en-US"/>
              <a:t> feedback-form -- --template react</a:t>
            </a:r>
            <a:endParaRPr/>
          </a:p>
          <a:p>
            <a:pPr marL="0" indent="0">
              <a:buNone/>
              <a:defRPr/>
            </a:pPr>
            <a:r>
              <a:rPr lang="en-US"/>
              <a:t>cd feedback-form</a:t>
            </a:r>
            <a:endParaRPr/>
          </a:p>
          <a:p>
            <a:pPr marL="0" indent="0">
              <a:buNone/>
              <a:defRPr/>
            </a:pPr>
            <a:r>
              <a:rPr lang="en-US"/>
              <a:t>npm</a:t>
            </a:r>
            <a:r>
              <a:rPr lang="en-US"/>
              <a:t> install</a:t>
            </a:r>
            <a:endParaRPr/>
          </a:p>
          <a:p>
            <a:pPr marL="0" indent="0">
              <a:buNone/>
              <a:defRPr/>
            </a:pPr>
            <a:r>
              <a:rPr lang="en-US"/>
              <a:t>npm</a:t>
            </a:r>
            <a:r>
              <a:rPr lang="en-US"/>
              <a:t> run dev</a:t>
            </a:r>
            <a:endParaRPr/>
          </a:p>
          <a:p>
            <a:pPr marL="0" indent="0">
              <a:buNone/>
              <a:defRPr/>
            </a:pPr>
            <a:r>
              <a:rPr lang="ru-RU"/>
              <a:t>Структура, с которой будем работать:</a:t>
            </a:r>
            <a:endParaRPr/>
          </a:p>
          <a:p>
            <a:pPr marL="0" indent="0">
              <a:buNone/>
              <a:defRPr/>
            </a:pPr>
            <a:r>
              <a:rPr lang="en-US"/>
              <a:t>src</a:t>
            </a:r>
            <a:r>
              <a:rPr lang="en-US"/>
              <a:t>/</a:t>
            </a:r>
            <a:endParaRPr/>
          </a:p>
          <a:p>
            <a:pPr marL="0" indent="0">
              <a:buNone/>
              <a:defRPr/>
            </a:pPr>
            <a:r>
              <a:rPr lang="en-US"/>
              <a:t>├── </a:t>
            </a:r>
            <a:r>
              <a:rPr lang="en-US"/>
              <a:t>App.jsx</a:t>
            </a:r>
            <a:endParaRPr lang="en-US"/>
          </a:p>
          <a:p>
            <a:pPr marL="0" indent="0">
              <a:buNone/>
              <a:defRPr/>
            </a:pPr>
            <a:r>
              <a:rPr lang="en-US"/>
              <a:t>├── App.css</a:t>
            </a:r>
            <a:endParaRPr/>
          </a:p>
          <a:p>
            <a:pPr marL="0" indent="0">
              <a:buNone/>
              <a:defRPr/>
            </a:pPr>
            <a:r>
              <a:rPr lang="en-US"/>
              <a:t>├── components/</a:t>
            </a:r>
            <a:endParaRPr/>
          </a:p>
          <a:p>
            <a:pPr marL="0" indent="0">
              <a:buNone/>
              <a:defRPr/>
            </a:pPr>
            <a:r>
              <a:rPr lang="en-US"/>
              <a:t>│   ├── </a:t>
            </a:r>
            <a:r>
              <a:rPr lang="en-US"/>
              <a:t>FeedbackForm.jsx</a:t>
            </a:r>
            <a:endParaRPr lang="en-US"/>
          </a:p>
          <a:p>
            <a:pPr marL="0" indent="0">
              <a:buNone/>
              <a:defRPr/>
            </a:pPr>
            <a:r>
              <a:rPr lang="en-US"/>
              <a:t>│   └── FeedbackForm.css</a:t>
            </a:r>
            <a:endParaRPr/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Пошаговое выполнение</a:t>
            </a:r>
            <a:br>
              <a:rPr lang="ru-RU"/>
            </a:b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771525" y="1189972"/>
            <a:ext cx="10515600" cy="498699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  <a:defRPr/>
            </a:pPr>
            <a:r>
              <a:rPr lang="ru-RU"/>
              <a:t>Шаг </a:t>
            </a:r>
            <a:r>
              <a:rPr lang="ru-RU"/>
              <a:t>1. Каркас компонента формы</a:t>
            </a:r>
            <a:endParaRPr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/>
              <a:t>Создайте файл </a:t>
            </a:r>
            <a:r>
              <a:rPr lang="ru-RU"/>
              <a:t>src</a:t>
            </a:r>
            <a:r>
              <a:rPr lang="ru-RU"/>
              <a:t>/</a:t>
            </a:r>
            <a:r>
              <a:rPr lang="ru-RU"/>
              <a:t>components</a:t>
            </a:r>
            <a:r>
              <a:rPr lang="ru-RU"/>
              <a:t>/</a:t>
            </a:r>
            <a:r>
              <a:rPr lang="ru-RU"/>
              <a:t>FeedbackForm.jsx</a:t>
            </a:r>
            <a:r>
              <a:rPr lang="ru-RU"/>
              <a:t>. Начнём с базовой структуры — полей </a:t>
            </a:r>
            <a:r>
              <a:rPr lang="ru-RU">
                <a:solidFill>
                  <a:srgbClr val="FF0000"/>
                </a:solidFill>
              </a:rPr>
              <a:t>«Имя», «</a:t>
            </a:r>
            <a:r>
              <a:rPr lang="ru-RU">
                <a:solidFill>
                  <a:srgbClr val="FF0000"/>
                </a:solidFill>
              </a:rPr>
              <a:t>Email</a:t>
            </a:r>
            <a:r>
              <a:rPr lang="ru-RU">
                <a:solidFill>
                  <a:srgbClr val="FF0000"/>
                </a:solidFill>
              </a:rPr>
              <a:t>», «Сообщение» и кнопки отправки</a:t>
            </a:r>
            <a:r>
              <a:rPr lang="ru-RU">
                <a:solidFill>
                  <a:srgbClr val="FF0000"/>
                </a:solidFill>
              </a:rPr>
              <a:t>.</a:t>
            </a:r>
            <a:endParaRPr/>
          </a:p>
          <a:p>
            <a:pPr marL="0" indent="0">
              <a:spcBef>
                <a:spcPts val="600"/>
              </a:spcBef>
              <a:buNone/>
              <a:defRPr/>
            </a:pPr>
            <a:endParaRPr lang="ru-RU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/>
              <a:t> </a:t>
            </a:r>
            <a:r>
              <a:rPr lang="en-US"/>
              <a:t>// </a:t>
            </a:r>
            <a:r>
              <a:rPr lang="en-US"/>
              <a:t>src</a:t>
            </a:r>
            <a:r>
              <a:rPr lang="en-US"/>
              <a:t>/components/</a:t>
            </a:r>
            <a:r>
              <a:rPr lang="en-US"/>
              <a:t>FeedbackForm.jsx</a:t>
            </a:r>
            <a:endParaRPr lang="en-US"/>
          </a:p>
          <a:p>
            <a:pPr marL="0" indent="0">
              <a:spcBef>
                <a:spcPts val="600"/>
              </a:spcBef>
              <a:buNone/>
              <a:defRPr/>
            </a:pPr>
            <a:endParaRPr lang="ru-RU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/>
              <a:t>import { </a:t>
            </a:r>
            <a:r>
              <a:rPr lang="en-US"/>
              <a:t>useState</a:t>
            </a:r>
            <a:r>
              <a:rPr lang="en-US"/>
              <a:t> } from "react";</a:t>
            </a:r>
            <a:endParaRPr lang="ru-RU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/>
              <a:t>import "./FeedbackForm.css";</a:t>
            </a:r>
            <a:endParaRPr lang="ru-RU"/>
          </a:p>
          <a:p>
            <a:pPr marL="0" indent="0">
              <a:spcBef>
                <a:spcPts val="600"/>
              </a:spcBef>
              <a:buNone/>
              <a:defRPr/>
            </a:pPr>
            <a:endParaRPr lang="ru-RU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/>
              <a:t>function </a:t>
            </a:r>
            <a:r>
              <a:rPr lang="en-US"/>
              <a:t>FeedbackForm</a:t>
            </a:r>
            <a:r>
              <a:rPr lang="en-US"/>
              <a:t>() {</a:t>
            </a:r>
            <a:endParaRPr lang="ru-RU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/>
              <a:t>  </a:t>
            </a:r>
            <a:r>
              <a:rPr lang="ru-RU"/>
              <a:t>// --- Состояние значений полей ---</a:t>
            </a:r>
            <a:endParaRPr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/>
              <a:t>  // Каждый </a:t>
            </a:r>
            <a:r>
              <a:rPr lang="ru-RU"/>
              <a:t>инпут</a:t>
            </a:r>
            <a:r>
              <a:rPr lang="ru-RU"/>
              <a:t> — управляемый компонент: его значение хранится в </a:t>
            </a:r>
            <a:r>
              <a:rPr lang="ru-RU"/>
              <a:t>state</a:t>
            </a:r>
            <a:r>
              <a:rPr lang="ru-RU"/>
              <a:t>.</a:t>
            </a:r>
            <a:endParaRPr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/>
              <a:t>  </a:t>
            </a:r>
            <a:r>
              <a:rPr lang="en-US"/>
              <a:t>const</a:t>
            </a:r>
            <a:r>
              <a:rPr lang="en-US"/>
              <a:t> [name, </a:t>
            </a:r>
            <a:r>
              <a:rPr lang="en-US"/>
              <a:t>setName</a:t>
            </a:r>
            <a:r>
              <a:rPr lang="en-US"/>
              <a:t>] = </a:t>
            </a:r>
            <a:r>
              <a:rPr lang="en-US"/>
              <a:t>useState</a:t>
            </a:r>
            <a:r>
              <a:rPr lang="en-US"/>
              <a:t>("");</a:t>
            </a:r>
            <a:endParaRPr lang="ru-RU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/>
              <a:t>  </a:t>
            </a:r>
            <a:r>
              <a:rPr lang="en-US"/>
              <a:t>const</a:t>
            </a:r>
            <a:r>
              <a:rPr lang="en-US"/>
              <a:t> [email, </a:t>
            </a:r>
            <a:r>
              <a:rPr lang="en-US"/>
              <a:t>setEmail</a:t>
            </a:r>
            <a:r>
              <a:rPr lang="en-US"/>
              <a:t>] = </a:t>
            </a:r>
            <a:r>
              <a:rPr lang="en-US"/>
              <a:t>useState</a:t>
            </a:r>
            <a:r>
              <a:rPr lang="en-US"/>
              <a:t>("");</a:t>
            </a:r>
            <a:endParaRPr lang="ru-RU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/>
              <a:t>  </a:t>
            </a:r>
            <a:r>
              <a:rPr lang="en-US"/>
              <a:t>const</a:t>
            </a:r>
            <a:r>
              <a:rPr lang="en-US"/>
              <a:t> [message, </a:t>
            </a:r>
            <a:r>
              <a:rPr lang="en-US"/>
              <a:t>setMessage</a:t>
            </a:r>
            <a:r>
              <a:rPr lang="en-US"/>
              <a:t>] = </a:t>
            </a:r>
            <a:r>
              <a:rPr lang="en-US"/>
              <a:t>useState</a:t>
            </a:r>
            <a:r>
              <a:rPr lang="en-US"/>
              <a:t>("");</a:t>
            </a:r>
            <a:endParaRPr lang="ru-RU"/>
          </a:p>
        </p:txBody>
      </p:sp>
      <p:sp>
        <p:nvSpPr>
          <p:cNvPr id="4" name="TextBox 3"/>
          <p:cNvSpPr txBox="1"/>
          <p:nvPr/>
        </p:nvSpPr>
        <p:spPr bwMode="auto">
          <a:xfrm>
            <a:off x="8896865" y="2483709"/>
            <a:ext cx="27802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Сборщик </a:t>
            </a:r>
            <a:r>
              <a:rPr lang="ru-RU"/>
              <a:t>Vite</a:t>
            </a:r>
            <a:r>
              <a:rPr lang="ru-RU"/>
              <a:t> заранее строит граф зависимостей и понимает, какие части библиотеки реально используются.. </a:t>
            </a:r>
            <a:endParaRPr lang="ru-RU"/>
          </a:p>
        </p:txBody>
      </p:sp>
      <p:cxnSp>
        <p:nvCxnSpPr>
          <p:cNvPr id="6" name="Прямая со стрелкой 5"/>
          <p:cNvCxnSpPr>
            <a:cxnSpLocks/>
          </p:cNvCxnSpPr>
          <p:nvPr/>
        </p:nvCxnSpPr>
        <p:spPr bwMode="auto">
          <a:xfrm flipV="1">
            <a:off x="5301049" y="3286897"/>
            <a:ext cx="3422821" cy="1235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// --- </a:t>
            </a:r>
            <a:r>
              <a:rPr lang="ru-RU"/>
              <a:t>Состояние полей</a:t>
            </a:r>
            <a:br>
              <a:rPr lang="ru-RU"/>
            </a:b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179541" y="1027135"/>
            <a:ext cx="7398706" cy="5724394"/>
          </a:xfrm>
        </p:spPr>
        <p:txBody>
          <a:bodyPr>
            <a:normAutofit fontScale="55000" lnSpcReduction="20000"/>
          </a:bodyPr>
          <a:lstStyle/>
          <a:p>
            <a:pPr marL="0" indent="0">
              <a:spcBef>
                <a:spcPts val="600"/>
              </a:spcBef>
              <a:buNone/>
              <a:defRPr/>
            </a:pPr>
            <a:r>
              <a:rPr lang="ru-RU" sz="3300" b="1"/>
              <a:t>// ----Состояние ошибки </a:t>
            </a:r>
            <a:r>
              <a:rPr lang="ru-RU" sz="3300" b="1"/>
              <a:t>валидации</a:t>
            </a:r>
            <a:r>
              <a:rPr lang="ru-RU" sz="3300" b="1"/>
              <a:t>----</a:t>
            </a:r>
            <a:endParaRPr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 sz="3300"/>
              <a:t>// </a:t>
            </a:r>
            <a:r>
              <a:rPr lang="ru-RU" sz="3300"/>
              <a:t>Храним текст ошибки для каждого поля отдельно.</a:t>
            </a:r>
            <a:endParaRPr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 sz="3300"/>
              <a:t>  // Если ошибки нет — значение </a:t>
            </a:r>
            <a:r>
              <a:rPr lang="ru-RU" sz="3300"/>
              <a:t>null</a:t>
            </a:r>
            <a:r>
              <a:rPr lang="ru-RU" sz="3300"/>
              <a:t>.</a:t>
            </a:r>
            <a:endParaRPr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 sz="3300"/>
              <a:t>  </a:t>
            </a:r>
            <a:r>
              <a:rPr lang="en-US" sz="3300"/>
              <a:t>const</a:t>
            </a:r>
            <a:r>
              <a:rPr lang="en-US" sz="3300"/>
              <a:t> [errors, </a:t>
            </a:r>
            <a:r>
              <a:rPr lang="en-US" sz="3300"/>
              <a:t>setErrors</a:t>
            </a:r>
            <a:r>
              <a:rPr lang="en-US" sz="3300"/>
              <a:t>] = </a:t>
            </a:r>
            <a:r>
              <a:rPr lang="en-US" sz="3300"/>
              <a:t>useState</a:t>
            </a:r>
            <a:r>
              <a:rPr lang="en-US" sz="3300"/>
              <a:t>({</a:t>
            </a:r>
            <a:endParaRPr lang="ru-RU" sz="3300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 sz="3300"/>
              <a:t>    name: null,</a:t>
            </a:r>
            <a:endParaRPr lang="ru-RU" sz="3300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 sz="3300"/>
              <a:t>    </a:t>
            </a:r>
            <a:r>
              <a:rPr lang="ru-RU" sz="3300"/>
              <a:t>email</a:t>
            </a:r>
            <a:r>
              <a:rPr lang="ru-RU" sz="3300"/>
              <a:t>: </a:t>
            </a:r>
            <a:r>
              <a:rPr lang="ru-RU" sz="3300"/>
              <a:t>null</a:t>
            </a:r>
            <a:r>
              <a:rPr lang="ru-RU" sz="3300"/>
              <a:t>,</a:t>
            </a:r>
            <a:endParaRPr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 sz="3300"/>
              <a:t>    </a:t>
            </a:r>
            <a:r>
              <a:rPr lang="ru-RU" sz="3300"/>
              <a:t>message</a:t>
            </a:r>
            <a:r>
              <a:rPr lang="ru-RU" sz="3300"/>
              <a:t>: </a:t>
            </a:r>
            <a:r>
              <a:rPr lang="ru-RU" sz="3300"/>
              <a:t>null</a:t>
            </a:r>
            <a:r>
              <a:rPr lang="ru-RU" sz="3300"/>
              <a:t>,</a:t>
            </a:r>
            <a:endParaRPr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 sz="3300"/>
              <a:t>  });</a:t>
            </a:r>
            <a:endParaRPr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 sz="3300"/>
              <a:t> </a:t>
            </a:r>
            <a:endParaRPr lang="ru-RU" sz="3300" b="1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 sz="3300" b="1"/>
              <a:t>  // --- Состояние «тронутых» полей ---</a:t>
            </a:r>
            <a:endParaRPr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 sz="3300"/>
              <a:t>  // Поле считается «тронутым» (</a:t>
            </a:r>
            <a:r>
              <a:rPr lang="ru-RU" sz="3300"/>
              <a:t>touched</a:t>
            </a:r>
            <a:r>
              <a:rPr lang="ru-RU" sz="3300"/>
              <a:t>), если пользователь хотя бы раз</a:t>
            </a:r>
            <a:endParaRPr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 sz="3300"/>
              <a:t>  // вышел из него (</a:t>
            </a:r>
            <a:r>
              <a:rPr lang="ru-RU" sz="3300"/>
              <a:t>blur</a:t>
            </a:r>
            <a:r>
              <a:rPr lang="ru-RU" sz="3300"/>
              <a:t>). До этого момента не показываем ошибки,</a:t>
            </a:r>
            <a:endParaRPr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 sz="3300"/>
              <a:t>  // даже если значение </a:t>
            </a:r>
            <a:r>
              <a:rPr lang="ru-RU" sz="3300"/>
              <a:t>невалидно</a:t>
            </a:r>
            <a:r>
              <a:rPr lang="ru-RU" sz="3300"/>
              <a:t> — это снижает раздражение пользователя.</a:t>
            </a:r>
            <a:endParaRPr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 sz="3300"/>
              <a:t>  </a:t>
            </a:r>
            <a:r>
              <a:rPr lang="en-US" sz="3300"/>
              <a:t>const</a:t>
            </a:r>
            <a:r>
              <a:rPr lang="en-US" sz="3300"/>
              <a:t> [touched, </a:t>
            </a:r>
            <a:r>
              <a:rPr lang="en-US" sz="3300"/>
              <a:t>setTouched</a:t>
            </a:r>
            <a:r>
              <a:rPr lang="en-US" sz="3300"/>
              <a:t>] = </a:t>
            </a:r>
            <a:r>
              <a:rPr lang="en-US" sz="3300"/>
              <a:t>useState</a:t>
            </a:r>
            <a:r>
              <a:rPr lang="en-US" sz="3300"/>
              <a:t>({</a:t>
            </a:r>
            <a:endParaRPr lang="ru-RU" sz="3300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 sz="3300"/>
              <a:t>    name: false,</a:t>
            </a:r>
            <a:endParaRPr lang="ru-RU" sz="3300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 sz="3300"/>
              <a:t>    </a:t>
            </a:r>
            <a:r>
              <a:rPr lang="ru-RU" sz="3300"/>
              <a:t>email</a:t>
            </a:r>
            <a:r>
              <a:rPr lang="ru-RU" sz="3300"/>
              <a:t>: </a:t>
            </a:r>
            <a:r>
              <a:rPr lang="ru-RU" sz="3300"/>
              <a:t>false</a:t>
            </a:r>
            <a:r>
              <a:rPr lang="ru-RU" sz="3300"/>
              <a:t>,</a:t>
            </a:r>
            <a:endParaRPr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 sz="3300"/>
              <a:t>    </a:t>
            </a:r>
            <a:r>
              <a:rPr lang="ru-RU" sz="3300"/>
              <a:t>message</a:t>
            </a:r>
            <a:r>
              <a:rPr lang="ru-RU" sz="3300"/>
              <a:t>: </a:t>
            </a:r>
            <a:r>
              <a:rPr lang="ru-RU" sz="3300"/>
              <a:t>false</a:t>
            </a:r>
            <a:r>
              <a:rPr lang="ru-RU" sz="3300"/>
              <a:t>,</a:t>
            </a:r>
            <a:endParaRPr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 sz="3300"/>
              <a:t>  });</a:t>
            </a:r>
            <a:endParaRPr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 sz="3300"/>
              <a:t> </a:t>
            </a:r>
            <a:endParaRPr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/>
              <a:t>  </a:t>
            </a: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7578246" y="1027906"/>
            <a:ext cx="4271376" cy="3954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ru-RU" b="1"/>
              <a:t>// --- Состояние процесса отправки ---</a:t>
            </a:r>
            <a:endParaRPr/>
          </a:p>
          <a:p>
            <a:pPr>
              <a:spcBef>
                <a:spcPts val="600"/>
              </a:spcBef>
              <a:defRPr/>
            </a:pPr>
            <a:r>
              <a:rPr lang="ru-RU"/>
              <a:t>  // Пока идёт «запрос» — блокируем кнопку и показываем индикатор.</a:t>
            </a:r>
            <a:endParaRPr/>
          </a:p>
          <a:p>
            <a:pPr>
              <a:spcBef>
                <a:spcPts val="600"/>
              </a:spcBef>
              <a:defRPr/>
            </a:pPr>
            <a:r>
              <a:rPr lang="ru-RU"/>
              <a:t>  </a:t>
            </a:r>
            <a:r>
              <a:rPr lang="en-US"/>
              <a:t>const</a:t>
            </a:r>
            <a:r>
              <a:rPr lang="en-US"/>
              <a:t> [</a:t>
            </a:r>
            <a:r>
              <a:rPr lang="en-US"/>
              <a:t>isSubmitting</a:t>
            </a:r>
            <a:r>
              <a:rPr lang="en-US"/>
              <a:t>, </a:t>
            </a:r>
            <a:r>
              <a:rPr lang="en-US"/>
              <a:t>setIsSubmitting</a:t>
            </a:r>
            <a:r>
              <a:rPr lang="en-US"/>
              <a:t>] = </a:t>
            </a:r>
            <a:r>
              <a:rPr lang="en-US"/>
              <a:t>useState</a:t>
            </a:r>
            <a:r>
              <a:rPr lang="en-US"/>
              <a:t>(false);</a:t>
            </a:r>
            <a:endParaRPr lang="ru-RU"/>
          </a:p>
          <a:p>
            <a:pPr>
              <a:spcBef>
                <a:spcPts val="600"/>
              </a:spcBef>
              <a:defRPr/>
            </a:pPr>
            <a:r>
              <a:rPr lang="en-US"/>
              <a:t> </a:t>
            </a:r>
            <a:endParaRPr lang="ru-RU"/>
          </a:p>
          <a:p>
            <a:pPr>
              <a:spcBef>
                <a:spcPts val="600"/>
              </a:spcBef>
              <a:defRPr/>
            </a:pPr>
            <a:r>
              <a:rPr lang="en-US" b="1"/>
              <a:t>  </a:t>
            </a:r>
            <a:r>
              <a:rPr lang="ru-RU" b="1"/>
              <a:t>// --- Состояние успешной отправки ---</a:t>
            </a:r>
            <a:endParaRPr/>
          </a:p>
          <a:p>
            <a:pPr>
              <a:spcBef>
                <a:spcPts val="600"/>
              </a:spcBef>
              <a:defRPr/>
            </a:pPr>
            <a:r>
              <a:rPr lang="ru-RU"/>
              <a:t>  // После успешной отправки показываем сообщение вместо формы.</a:t>
            </a:r>
            <a:endParaRPr/>
          </a:p>
          <a:p>
            <a:pPr>
              <a:spcBef>
                <a:spcPts val="600"/>
              </a:spcBef>
              <a:defRPr/>
            </a:pPr>
            <a:r>
              <a:rPr lang="ru-RU"/>
              <a:t>  </a:t>
            </a:r>
            <a:r>
              <a:rPr lang="en-US"/>
              <a:t>const</a:t>
            </a:r>
            <a:r>
              <a:rPr lang="en-US"/>
              <a:t> [submitted, </a:t>
            </a:r>
            <a:r>
              <a:rPr lang="en-US"/>
              <a:t>setSubmitted</a:t>
            </a:r>
            <a:r>
              <a:rPr lang="en-US"/>
              <a:t>] = </a:t>
            </a:r>
            <a:r>
              <a:rPr lang="en-US"/>
              <a:t>useState</a:t>
            </a:r>
            <a:r>
              <a:rPr lang="en-US"/>
              <a:t>(false);</a:t>
            </a:r>
            <a:endParaRPr lang="ru-RU"/>
          </a:p>
          <a:p>
            <a:pPr>
              <a:spcBef>
                <a:spcPts val="600"/>
              </a:spcBef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продолжение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838200" y="1490596"/>
            <a:ext cx="10515600" cy="5022937"/>
          </a:xfrm>
        </p:spPr>
        <p:txBody>
          <a:bodyPr>
            <a:normAutofit fontScale="77500" lnSpcReduction="20000"/>
          </a:bodyPr>
          <a:lstStyle/>
          <a:p>
            <a:pPr marL="0" indent="0">
              <a:spcBef>
                <a:spcPts val="600"/>
              </a:spcBef>
              <a:buNone/>
              <a:defRPr/>
            </a:pPr>
            <a:r>
              <a:rPr lang="en-US"/>
              <a:t> return (</a:t>
            </a:r>
            <a:endParaRPr lang="ru-RU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/>
              <a:t>    &lt;form </a:t>
            </a:r>
            <a:r>
              <a:rPr lang="en-US"/>
              <a:t>className</a:t>
            </a:r>
            <a:r>
              <a:rPr lang="en-US"/>
              <a:t>="feedback-form"&gt;</a:t>
            </a:r>
            <a:endParaRPr lang="ru-RU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/>
              <a:t>      {/* </a:t>
            </a:r>
            <a:r>
              <a:rPr lang="ru-RU"/>
              <a:t>Поле</a:t>
            </a:r>
            <a:r>
              <a:rPr lang="en-US"/>
              <a:t> «</a:t>
            </a:r>
            <a:r>
              <a:rPr lang="ru-RU"/>
              <a:t>Имя</a:t>
            </a:r>
            <a:r>
              <a:rPr lang="en-US"/>
              <a:t>» */}</a:t>
            </a:r>
            <a:endParaRPr lang="ru-RU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/>
              <a:t>      &lt;div </a:t>
            </a:r>
            <a:r>
              <a:rPr lang="en-US"/>
              <a:t>className</a:t>
            </a:r>
            <a:r>
              <a:rPr lang="en-US"/>
              <a:t>="field"&gt;</a:t>
            </a:r>
            <a:endParaRPr lang="ru-RU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/>
              <a:t>        &lt;label </a:t>
            </a:r>
            <a:r>
              <a:rPr lang="en-US"/>
              <a:t>htmlFor</a:t>
            </a:r>
            <a:r>
              <a:rPr lang="en-US"/>
              <a:t>="name" </a:t>
            </a:r>
            <a:r>
              <a:rPr lang="en-US"/>
              <a:t>className</a:t>
            </a:r>
            <a:r>
              <a:rPr lang="en-US"/>
              <a:t>="</a:t>
            </a:r>
            <a:r>
              <a:rPr lang="en-US"/>
              <a:t>field__label</a:t>
            </a:r>
            <a:r>
              <a:rPr lang="en-US"/>
              <a:t>"&gt;</a:t>
            </a:r>
            <a:endParaRPr lang="ru-RU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/>
              <a:t>          </a:t>
            </a:r>
            <a:r>
              <a:rPr lang="ru-RU"/>
              <a:t>Имя</a:t>
            </a:r>
            <a:endParaRPr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/>
              <a:t>        &lt;/label&gt;</a:t>
            </a:r>
            <a:endParaRPr lang="ru-RU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/>
              <a:t>        &lt;</a:t>
            </a:r>
            <a:r>
              <a:rPr lang="en-US"/>
              <a:t>input</a:t>
            </a:r>
            <a:r>
              <a:rPr lang="ru-RU"/>
              <a:t> </a:t>
            </a:r>
            <a:r>
              <a:rPr lang="en-US"/>
              <a:t>    </a:t>
            </a:r>
            <a:r>
              <a:rPr lang="en-US"/>
              <a:t>id</a:t>
            </a:r>
            <a:r>
              <a:rPr lang="en-US"/>
              <a:t>="</a:t>
            </a:r>
            <a:r>
              <a:rPr lang="en-US"/>
              <a:t>name”</a:t>
            </a:r>
            <a:r>
              <a:rPr lang="ru-RU"/>
              <a:t> </a:t>
            </a:r>
            <a:r>
              <a:rPr lang="en-US"/>
              <a:t>  </a:t>
            </a:r>
            <a:r>
              <a:rPr lang="en-US"/>
              <a:t>type="</a:t>
            </a:r>
            <a:r>
              <a:rPr lang="en-US"/>
              <a:t>text”</a:t>
            </a:r>
            <a:r>
              <a:rPr lang="ru-RU"/>
              <a:t> </a:t>
            </a:r>
            <a:r>
              <a:rPr lang="en-US"/>
              <a:t>  </a:t>
            </a:r>
            <a:r>
              <a:rPr lang="en-US"/>
              <a:t>className</a:t>
            </a:r>
            <a:r>
              <a:rPr lang="en-US"/>
              <a:t>="</a:t>
            </a:r>
            <a:r>
              <a:rPr lang="en-US"/>
              <a:t>field__</a:t>
            </a:r>
            <a:r>
              <a:rPr lang="en-US"/>
              <a:t>input</a:t>
            </a:r>
            <a:r>
              <a:rPr lang="en-US"/>
              <a:t>”</a:t>
            </a:r>
            <a:r>
              <a:rPr lang="ru-RU"/>
              <a:t>  </a:t>
            </a:r>
            <a:r>
              <a:rPr lang="en-US"/>
              <a:t>   </a:t>
            </a:r>
            <a:r>
              <a:rPr lang="en-US"/>
              <a:t>value={name}</a:t>
            </a:r>
            <a:endParaRPr lang="ru-RU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/>
              <a:t>          </a:t>
            </a:r>
            <a:r>
              <a:rPr lang="en-US"/>
              <a:t>onChange</a:t>
            </a:r>
            <a:r>
              <a:rPr lang="en-US"/>
              <a:t>={(e) =&gt; </a:t>
            </a:r>
            <a:r>
              <a:rPr lang="en-US"/>
              <a:t>setName</a:t>
            </a:r>
            <a:r>
              <a:rPr lang="en-US"/>
              <a:t>(</a:t>
            </a:r>
            <a:r>
              <a:rPr lang="en-US"/>
              <a:t>e.target.value</a:t>
            </a:r>
            <a:r>
              <a:rPr lang="en-US"/>
              <a:t>)}</a:t>
            </a:r>
            <a:endParaRPr lang="ru-RU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/>
              <a:t>          </a:t>
            </a:r>
            <a:r>
              <a:rPr lang="en-US"/>
              <a:t>onBlur</a:t>
            </a:r>
            <a:r>
              <a:rPr lang="en-US"/>
              <a:t>={() =&gt; </a:t>
            </a:r>
            <a:r>
              <a:rPr lang="en-US"/>
              <a:t>setTouched</a:t>
            </a:r>
            <a:r>
              <a:rPr lang="en-US"/>
              <a:t>((</a:t>
            </a:r>
            <a:r>
              <a:rPr lang="en-US"/>
              <a:t>prev</a:t>
            </a:r>
            <a:r>
              <a:rPr lang="en-US"/>
              <a:t>) =&gt; ({ ...</a:t>
            </a:r>
            <a:r>
              <a:rPr lang="en-US"/>
              <a:t>prev</a:t>
            </a:r>
            <a:r>
              <a:rPr lang="en-US"/>
              <a:t>, name: true }))}</a:t>
            </a:r>
            <a:endParaRPr lang="ru-RU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/>
              <a:t>        </a:t>
            </a:r>
            <a:r>
              <a:rPr lang="ru-RU"/>
              <a:t>/&gt;</a:t>
            </a:r>
            <a:endParaRPr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/>
              <a:t>        {/* Блок ошибки появляется только если поле тронуто И есть ошибка */}</a:t>
            </a:r>
            <a:endParaRPr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/>
              <a:t>        </a:t>
            </a:r>
            <a:r>
              <a:rPr lang="en-US"/>
              <a:t>{touched.name &amp;&amp; errors.name &amp;&amp; (</a:t>
            </a:r>
            <a:endParaRPr lang="ru-RU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/>
              <a:t>          &lt;span </a:t>
            </a:r>
            <a:r>
              <a:rPr lang="en-US"/>
              <a:t>className</a:t>
            </a:r>
            <a:r>
              <a:rPr lang="en-US"/>
              <a:t>="</a:t>
            </a:r>
            <a:r>
              <a:rPr lang="en-US"/>
              <a:t>field__error</a:t>
            </a:r>
            <a:r>
              <a:rPr lang="en-US"/>
              <a:t>"&gt;{errors.name}&lt;/span&gt;</a:t>
            </a:r>
            <a:endParaRPr lang="ru-RU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/>
              <a:t>        )}</a:t>
            </a:r>
            <a:endParaRPr lang="ru-RU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/>
              <a:t>      &lt;/div&gt;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116374"/>
            <a:ext cx="10515600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3600"/>
              <a:t>Оператор </a:t>
            </a:r>
            <a:r>
              <a:rPr lang="ru-RU" sz="3600"/>
              <a:t>spread</a:t>
            </a:r>
            <a:r>
              <a:rPr lang="ru-RU" sz="3600"/>
              <a:t> (...) в </a:t>
            </a:r>
            <a:r>
              <a:rPr lang="ru-RU" sz="3600"/>
              <a:t>JavaScript</a:t>
            </a:r>
            <a:r>
              <a:rPr lang="ru-RU" sz="3600"/>
              <a:t> </a:t>
            </a:r>
            <a:r>
              <a:rPr lang="ru-RU" sz="3600">
                <a:solidFill>
                  <a:srgbClr val="FF0000"/>
                </a:solidFill>
              </a:rPr>
              <a:t>(комментарий)</a:t>
            </a:r>
            <a:endParaRPr lang="ru-RU" sz="360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158262" y="1441937"/>
            <a:ext cx="11195538" cy="527538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  <a:defRPr/>
            </a:pPr>
            <a:r>
              <a:rPr lang="ru-RU"/>
              <a:t>Оператор </a:t>
            </a:r>
            <a:r>
              <a:rPr lang="ru-RU"/>
              <a:t>spread</a:t>
            </a:r>
            <a:r>
              <a:rPr lang="ru-RU"/>
              <a:t> (...) в </a:t>
            </a:r>
            <a:r>
              <a:rPr lang="ru-RU"/>
              <a:t>JavaScript</a:t>
            </a:r>
            <a:r>
              <a:rPr lang="ru-RU"/>
              <a:t> — это синтаксический сахар, который «распаковывает» элементы массива или свойства объекта в другой контекст. </a:t>
            </a:r>
            <a:endParaRPr/>
          </a:p>
          <a:p>
            <a:pPr marL="0" indent="0">
              <a:buNone/>
              <a:defRPr/>
            </a:pPr>
            <a:r>
              <a:rPr lang="ru-RU"/>
              <a:t>Разберём, как это работает:</a:t>
            </a:r>
            <a:endParaRPr/>
          </a:p>
          <a:p>
            <a:pPr marL="0" indent="0">
              <a:buNone/>
              <a:defRPr/>
            </a:pPr>
            <a:r>
              <a:rPr lang="ru-RU"/>
              <a:t>Для объектов (как в </a:t>
            </a:r>
            <a:r>
              <a:rPr lang="ru-RU"/>
              <a:t>handleChange</a:t>
            </a:r>
            <a:r>
              <a:rPr lang="ru-RU"/>
              <a:t>).</a:t>
            </a:r>
            <a:endParaRPr/>
          </a:p>
          <a:p>
            <a:pPr marL="0" indent="0">
              <a:buNone/>
              <a:defRPr/>
            </a:pPr>
            <a:r>
              <a:rPr lang="ru-RU"/>
              <a:t>В строке ...</a:t>
            </a:r>
            <a:r>
              <a:rPr lang="ru-RU"/>
              <a:t>prev</a:t>
            </a:r>
            <a:r>
              <a:rPr lang="ru-RU"/>
              <a:t> оператор </a:t>
            </a:r>
            <a:r>
              <a:rPr lang="ru-RU"/>
              <a:t>spread</a:t>
            </a:r>
            <a:r>
              <a:rPr lang="ru-RU"/>
              <a:t> копирует все текущие свойства объекта </a:t>
            </a:r>
            <a:r>
              <a:rPr lang="ru-RU"/>
              <a:t>prev</a:t>
            </a:r>
            <a:r>
              <a:rPr lang="ru-RU"/>
              <a:t> в новый объект:</a:t>
            </a:r>
            <a:endParaRPr/>
          </a:p>
          <a:p>
            <a:pPr marL="0" indent="0">
              <a:buNone/>
              <a:defRPr/>
            </a:pPr>
            <a:r>
              <a:rPr lang="ru-RU"/>
              <a:t>Пример</a:t>
            </a:r>
            <a:endParaRPr/>
          </a:p>
          <a:p>
            <a:pPr marL="0" indent="0">
              <a:buNone/>
              <a:defRPr/>
            </a:pPr>
            <a:r>
              <a:rPr lang="ru-RU" b="1"/>
              <a:t>const</a:t>
            </a:r>
            <a:r>
              <a:rPr lang="ru-RU" b="1"/>
              <a:t> </a:t>
            </a:r>
            <a:r>
              <a:rPr lang="ru-RU" b="1"/>
              <a:t>prev</a:t>
            </a:r>
            <a:r>
              <a:rPr lang="ru-RU" b="1"/>
              <a:t> = { </a:t>
            </a:r>
            <a:r>
              <a:rPr lang="ru-RU" b="1"/>
              <a:t>name</a:t>
            </a:r>
            <a:r>
              <a:rPr lang="ru-RU" b="1"/>
              <a:t>: '</a:t>
            </a:r>
            <a:r>
              <a:rPr lang="ru-RU" b="1"/>
              <a:t>Alex</a:t>
            </a:r>
            <a:r>
              <a:rPr lang="ru-RU" b="1"/>
              <a:t>', </a:t>
            </a:r>
            <a:r>
              <a:rPr lang="ru-RU" b="1"/>
              <a:t>age</a:t>
            </a:r>
            <a:r>
              <a:rPr lang="ru-RU" b="1"/>
              <a:t>: 25, </a:t>
            </a:r>
            <a:r>
              <a:rPr lang="ru-RU" b="1"/>
              <a:t>city</a:t>
            </a:r>
            <a:r>
              <a:rPr lang="ru-RU" b="1"/>
              <a:t>: '</a:t>
            </a:r>
            <a:r>
              <a:rPr lang="ru-RU" b="1"/>
              <a:t>Moscow</a:t>
            </a:r>
            <a:r>
              <a:rPr lang="ru-RU" b="1"/>
              <a:t>' };</a:t>
            </a:r>
            <a:endParaRPr/>
          </a:p>
          <a:p>
            <a:pPr marL="0" indent="0">
              <a:buNone/>
              <a:defRPr/>
            </a:pPr>
            <a:r>
              <a:rPr lang="ru-RU" b="1"/>
              <a:t>const</a:t>
            </a:r>
            <a:r>
              <a:rPr lang="ru-RU" b="1"/>
              <a:t> </a:t>
            </a:r>
            <a:r>
              <a:rPr lang="ru-RU" b="1"/>
              <a:t>next</a:t>
            </a:r>
            <a:r>
              <a:rPr lang="ru-RU" b="1"/>
              <a:t> = {  ...</a:t>
            </a:r>
            <a:r>
              <a:rPr lang="ru-RU" b="1"/>
              <a:t>prev</a:t>
            </a:r>
            <a:r>
              <a:rPr lang="ru-RU" b="1"/>
              <a:t>,</a:t>
            </a:r>
            <a:endParaRPr/>
          </a:p>
          <a:p>
            <a:pPr marL="0" indent="0">
              <a:buNone/>
              <a:defRPr/>
            </a:pPr>
            <a:r>
              <a:rPr lang="ru-RU" b="1"/>
              <a:t>  </a:t>
            </a:r>
            <a:r>
              <a:rPr lang="ru-RU" b="1"/>
              <a:t>age</a:t>
            </a:r>
            <a:r>
              <a:rPr lang="ru-RU" b="1"/>
              <a:t>: 26,                // обновляем существующее свойство</a:t>
            </a:r>
            <a:endParaRPr/>
          </a:p>
          <a:p>
            <a:pPr marL="0" indent="0">
              <a:buNone/>
              <a:defRPr/>
            </a:pPr>
            <a:r>
              <a:rPr lang="ru-RU" b="1"/>
              <a:t>  </a:t>
            </a:r>
            <a:r>
              <a:rPr lang="ru-RU" b="1"/>
              <a:t>job</a:t>
            </a:r>
            <a:r>
              <a:rPr lang="ru-RU" b="1"/>
              <a:t>: '</a:t>
            </a:r>
            <a:r>
              <a:rPr lang="ru-RU" b="1"/>
              <a:t>developer</a:t>
            </a:r>
            <a:r>
              <a:rPr lang="ru-RU" b="1"/>
              <a:t>'         // добавляем новое</a:t>
            </a:r>
            <a:endParaRPr/>
          </a:p>
          <a:p>
            <a:pPr marL="0" indent="0">
              <a:buNone/>
              <a:defRPr/>
            </a:pPr>
            <a:r>
              <a:rPr lang="ru-RU" b="1"/>
              <a:t>};</a:t>
            </a:r>
            <a:endParaRPr/>
          </a:p>
          <a:p>
            <a:pPr marL="0" indent="0">
              <a:buNone/>
              <a:defRPr/>
            </a:pPr>
            <a:r>
              <a:rPr lang="ru-RU"/>
              <a:t>console.log(</a:t>
            </a:r>
            <a:r>
              <a:rPr lang="ru-RU"/>
              <a:t>next</a:t>
            </a:r>
            <a:r>
              <a:rPr lang="ru-RU"/>
              <a:t>);</a:t>
            </a:r>
            <a:endParaRPr/>
          </a:p>
          <a:p>
            <a:pPr marL="0" indent="0">
              <a:buNone/>
              <a:defRPr/>
            </a:pPr>
            <a:r>
              <a:rPr lang="ru-RU"/>
              <a:t>// Результат: { </a:t>
            </a:r>
            <a:r>
              <a:rPr lang="ru-RU"/>
              <a:t>name</a:t>
            </a:r>
            <a:r>
              <a:rPr lang="ru-RU"/>
              <a:t>: '</a:t>
            </a:r>
            <a:r>
              <a:rPr lang="ru-RU"/>
              <a:t>Alex</a:t>
            </a:r>
            <a:r>
              <a:rPr lang="ru-RU"/>
              <a:t>', </a:t>
            </a:r>
            <a:r>
              <a:rPr lang="ru-RU"/>
              <a:t>age</a:t>
            </a:r>
            <a:r>
              <a:rPr lang="ru-RU"/>
              <a:t>: 26, </a:t>
            </a:r>
            <a:r>
              <a:rPr lang="ru-RU"/>
              <a:t>city</a:t>
            </a:r>
            <a:r>
              <a:rPr lang="ru-RU"/>
              <a:t>: '</a:t>
            </a:r>
            <a:r>
              <a:rPr lang="ru-RU"/>
              <a:t>Moscow</a:t>
            </a:r>
            <a:r>
              <a:rPr lang="ru-RU"/>
              <a:t>', </a:t>
            </a:r>
            <a:r>
              <a:rPr lang="ru-RU"/>
              <a:t>job</a:t>
            </a:r>
            <a:r>
              <a:rPr lang="ru-RU"/>
              <a:t>: '</a:t>
            </a:r>
            <a:r>
              <a:rPr lang="ru-RU"/>
              <a:t>developer</a:t>
            </a:r>
            <a:r>
              <a:rPr lang="ru-RU"/>
              <a:t>' }</a:t>
            </a:r>
            <a:endParaRPr/>
          </a:p>
          <a:p>
            <a:pPr marL="0" indent="0">
              <a:buNone/>
              <a:defRPr/>
            </a:pPr>
            <a:r>
              <a:rPr lang="ru-RU" b="1"/>
              <a:t>Почему это критично в React:</a:t>
            </a:r>
            <a:endParaRPr/>
          </a:p>
          <a:p>
            <a:pPr>
              <a:defRPr/>
            </a:pPr>
            <a:r>
              <a:rPr lang="ru-RU"/>
              <a:t> состояние нельзя менять напрямую (мутировать).</a:t>
            </a:r>
            <a:endParaRPr/>
          </a:p>
          <a:p>
            <a:pPr>
              <a:defRPr/>
            </a:pPr>
            <a:r>
              <a:rPr lang="ru-RU"/>
              <a:t> </a:t>
            </a:r>
            <a:r>
              <a:rPr lang="ru-RU"/>
              <a:t>Spread</a:t>
            </a:r>
            <a:r>
              <a:rPr lang="ru-RU"/>
              <a:t> позволяет создать новый объект с нужными изменениями, сохранив при этом все остальные данные.</a:t>
            </a:r>
            <a:endParaRPr/>
          </a:p>
          <a:p>
            <a:pPr marL="0" indent="0">
              <a:buNone/>
              <a:defRPr/>
            </a:pPr>
            <a:r>
              <a:rPr lang="ru-RU"/>
              <a:t> </a:t>
            </a:r>
            <a:r>
              <a:rPr lang="ru-RU" sz="2900" b="1">
                <a:solidFill>
                  <a:srgbClr val="FF0000"/>
                </a:solidFill>
              </a:rPr>
              <a:t>Именно поэтому в </a:t>
            </a:r>
            <a:r>
              <a:rPr lang="ru-RU" sz="2900" b="1">
                <a:solidFill>
                  <a:srgbClr val="FF0000"/>
                </a:solidFill>
              </a:rPr>
              <a:t>setFormData</a:t>
            </a:r>
            <a:r>
              <a:rPr lang="ru-RU" sz="2900" b="1">
                <a:solidFill>
                  <a:srgbClr val="FF0000"/>
                </a:solidFill>
              </a:rPr>
              <a:t> используют паттерн </a:t>
            </a:r>
            <a:r>
              <a:rPr lang="ru-RU" sz="2900" b="1">
                <a:solidFill>
                  <a:srgbClr val="FF0000"/>
                </a:solidFill>
              </a:rPr>
              <a:t>prev</a:t>
            </a:r>
            <a:r>
              <a:rPr lang="ru-RU" sz="2900" b="1">
                <a:solidFill>
                  <a:srgbClr val="FF0000"/>
                </a:solidFill>
              </a:rPr>
              <a:t> =&gt; ({ ...</a:t>
            </a:r>
            <a:r>
              <a:rPr lang="ru-RU" sz="2900" b="1">
                <a:solidFill>
                  <a:srgbClr val="FF0000"/>
                </a:solidFill>
              </a:rPr>
              <a:t>prev</a:t>
            </a:r>
            <a:r>
              <a:rPr lang="ru-RU" sz="2900" b="1">
                <a:solidFill>
                  <a:srgbClr val="FF0000"/>
                </a:solidFill>
              </a:rPr>
              <a:t>, ... }) — он гарантирует, что мы не потеряем остальные поля формы.</a:t>
            </a:r>
            <a:endParaRPr lang="ru-RU" sz="2900" b="1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456151" y="75242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Проверка ошибок полей 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180013" y="1580754"/>
            <a:ext cx="10791738" cy="484362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  <a:defRPr/>
            </a:pPr>
            <a:r>
              <a:rPr lang="en-US" b="1"/>
              <a:t> {/* </a:t>
            </a:r>
            <a:r>
              <a:rPr lang="ru-RU" b="1"/>
              <a:t>Поле</a:t>
            </a:r>
            <a:r>
              <a:rPr lang="en-US" b="1"/>
              <a:t> «Email» */}</a:t>
            </a:r>
            <a:endParaRPr lang="ru-RU" b="1"/>
          </a:p>
          <a:p>
            <a:pPr marL="0" indent="0">
              <a:buNone/>
              <a:defRPr/>
            </a:pPr>
            <a:r>
              <a:rPr lang="en-US"/>
              <a:t>      &lt;div </a:t>
            </a:r>
            <a:r>
              <a:rPr lang="en-US"/>
              <a:t>className</a:t>
            </a:r>
            <a:r>
              <a:rPr lang="en-US"/>
              <a:t>="field"&gt;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      &lt;label </a:t>
            </a:r>
            <a:r>
              <a:rPr lang="en-US"/>
              <a:t>htmlFor</a:t>
            </a:r>
            <a:r>
              <a:rPr lang="en-US"/>
              <a:t>="email" </a:t>
            </a:r>
            <a:r>
              <a:rPr lang="en-US"/>
              <a:t>className</a:t>
            </a:r>
            <a:r>
              <a:rPr lang="en-US"/>
              <a:t>="</a:t>
            </a:r>
            <a:r>
              <a:rPr lang="en-US"/>
              <a:t>field__label</a:t>
            </a:r>
            <a:r>
              <a:rPr lang="en-US"/>
              <a:t>"&gt;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        Email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      &lt;/label&gt;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      &lt;</a:t>
            </a:r>
            <a:r>
              <a:rPr lang="en-US"/>
              <a:t>input    </a:t>
            </a:r>
            <a:r>
              <a:rPr lang="en-US"/>
              <a:t>id="</a:t>
            </a:r>
            <a:r>
              <a:rPr lang="en-US"/>
              <a:t>email“    </a:t>
            </a:r>
            <a:r>
              <a:rPr lang="en-US"/>
              <a:t>type="</a:t>
            </a:r>
            <a:r>
              <a:rPr lang="en-US"/>
              <a:t>email“  </a:t>
            </a:r>
            <a:r>
              <a:rPr lang="en-US"/>
              <a:t>className</a:t>
            </a:r>
            <a:r>
              <a:rPr lang="en-US"/>
              <a:t>="</a:t>
            </a:r>
            <a:r>
              <a:rPr lang="en-US"/>
              <a:t>field__input</a:t>
            </a:r>
            <a:r>
              <a:rPr lang="en-US"/>
              <a:t>"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        value={email}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        </a:t>
            </a:r>
            <a:r>
              <a:rPr lang="en-US"/>
              <a:t>onChange</a:t>
            </a:r>
            <a:r>
              <a:rPr lang="en-US"/>
              <a:t>={(e) =&gt; </a:t>
            </a:r>
            <a:r>
              <a:rPr lang="en-US"/>
              <a:t>setEmail</a:t>
            </a:r>
            <a:r>
              <a:rPr lang="en-US"/>
              <a:t>(</a:t>
            </a:r>
            <a:r>
              <a:rPr lang="en-US"/>
              <a:t>e.target.value</a:t>
            </a:r>
            <a:r>
              <a:rPr lang="en-US"/>
              <a:t>)}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        </a:t>
            </a:r>
            <a:r>
              <a:rPr lang="en-US"/>
              <a:t>onBlur</a:t>
            </a:r>
            <a:r>
              <a:rPr lang="en-US"/>
              <a:t>={() =&gt; </a:t>
            </a:r>
            <a:r>
              <a:rPr lang="en-US"/>
              <a:t>setTouched</a:t>
            </a:r>
            <a:r>
              <a:rPr lang="en-US"/>
              <a:t>((</a:t>
            </a:r>
            <a:r>
              <a:rPr lang="en-US"/>
              <a:t>prev</a:t>
            </a:r>
            <a:r>
              <a:rPr lang="en-US"/>
              <a:t>) =&gt; ({ ...</a:t>
            </a:r>
            <a:r>
              <a:rPr lang="en-US"/>
              <a:t>prev</a:t>
            </a:r>
            <a:r>
              <a:rPr lang="en-US"/>
              <a:t>, email: true }))}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      /&gt;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      {</a:t>
            </a:r>
            <a:r>
              <a:rPr lang="en-US"/>
              <a:t>touched.email</a:t>
            </a:r>
            <a:r>
              <a:rPr lang="en-US"/>
              <a:t> &amp;&amp; </a:t>
            </a:r>
            <a:r>
              <a:rPr lang="en-US"/>
              <a:t>errors.email</a:t>
            </a:r>
            <a:r>
              <a:rPr lang="en-US"/>
              <a:t> &amp;&amp; (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        &lt;span </a:t>
            </a:r>
            <a:r>
              <a:rPr lang="en-US"/>
              <a:t>className</a:t>
            </a:r>
            <a:r>
              <a:rPr lang="en-US"/>
              <a:t>="</a:t>
            </a:r>
            <a:r>
              <a:rPr lang="en-US"/>
              <a:t>field__error</a:t>
            </a:r>
            <a:r>
              <a:rPr lang="en-US"/>
              <a:t>"&gt;{</a:t>
            </a:r>
            <a:r>
              <a:rPr lang="en-US"/>
              <a:t>errors.email</a:t>
            </a:r>
            <a:r>
              <a:rPr lang="en-US"/>
              <a:t>}&lt;/span&gt;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      </a:t>
            </a:r>
            <a:r>
              <a:rPr lang="ru-RU"/>
              <a:t>)}</a:t>
            </a:r>
            <a:endParaRPr/>
          </a:p>
          <a:p>
            <a:pPr marL="0" indent="0">
              <a:buNone/>
              <a:defRPr/>
            </a:pPr>
            <a:r>
              <a:rPr lang="ru-RU"/>
              <a:t>      &lt;/</a:t>
            </a:r>
            <a:r>
              <a:rPr lang="ru-RU"/>
              <a:t>div</a:t>
            </a:r>
            <a:r>
              <a:rPr lang="ru-RU"/>
              <a:t>&gt;</a:t>
            </a:r>
            <a:endParaRPr/>
          </a:p>
          <a:p>
            <a:pPr marL="0" indent="0">
              <a:buNone/>
              <a:defRPr/>
            </a:pPr>
            <a:r>
              <a:rPr lang="ru-RU"/>
              <a:t> </a:t>
            </a: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6096000" y="1690688"/>
            <a:ext cx="5872293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b="1"/>
              <a:t> </a:t>
            </a:r>
            <a:r>
              <a:rPr lang="ru-RU" sz="1600" b="1"/>
              <a:t>{/* Поле «Сообщение» */}</a:t>
            </a:r>
            <a:endParaRPr/>
          </a:p>
          <a:p>
            <a:pPr>
              <a:defRPr/>
            </a:pPr>
            <a:r>
              <a:rPr lang="ru-RU" sz="1600"/>
              <a:t>      &lt;</a:t>
            </a:r>
            <a:r>
              <a:rPr lang="ru-RU" sz="1600"/>
              <a:t>div</a:t>
            </a:r>
            <a:r>
              <a:rPr lang="ru-RU" sz="1600"/>
              <a:t> </a:t>
            </a:r>
            <a:r>
              <a:rPr lang="ru-RU" sz="1600"/>
              <a:t>className</a:t>
            </a:r>
            <a:r>
              <a:rPr lang="ru-RU" sz="1600"/>
              <a:t>="</a:t>
            </a:r>
            <a:r>
              <a:rPr lang="ru-RU" sz="1600"/>
              <a:t>field</a:t>
            </a:r>
            <a:r>
              <a:rPr lang="ru-RU" sz="1600"/>
              <a:t>"&gt;</a:t>
            </a:r>
            <a:endParaRPr/>
          </a:p>
          <a:p>
            <a:pPr>
              <a:defRPr/>
            </a:pPr>
            <a:r>
              <a:rPr lang="ru-RU" sz="1600"/>
              <a:t>        </a:t>
            </a:r>
            <a:r>
              <a:rPr lang="en-US" sz="1600"/>
              <a:t>&lt;label </a:t>
            </a:r>
            <a:r>
              <a:rPr lang="en-US" sz="1600"/>
              <a:t>htmlFor</a:t>
            </a:r>
            <a:r>
              <a:rPr lang="en-US" sz="1600"/>
              <a:t>="message" </a:t>
            </a:r>
            <a:r>
              <a:rPr lang="en-US" sz="1600"/>
              <a:t>className</a:t>
            </a:r>
            <a:r>
              <a:rPr lang="en-US" sz="1600"/>
              <a:t>="</a:t>
            </a:r>
            <a:r>
              <a:rPr lang="en-US" sz="1600"/>
              <a:t>field__label</a:t>
            </a:r>
            <a:r>
              <a:rPr lang="en-US" sz="1600"/>
              <a:t>"&gt;</a:t>
            </a:r>
            <a:endParaRPr lang="ru-RU" sz="1600"/>
          </a:p>
          <a:p>
            <a:pPr>
              <a:defRPr/>
            </a:pPr>
            <a:r>
              <a:rPr lang="en-US" sz="1600"/>
              <a:t>          </a:t>
            </a:r>
            <a:r>
              <a:rPr lang="ru-RU" sz="1600"/>
              <a:t>Сообщение</a:t>
            </a:r>
            <a:endParaRPr/>
          </a:p>
          <a:p>
            <a:pPr>
              <a:defRPr/>
            </a:pPr>
            <a:r>
              <a:rPr lang="en-US" sz="1600"/>
              <a:t>        &lt;/label&gt;</a:t>
            </a:r>
            <a:endParaRPr lang="ru-RU" sz="1600"/>
          </a:p>
          <a:p>
            <a:pPr>
              <a:defRPr/>
            </a:pPr>
            <a:r>
              <a:rPr lang="en-US" sz="1600"/>
              <a:t>        &lt;</a:t>
            </a:r>
            <a:r>
              <a:rPr lang="en-US" sz="1600"/>
              <a:t>textarea</a:t>
            </a:r>
            <a:r>
              <a:rPr lang="en-US" sz="1600"/>
              <a:t>     id="message"</a:t>
            </a:r>
            <a:endParaRPr lang="ru-RU" sz="1600"/>
          </a:p>
          <a:p>
            <a:pPr>
              <a:defRPr/>
            </a:pPr>
            <a:r>
              <a:rPr lang="en-US" sz="1600"/>
              <a:t>          </a:t>
            </a:r>
            <a:r>
              <a:rPr lang="en-US" sz="1600"/>
              <a:t>className</a:t>
            </a:r>
            <a:r>
              <a:rPr lang="en-US" sz="1600"/>
              <a:t>="</a:t>
            </a:r>
            <a:r>
              <a:rPr lang="en-US" sz="1600"/>
              <a:t>field__input</a:t>
            </a:r>
            <a:r>
              <a:rPr lang="en-US" sz="1600"/>
              <a:t> </a:t>
            </a:r>
            <a:r>
              <a:rPr lang="en-US" sz="1600"/>
              <a:t>field__input</a:t>
            </a:r>
            <a:r>
              <a:rPr lang="en-US" sz="1600"/>
              <a:t>--</a:t>
            </a:r>
            <a:r>
              <a:rPr lang="en-US" sz="1600"/>
              <a:t>textarea</a:t>
            </a:r>
            <a:r>
              <a:rPr lang="en-US" sz="1600"/>
              <a:t>"</a:t>
            </a:r>
            <a:endParaRPr lang="ru-RU" sz="1600"/>
          </a:p>
          <a:p>
            <a:pPr>
              <a:defRPr/>
            </a:pPr>
            <a:r>
              <a:rPr lang="en-US" sz="1600"/>
              <a:t>          value={message}</a:t>
            </a:r>
            <a:endParaRPr lang="ru-RU" sz="1600"/>
          </a:p>
          <a:p>
            <a:pPr>
              <a:defRPr/>
            </a:pPr>
            <a:r>
              <a:rPr lang="en-US" sz="1600"/>
              <a:t>          </a:t>
            </a:r>
            <a:r>
              <a:rPr lang="en-US" sz="1600"/>
              <a:t>onChange</a:t>
            </a:r>
            <a:r>
              <a:rPr lang="en-US" sz="1600"/>
              <a:t>={(e) =&gt; </a:t>
            </a:r>
            <a:r>
              <a:rPr lang="en-US" sz="1600"/>
              <a:t>setMessage</a:t>
            </a:r>
            <a:r>
              <a:rPr lang="en-US" sz="1600"/>
              <a:t>(</a:t>
            </a:r>
            <a:r>
              <a:rPr lang="en-US" sz="1600"/>
              <a:t>e.target.value</a:t>
            </a:r>
            <a:r>
              <a:rPr lang="en-US" sz="1600"/>
              <a:t>)}</a:t>
            </a:r>
            <a:endParaRPr lang="ru-RU" sz="1600"/>
          </a:p>
          <a:p>
            <a:pPr>
              <a:defRPr/>
            </a:pPr>
            <a:r>
              <a:rPr lang="en-US" sz="1600"/>
              <a:t>          </a:t>
            </a:r>
            <a:r>
              <a:rPr lang="en-US" sz="1600"/>
              <a:t>onBlur</a:t>
            </a:r>
            <a:r>
              <a:rPr lang="en-US" sz="1600"/>
              <a:t>={() =&gt; </a:t>
            </a:r>
            <a:r>
              <a:rPr lang="en-US" sz="1600"/>
              <a:t>setTouched</a:t>
            </a:r>
            <a:r>
              <a:rPr lang="en-US" sz="1600"/>
              <a:t>((</a:t>
            </a:r>
            <a:r>
              <a:rPr lang="en-US" sz="1600"/>
              <a:t>prev</a:t>
            </a:r>
            <a:r>
              <a:rPr lang="en-US" sz="1600"/>
              <a:t>) =&gt; ({ ...</a:t>
            </a:r>
            <a:r>
              <a:rPr lang="en-US" sz="1600"/>
              <a:t>prev</a:t>
            </a:r>
            <a:r>
              <a:rPr lang="en-US" sz="1600"/>
              <a:t>, message: true }))}</a:t>
            </a:r>
            <a:endParaRPr lang="ru-RU" sz="1600"/>
          </a:p>
          <a:p>
            <a:pPr>
              <a:defRPr/>
            </a:pPr>
            <a:r>
              <a:rPr lang="en-US" sz="1600"/>
              <a:t>          rows={5}</a:t>
            </a:r>
            <a:endParaRPr lang="ru-RU" sz="1600"/>
          </a:p>
          <a:p>
            <a:pPr>
              <a:defRPr/>
            </a:pPr>
            <a:r>
              <a:rPr lang="en-US" sz="1600"/>
              <a:t>        /&gt;</a:t>
            </a:r>
            <a:endParaRPr lang="ru-RU" sz="1600"/>
          </a:p>
          <a:p>
            <a:pPr>
              <a:defRPr/>
            </a:pPr>
            <a:r>
              <a:rPr lang="en-US" sz="1600"/>
              <a:t>        {</a:t>
            </a:r>
            <a:r>
              <a:rPr lang="en-US" sz="1600"/>
              <a:t>touched.message</a:t>
            </a:r>
            <a:r>
              <a:rPr lang="en-US" sz="1600"/>
              <a:t> &amp;&amp; </a:t>
            </a:r>
            <a:r>
              <a:rPr lang="en-US" sz="1600"/>
              <a:t>errors.message</a:t>
            </a:r>
            <a:r>
              <a:rPr lang="en-US" sz="1600"/>
              <a:t> &amp;&amp; (</a:t>
            </a:r>
            <a:endParaRPr lang="ru-RU" sz="1600"/>
          </a:p>
          <a:p>
            <a:pPr>
              <a:defRPr/>
            </a:pPr>
            <a:r>
              <a:rPr lang="en-US" sz="1600"/>
              <a:t>          &lt;span </a:t>
            </a:r>
            <a:r>
              <a:rPr lang="en-US" sz="1600"/>
              <a:t>className</a:t>
            </a:r>
            <a:r>
              <a:rPr lang="en-US" sz="1600"/>
              <a:t>="</a:t>
            </a:r>
            <a:r>
              <a:rPr lang="en-US" sz="1600"/>
              <a:t>field__error</a:t>
            </a:r>
            <a:r>
              <a:rPr lang="en-US" sz="1600"/>
              <a:t>"&gt;{</a:t>
            </a:r>
            <a:r>
              <a:rPr lang="en-US" sz="1600"/>
              <a:t>errors.message</a:t>
            </a:r>
            <a:r>
              <a:rPr lang="en-US" sz="1600"/>
              <a:t>}&lt;/span&gt;</a:t>
            </a:r>
            <a:endParaRPr lang="ru-RU" sz="1600"/>
          </a:p>
          <a:p>
            <a:pPr>
              <a:defRPr/>
            </a:pPr>
            <a:r>
              <a:rPr lang="en-US" sz="1600"/>
              <a:t>        )}</a:t>
            </a:r>
            <a:endParaRPr lang="ru-RU" sz="1600"/>
          </a:p>
          <a:p>
            <a:pPr>
              <a:defRPr/>
            </a:pPr>
            <a:r>
              <a:rPr lang="en-US" sz="1600"/>
              <a:t>      &lt;/div&gt;</a:t>
            </a:r>
            <a:endParaRPr lang="ru-RU" sz="1600"/>
          </a:p>
        </p:txBody>
      </p:sp>
      <p:cxnSp>
        <p:nvCxnSpPr>
          <p:cNvPr id="6" name="Соединительная линия уступом 5"/>
          <p:cNvCxnSpPr>
            <a:cxnSpLocks/>
          </p:cNvCxnSpPr>
          <p:nvPr/>
        </p:nvCxnSpPr>
        <p:spPr bwMode="auto">
          <a:xfrm rot="5400000" flipH="1" flipV="1">
            <a:off x="3398940" y="3482448"/>
            <a:ext cx="4353885" cy="10402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Отправить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77500" lnSpcReduction="20000"/>
          </a:bodyPr>
          <a:lstStyle/>
          <a:p>
            <a:pPr marL="0" indent="0">
              <a:buNone/>
              <a:defRPr/>
            </a:pPr>
            <a:r>
              <a:rPr lang="en-US"/>
              <a:t> &lt;button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      type="submit"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      </a:t>
            </a:r>
            <a:r>
              <a:rPr lang="en-US"/>
              <a:t>className</a:t>
            </a:r>
            <a:r>
              <a:rPr lang="en-US"/>
              <a:t>="feedback-</a:t>
            </a:r>
            <a:r>
              <a:rPr lang="en-US"/>
              <a:t>form__submit</a:t>
            </a:r>
            <a:r>
              <a:rPr lang="en-US"/>
              <a:t>"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      disabled={</a:t>
            </a:r>
            <a:r>
              <a:rPr lang="en-US"/>
              <a:t>isSubmitting</a:t>
            </a:r>
            <a:r>
              <a:rPr lang="en-US"/>
              <a:t>}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    &gt;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      {</a:t>
            </a:r>
            <a:r>
              <a:rPr lang="en-US"/>
              <a:t>isSubmitting</a:t>
            </a:r>
            <a:r>
              <a:rPr lang="en-US"/>
              <a:t> ? "</a:t>
            </a:r>
            <a:r>
              <a:rPr lang="ru-RU"/>
              <a:t>Отправка</a:t>
            </a:r>
            <a:r>
              <a:rPr lang="en-US"/>
              <a:t>…" : "</a:t>
            </a:r>
            <a:r>
              <a:rPr lang="ru-RU"/>
              <a:t>Отправить</a:t>
            </a:r>
            <a:r>
              <a:rPr lang="en-US"/>
              <a:t>"}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    &lt;/button&gt;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  &lt;/form&gt;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);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}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 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export default </a:t>
            </a:r>
            <a:r>
              <a:rPr lang="en-US"/>
              <a:t>FeedbackForm</a:t>
            </a:r>
            <a:r>
              <a:rPr lang="en-US"/>
              <a:t>;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Что здесь происходит:</a:t>
            </a:r>
            <a:br>
              <a:rPr lang="ru-RU"/>
            </a:b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838200" y="159216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/>
              <a:t> </a:t>
            </a:r>
            <a:endParaRPr/>
          </a:p>
          <a:p>
            <a:pPr marL="0" indent="0">
              <a:buNone/>
              <a:defRPr/>
            </a:pPr>
            <a:r>
              <a:rPr lang="ru-RU"/>
              <a:t>Каждое поле связано с отдельным состоянием через </a:t>
            </a:r>
            <a:r>
              <a:rPr lang="ru-RU"/>
              <a:t>value</a:t>
            </a:r>
            <a:r>
              <a:rPr lang="ru-RU"/>
              <a:t> и </a:t>
            </a:r>
            <a:r>
              <a:rPr lang="ru-RU"/>
              <a:t>onChange</a:t>
            </a:r>
            <a:r>
              <a:rPr lang="ru-RU"/>
              <a:t>.</a:t>
            </a:r>
            <a:endParaRPr/>
          </a:p>
          <a:p>
            <a:pPr marL="0" indent="0">
              <a:buNone/>
              <a:defRPr/>
            </a:pPr>
            <a:r>
              <a:rPr lang="ru-RU"/>
              <a:t>onBlur</a:t>
            </a:r>
            <a:r>
              <a:rPr lang="ru-RU"/>
              <a:t> помечает поле как «тронутое» — мы используем функциональную форму </a:t>
            </a:r>
            <a:r>
              <a:rPr lang="ru-RU"/>
              <a:t>setTouched</a:t>
            </a:r>
            <a:r>
              <a:rPr lang="ru-RU"/>
              <a:t>, чтобы не затереть остальные поля.</a:t>
            </a:r>
            <a:endParaRPr/>
          </a:p>
          <a:p>
            <a:pPr marL="0" indent="0">
              <a:buNone/>
              <a:defRPr/>
            </a:pPr>
            <a:r>
              <a:rPr lang="ru-RU"/>
              <a:t>Ошибка показывается только когда пользователь уже взаимодействовал с полем и </a:t>
            </a:r>
            <a:r>
              <a:rPr lang="ru-RU"/>
              <a:t>валидация</a:t>
            </a:r>
            <a:r>
              <a:rPr lang="ru-RU"/>
              <a:t> нашла проблему.</a:t>
            </a:r>
            <a:endParaRPr/>
          </a:p>
          <a:p>
            <a:pPr marL="0" indent="0">
              <a:buNone/>
              <a:defRPr/>
            </a:pPr>
            <a:r>
              <a:rPr lang="ru-RU"/>
              <a:t>isSubmitting</a:t>
            </a:r>
            <a:r>
              <a:rPr lang="ru-RU"/>
              <a:t> имитирует загрузку и блокирует повторные нажатия.</a:t>
            </a:r>
            <a:endParaRPr/>
          </a:p>
          <a:p>
            <a:pPr marL="0" indent="0">
              <a:buNone/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Шаг 2. Функции </a:t>
            </a:r>
            <a:r>
              <a:rPr lang="ru-RU"/>
              <a:t>валидации</a:t>
            </a:r>
            <a:br>
              <a:rPr lang="ru-RU"/>
            </a:b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713984" y="1186774"/>
            <a:ext cx="10639816" cy="5264130"/>
          </a:xfrm>
        </p:spPr>
        <p:txBody>
          <a:bodyPr>
            <a:normAutofit fontScale="70000" lnSpcReduction="20000"/>
          </a:bodyPr>
          <a:lstStyle/>
          <a:p>
            <a:pPr marL="0" indent="0">
              <a:spcBef>
                <a:spcPts val="600"/>
              </a:spcBef>
              <a:buNone/>
              <a:defRPr/>
            </a:pPr>
            <a:r>
              <a:rPr lang="ru-RU"/>
              <a:t>Добавим </a:t>
            </a:r>
            <a:r>
              <a:rPr lang="ru-RU"/>
              <a:t>функции для проверки каждого поля. Поместите их внутри компонента, перед </a:t>
            </a:r>
            <a:r>
              <a:rPr lang="ru-RU"/>
              <a:t>return</a:t>
            </a:r>
            <a:r>
              <a:rPr lang="ru-RU"/>
              <a:t>.</a:t>
            </a:r>
            <a:endParaRPr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/>
              <a:t>// </a:t>
            </a:r>
            <a:r>
              <a:rPr lang="ru-RU"/>
              <a:t>--- Функции </a:t>
            </a:r>
            <a:r>
              <a:rPr lang="ru-RU"/>
              <a:t>валидации</a:t>
            </a:r>
            <a:r>
              <a:rPr lang="ru-RU"/>
              <a:t> ---</a:t>
            </a:r>
            <a:endParaRPr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 b="1">
                <a:solidFill>
                  <a:srgbClr val="FF0000"/>
                </a:solidFill>
              </a:rPr>
              <a:t>  </a:t>
            </a:r>
            <a:r>
              <a:rPr lang="ru-RU" b="1">
                <a:solidFill>
                  <a:srgbClr val="FF0000"/>
                </a:solidFill>
              </a:rPr>
              <a:t>// Имя: минимум 2 символа, только буквы, пробелы и дефис.</a:t>
            </a:r>
            <a:endParaRPr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/>
              <a:t>  </a:t>
            </a:r>
            <a:r>
              <a:rPr lang="en-US"/>
              <a:t>const</a:t>
            </a:r>
            <a:r>
              <a:rPr lang="en-US"/>
              <a:t> </a:t>
            </a:r>
            <a:r>
              <a:rPr lang="en-US"/>
              <a:t>validateName</a:t>
            </a:r>
            <a:r>
              <a:rPr lang="en-US"/>
              <a:t> = (value) =&gt; {</a:t>
            </a:r>
            <a:endParaRPr lang="ru-RU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/>
              <a:t>    if (!</a:t>
            </a:r>
            <a:r>
              <a:rPr lang="en-US"/>
              <a:t>value.trim</a:t>
            </a:r>
            <a:r>
              <a:rPr lang="en-US"/>
              <a:t>()) return "</a:t>
            </a:r>
            <a:r>
              <a:rPr lang="ru-RU"/>
              <a:t>Имя обязательно для заполнения</a:t>
            </a:r>
            <a:r>
              <a:rPr lang="en-US"/>
              <a:t>";</a:t>
            </a:r>
            <a:endParaRPr lang="ru-RU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/>
              <a:t>    if (</a:t>
            </a:r>
            <a:r>
              <a:rPr lang="en-US"/>
              <a:t>value.trim</a:t>
            </a:r>
            <a:r>
              <a:rPr lang="en-US"/>
              <a:t>().length &lt; 2) return "</a:t>
            </a:r>
            <a:r>
              <a:rPr lang="ru-RU"/>
              <a:t>Минимум</a:t>
            </a:r>
            <a:r>
              <a:rPr lang="en-US"/>
              <a:t> 2 </a:t>
            </a:r>
            <a:r>
              <a:rPr lang="ru-RU"/>
              <a:t>символа</a:t>
            </a:r>
            <a:r>
              <a:rPr lang="en-US"/>
              <a:t>";</a:t>
            </a:r>
            <a:endParaRPr lang="ru-RU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/>
              <a:t>    if (!/^[a-</a:t>
            </a:r>
            <a:r>
              <a:rPr lang="en-US"/>
              <a:t>zA</a:t>
            </a:r>
            <a:r>
              <a:rPr lang="en-US"/>
              <a:t>-Z</a:t>
            </a:r>
            <a:r>
              <a:rPr lang="ru-RU"/>
              <a:t>а</a:t>
            </a:r>
            <a:r>
              <a:rPr lang="en-US"/>
              <a:t>-</a:t>
            </a:r>
            <a:r>
              <a:rPr lang="ru-RU"/>
              <a:t>яА</a:t>
            </a:r>
            <a:r>
              <a:rPr lang="en-US"/>
              <a:t>-</a:t>
            </a:r>
            <a:r>
              <a:rPr lang="ru-RU"/>
              <a:t>ЯёЁ</a:t>
            </a:r>
            <a:r>
              <a:rPr lang="en-US"/>
              <a:t>\s-]+$/.test(</a:t>
            </a:r>
            <a:r>
              <a:rPr lang="en-US"/>
              <a:t>value.trim</a:t>
            </a:r>
            <a:r>
              <a:rPr lang="en-US"/>
              <a:t>()))</a:t>
            </a:r>
            <a:endParaRPr lang="ru-RU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/>
              <a:t>      </a:t>
            </a:r>
            <a:r>
              <a:rPr lang="ru-RU"/>
              <a:t>return</a:t>
            </a:r>
            <a:r>
              <a:rPr lang="ru-RU"/>
              <a:t> "Только буквы, пробелы и дефис";</a:t>
            </a:r>
            <a:endParaRPr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/>
              <a:t>    </a:t>
            </a:r>
            <a:r>
              <a:rPr lang="ru-RU"/>
              <a:t>return</a:t>
            </a:r>
            <a:r>
              <a:rPr lang="ru-RU"/>
              <a:t> </a:t>
            </a:r>
            <a:r>
              <a:rPr lang="ru-RU"/>
              <a:t>null</a:t>
            </a:r>
            <a:r>
              <a:rPr lang="ru-RU"/>
              <a:t>; // нет ошибки</a:t>
            </a:r>
            <a:endParaRPr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/>
              <a:t>  </a:t>
            </a:r>
            <a:r>
              <a:rPr lang="ru-RU"/>
              <a:t>};</a:t>
            </a:r>
            <a:r>
              <a:rPr lang="ru-RU"/>
              <a:t> </a:t>
            </a:r>
            <a:endParaRPr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 b="1">
                <a:solidFill>
                  <a:srgbClr val="FF0000"/>
                </a:solidFill>
              </a:rPr>
              <a:t>  // </a:t>
            </a:r>
            <a:r>
              <a:rPr lang="ru-RU" b="1">
                <a:solidFill>
                  <a:srgbClr val="FF0000"/>
                </a:solidFill>
              </a:rPr>
              <a:t>Email</a:t>
            </a:r>
            <a:r>
              <a:rPr lang="ru-RU" b="1">
                <a:solidFill>
                  <a:srgbClr val="FF0000"/>
                </a:solidFill>
              </a:rPr>
              <a:t>: проверка через регулярное выражение.</a:t>
            </a:r>
            <a:endParaRPr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/>
              <a:t>  </a:t>
            </a:r>
            <a:r>
              <a:rPr lang="en-US"/>
              <a:t>const</a:t>
            </a:r>
            <a:r>
              <a:rPr lang="en-US"/>
              <a:t> </a:t>
            </a:r>
            <a:r>
              <a:rPr lang="en-US"/>
              <a:t>validateEmail</a:t>
            </a:r>
            <a:r>
              <a:rPr lang="en-US"/>
              <a:t> = (value) =&gt; {</a:t>
            </a:r>
            <a:endParaRPr lang="ru-RU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/>
              <a:t>    if (!</a:t>
            </a:r>
            <a:r>
              <a:rPr lang="en-US"/>
              <a:t>value.trim</a:t>
            </a:r>
            <a:r>
              <a:rPr lang="en-US"/>
              <a:t>()) return "Email </a:t>
            </a:r>
            <a:r>
              <a:rPr lang="ru-RU"/>
              <a:t>обязателен для заполнения</a:t>
            </a:r>
            <a:r>
              <a:rPr lang="en-US"/>
              <a:t>";</a:t>
            </a:r>
            <a:endParaRPr lang="ru-RU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/>
              <a:t>    </a:t>
            </a:r>
            <a:r>
              <a:rPr lang="ru-RU"/>
              <a:t>// Простая, но достаточно надёжная проверка формата.</a:t>
            </a:r>
            <a:endParaRPr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/>
              <a:t>    </a:t>
            </a:r>
            <a:r>
              <a:rPr lang="en-US"/>
              <a:t>if (!/^[^\s@]+@[^\s@]+\.[^\s@]+$/.test(</a:t>
            </a:r>
            <a:r>
              <a:rPr lang="en-US"/>
              <a:t>value.trim</a:t>
            </a:r>
            <a:r>
              <a:rPr lang="en-US"/>
              <a:t>()))</a:t>
            </a:r>
            <a:endParaRPr lang="ru-RU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/>
              <a:t>      return "</a:t>
            </a:r>
            <a:r>
              <a:rPr lang="ru-RU"/>
              <a:t>Некорректный формат</a:t>
            </a:r>
            <a:r>
              <a:rPr lang="en-US"/>
              <a:t> email";</a:t>
            </a:r>
            <a:endParaRPr lang="ru-RU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/>
              <a:t>    return null;</a:t>
            </a:r>
            <a:endParaRPr lang="ru-RU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/>
              <a:t>  </a:t>
            </a:r>
            <a:r>
              <a:rPr lang="ru-RU"/>
              <a:t>};</a:t>
            </a:r>
            <a:endParaRPr/>
          </a:p>
          <a:p>
            <a:pPr>
              <a:defRPr/>
            </a:pPr>
            <a:endParaRPr lang="ru-RU"/>
          </a:p>
        </p:txBody>
      </p:sp>
      <p:sp>
        <p:nvSpPr>
          <p:cNvPr id="17409" name="Rectangle 1"/>
          <p:cNvSpPr>
            <a:spLocks noChangeArrowheads="1"/>
          </p:cNvSpPr>
          <p:nvPr/>
        </p:nvSpPr>
        <p:spPr bwMode="auto">
          <a:xfrm>
            <a:off x="8077200" y="1839932"/>
            <a:ext cx="4114800" cy="4443433"/>
          </a:xfrm>
          <a:prstGeom prst="rect">
            <a:avLst/>
          </a:prstGeom>
          <a:solidFill>
            <a:srgbClr val="FCFCFC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142830" rIns="0" bIns="14283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  <a:cs typeface="Arial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lang="ru-RU" sz="1000" b="0" i="0" u="none" strike="noStrike" cap="none">
                <a:ln>
                  <a:noFill/>
                </a:ln>
                <a:solidFill>
                  <a:schemeClr val="tx1"/>
                </a:solidFill>
                <a:latin typeface="Consolas"/>
                <a:cs typeface="Arial"/>
              </a:rPr>
              <a:t>!</a:t>
            </a:r>
            <a:r>
              <a:rPr lang="ru-RU" sz="1200" b="0" i="0" u="none" strike="noStrike" cap="none">
                <a:ln>
                  <a:noFill/>
                </a:ln>
                <a:solidFill>
                  <a:schemeClr val="tx1"/>
                </a:solidFill>
                <a:latin typeface="-apple-system"/>
                <a:cs typeface="Arial"/>
              </a:rPr>
              <a:t> — логическое «НЕ»: результат совпадения инвертируется. В коде это обычно выглядит как </a:t>
            </a:r>
            <a:r>
              <a:rPr lang="ru-RU" sz="1000" b="0" i="0" u="none" strike="noStrike" cap="none">
                <a:ln>
                  <a:noFill/>
                </a:ln>
                <a:solidFill>
                  <a:schemeClr val="tx1"/>
                </a:solidFill>
                <a:latin typeface="Consolas"/>
                <a:cs typeface="Arial"/>
              </a:rPr>
              <a:t>!</a:t>
            </a:r>
            <a:r>
              <a:rPr lang="ru-RU" sz="1000" b="0" i="0" u="none" strike="noStrike" cap="none">
                <a:ln>
                  <a:noFill/>
                </a:ln>
                <a:solidFill>
                  <a:schemeClr val="tx1"/>
                </a:solidFill>
                <a:latin typeface="Consolas"/>
                <a:cs typeface="Arial"/>
              </a:rPr>
              <a:t>regex.test</a:t>
            </a:r>
            <a:r>
              <a:rPr lang="ru-RU" sz="1000" b="0" i="0" u="none" strike="noStrike" cap="none">
                <a:ln>
                  <a:noFill/>
                </a:ln>
                <a:solidFill>
                  <a:schemeClr val="tx1"/>
                </a:solidFill>
                <a:latin typeface="Consolas"/>
                <a:cs typeface="Arial"/>
              </a:rPr>
              <a:t>(</a:t>
            </a:r>
            <a:r>
              <a:rPr lang="ru-RU" sz="1000" b="0" i="0" u="none" strike="noStrike" cap="none">
                <a:ln>
                  <a:noFill/>
                </a:ln>
                <a:solidFill>
                  <a:schemeClr val="tx1"/>
                </a:solidFill>
                <a:latin typeface="Consolas"/>
                <a:cs typeface="Arial"/>
              </a:rPr>
              <a:t>email</a:t>
            </a:r>
            <a:r>
              <a:rPr lang="ru-RU" sz="1000" b="0" i="0" u="none" strike="noStrike" cap="none">
                <a:ln>
                  <a:noFill/>
                </a:ln>
                <a:solidFill>
                  <a:schemeClr val="tx1"/>
                </a:solidFill>
                <a:latin typeface="Consolas"/>
                <a:cs typeface="Arial"/>
              </a:rPr>
              <a:t>)</a:t>
            </a:r>
            <a:r>
              <a:rPr lang="ru-RU" sz="1200" b="0" i="0" u="none" strike="noStrike" cap="none">
                <a:ln>
                  <a:noFill/>
                </a:ln>
                <a:solidFill>
                  <a:schemeClr val="tx1"/>
                </a:solidFill>
                <a:latin typeface="-apple-system"/>
                <a:cs typeface="Arial"/>
              </a:rPr>
              <a:t>, то есть «если тест НЕ прошёл — считаем адрес </a:t>
            </a:r>
            <a:r>
              <a:rPr lang="ru-RU" sz="1200" b="0" i="0" u="none" strike="noStrike" cap="none">
                <a:ln>
                  <a:noFill/>
                </a:ln>
                <a:solidFill>
                  <a:schemeClr val="tx1"/>
                </a:solidFill>
                <a:latin typeface="-apple-system"/>
                <a:cs typeface="Arial"/>
              </a:rPr>
              <a:t>невалидным</a:t>
            </a:r>
            <a:r>
              <a:rPr lang="ru-RU" sz="1200" b="0" i="0" u="none" strike="noStrike" cap="none">
                <a:ln>
                  <a:noFill/>
                </a:ln>
                <a:solidFill>
                  <a:schemeClr val="tx1"/>
                </a:solidFill>
                <a:latin typeface="-apple-system"/>
                <a:cs typeface="Arial"/>
              </a:rPr>
              <a:t>».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lang="ru-RU" sz="1000" b="0" i="0" u="none" strike="noStrike" cap="none">
                <a:ln>
                  <a:noFill/>
                </a:ln>
                <a:solidFill>
                  <a:schemeClr val="tx1"/>
                </a:solidFill>
                <a:latin typeface="Consolas"/>
                <a:cs typeface="Arial"/>
              </a:rPr>
              <a:t>/ ... /</a:t>
            </a:r>
            <a:r>
              <a:rPr lang="ru-RU" sz="1200" b="0" i="0" u="none" strike="noStrike" cap="none">
                <a:ln>
                  <a:noFill/>
                </a:ln>
                <a:solidFill>
                  <a:schemeClr val="tx1"/>
                </a:solidFill>
                <a:latin typeface="-apple-system"/>
                <a:cs typeface="Arial"/>
              </a:rPr>
              <a:t> — ограничители регулярного выражения (синтаксис JS).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lang="ru-RU" sz="1000" b="0" i="0" u="none" strike="noStrike" cap="none">
                <a:ln>
                  <a:noFill/>
                </a:ln>
                <a:solidFill>
                  <a:schemeClr val="tx1"/>
                </a:solidFill>
                <a:latin typeface="Consolas"/>
                <a:cs typeface="Arial"/>
              </a:rPr>
              <a:t>^</a:t>
            </a:r>
            <a:r>
              <a:rPr lang="ru-RU" sz="1200" b="0" i="0" u="none" strike="noStrike" cap="none">
                <a:ln>
                  <a:noFill/>
                </a:ln>
                <a:solidFill>
                  <a:schemeClr val="tx1"/>
                </a:solidFill>
                <a:latin typeface="-apple-system"/>
                <a:cs typeface="Arial"/>
              </a:rPr>
              <a:t> — начало строки.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lang="ru-RU" sz="1000" b="0" i="0" u="none" strike="noStrike" cap="none">
                <a:ln>
                  <a:noFill/>
                </a:ln>
                <a:solidFill>
                  <a:schemeClr val="tx1"/>
                </a:solidFill>
                <a:latin typeface="Consolas"/>
                <a:cs typeface="Arial"/>
              </a:rPr>
              <a:t>[</a:t>
            </a:r>
            <a:r>
              <a:rPr lang="ru-RU" sz="1000" b="0" i="0" u="none" strike="noStrike" cap="none">
                <a:ln>
                  <a:noFill/>
                </a:ln>
                <a:solidFill>
                  <a:schemeClr val="tx1"/>
                </a:solidFill>
                <a:latin typeface="Consolas"/>
                <a:cs typeface="Arial"/>
              </a:rPr>
              <a:t>^\s@</a:t>
            </a:r>
            <a:r>
              <a:rPr lang="ru-RU" sz="1000" b="0" i="0" u="none" strike="noStrike" cap="none">
                <a:ln>
                  <a:noFill/>
                </a:ln>
                <a:solidFill>
                  <a:schemeClr val="tx1"/>
                </a:solidFill>
                <a:latin typeface="Consolas"/>
                <a:cs typeface="Arial"/>
              </a:rPr>
              <a:t>]+</a:t>
            </a:r>
            <a:r>
              <a:rPr lang="ru-RU" sz="1200" b="0" i="0" u="none" strike="noStrike" cap="none">
                <a:ln>
                  <a:noFill/>
                </a:ln>
                <a:solidFill>
                  <a:schemeClr val="tx1"/>
                </a:solidFill>
                <a:latin typeface="-apple-system"/>
                <a:cs typeface="Arial"/>
              </a:rPr>
              <a:t> — один или более символов, которые </a:t>
            </a:r>
            <a:r>
              <a:rPr lang="ru-RU" sz="1200" b="1" i="0" u="none" strike="noStrike" cap="none">
                <a:ln>
                  <a:noFill/>
                </a:ln>
                <a:solidFill>
                  <a:schemeClr val="tx1"/>
                </a:solidFill>
                <a:latin typeface="-apple-system"/>
                <a:cs typeface="Arial"/>
              </a:rPr>
              <a:t>не</a:t>
            </a:r>
            <a:r>
              <a:rPr lang="ru-RU" sz="1200" b="0" i="0" u="none" strike="noStrike" cap="none">
                <a:ln>
                  <a:noFill/>
                </a:ln>
                <a:solidFill>
                  <a:schemeClr val="tx1"/>
                </a:solidFill>
                <a:latin typeface="-apple-system"/>
                <a:cs typeface="Arial"/>
              </a:rPr>
              <a:t> являются пробелом (</a:t>
            </a:r>
            <a:r>
              <a:rPr lang="ru-RU" sz="1000" b="0" i="0" u="none" strike="noStrike" cap="none">
                <a:ln>
                  <a:noFill/>
                </a:ln>
                <a:solidFill>
                  <a:schemeClr val="tx1"/>
                </a:solidFill>
                <a:latin typeface="Consolas"/>
                <a:cs typeface="Arial"/>
              </a:rPr>
              <a:t>\</a:t>
            </a:r>
            <a:r>
              <a:rPr lang="ru-RU" sz="1000" b="0" i="0" u="none" strike="noStrike" cap="none">
                <a:ln>
                  <a:noFill/>
                </a:ln>
                <a:solidFill>
                  <a:schemeClr val="tx1"/>
                </a:solidFill>
                <a:latin typeface="Consolas"/>
                <a:cs typeface="Arial"/>
              </a:rPr>
              <a:t>s</a:t>
            </a:r>
            <a:r>
              <a:rPr lang="ru-RU" sz="1200" b="0" i="0" u="none" strike="noStrike" cap="none">
                <a:ln>
                  <a:noFill/>
                </a:ln>
                <a:solidFill>
                  <a:schemeClr val="tx1"/>
                </a:solidFill>
                <a:latin typeface="-apple-system"/>
                <a:cs typeface="Arial"/>
              </a:rPr>
              <a:t>) и не являются </a:t>
            </a:r>
            <a:r>
              <a:rPr lang="ru-RU" sz="1000" b="0" i="0" u="none" strike="noStrike" cap="none">
                <a:ln>
                  <a:noFill/>
                </a:ln>
                <a:solidFill>
                  <a:schemeClr val="tx1"/>
                </a:solidFill>
                <a:latin typeface="Consolas"/>
                <a:cs typeface="Arial"/>
              </a:rPr>
              <a:t>@</a:t>
            </a:r>
            <a:r>
              <a:rPr lang="ru-RU" sz="1200" b="0" i="0" u="none" strike="noStrike" cap="none">
                <a:ln>
                  <a:noFill/>
                </a:ln>
                <a:solidFill>
                  <a:schemeClr val="tx1"/>
                </a:solidFill>
                <a:latin typeface="-apple-system"/>
                <a:cs typeface="Arial"/>
              </a:rPr>
              <a:t>. Это «локальная часть» адреса (до @).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lang="ru-RU" sz="1000" b="0" i="0" u="none" strike="noStrike" cap="none">
                <a:ln>
                  <a:noFill/>
                </a:ln>
                <a:solidFill>
                  <a:schemeClr val="tx1"/>
                </a:solidFill>
                <a:latin typeface="Consolas"/>
                <a:cs typeface="Arial"/>
              </a:rPr>
              <a:t>@</a:t>
            </a:r>
            <a:r>
              <a:rPr lang="ru-RU" sz="1200" b="0" i="0" u="none" strike="noStrike" cap="none">
                <a:ln>
                  <a:noFill/>
                </a:ln>
                <a:solidFill>
                  <a:schemeClr val="tx1"/>
                </a:solidFill>
                <a:latin typeface="-apple-system"/>
                <a:cs typeface="Arial"/>
              </a:rPr>
              <a:t> — обязательный символ «собака».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lang="ru-RU" sz="1000" b="0" i="0" u="none" strike="noStrike" cap="none">
                <a:ln>
                  <a:noFill/>
                </a:ln>
                <a:solidFill>
                  <a:schemeClr val="tx1"/>
                </a:solidFill>
                <a:latin typeface="Consolas"/>
                <a:cs typeface="Arial"/>
              </a:rPr>
              <a:t>[</a:t>
            </a:r>
            <a:r>
              <a:rPr lang="ru-RU" sz="1000" b="0" i="0" u="none" strike="noStrike" cap="none">
                <a:ln>
                  <a:noFill/>
                </a:ln>
                <a:solidFill>
                  <a:schemeClr val="tx1"/>
                </a:solidFill>
                <a:latin typeface="Consolas"/>
                <a:cs typeface="Arial"/>
              </a:rPr>
              <a:t>^\s@</a:t>
            </a:r>
            <a:r>
              <a:rPr lang="ru-RU" sz="1000" b="0" i="0" u="none" strike="noStrike" cap="none">
                <a:ln>
                  <a:noFill/>
                </a:ln>
                <a:solidFill>
                  <a:schemeClr val="tx1"/>
                </a:solidFill>
                <a:latin typeface="Consolas"/>
                <a:cs typeface="Arial"/>
              </a:rPr>
              <a:t>]+</a:t>
            </a:r>
            <a:r>
              <a:rPr lang="ru-RU" sz="1200" b="0" i="0" u="none" strike="noStrike" cap="none">
                <a:ln>
                  <a:noFill/>
                </a:ln>
                <a:solidFill>
                  <a:schemeClr val="tx1"/>
                </a:solidFill>
                <a:latin typeface="-apple-system"/>
                <a:cs typeface="Arial"/>
              </a:rPr>
              <a:t> — снова один или более символов, не являющихся пробелом и </a:t>
            </a:r>
            <a:r>
              <a:rPr lang="ru-RU" sz="1000" b="0" i="0" u="none" strike="noStrike" cap="none">
                <a:ln>
                  <a:noFill/>
                </a:ln>
                <a:solidFill>
                  <a:schemeClr val="tx1"/>
                </a:solidFill>
                <a:latin typeface="Consolas"/>
                <a:cs typeface="Arial"/>
              </a:rPr>
              <a:t>@</a:t>
            </a:r>
            <a:r>
              <a:rPr lang="ru-RU" sz="1200" b="0" i="0" u="none" strike="noStrike" cap="none">
                <a:ln>
                  <a:noFill/>
                </a:ln>
                <a:solidFill>
                  <a:schemeClr val="tx1"/>
                </a:solidFill>
                <a:latin typeface="-apple-system"/>
                <a:cs typeface="Arial"/>
              </a:rPr>
              <a:t> (доменная часть до точки).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lang="ru-RU" sz="1000" b="0" i="0" u="none" strike="noStrike" cap="none">
                <a:ln>
                  <a:noFill/>
                </a:ln>
                <a:solidFill>
                  <a:schemeClr val="tx1"/>
                </a:solidFill>
                <a:latin typeface="Consolas"/>
                <a:cs typeface="Arial"/>
              </a:rPr>
              <a:t>\.</a:t>
            </a:r>
            <a:r>
              <a:rPr lang="ru-RU" sz="1200" b="0" i="0" u="none" strike="noStrike" cap="none">
                <a:ln>
                  <a:noFill/>
                </a:ln>
                <a:solidFill>
                  <a:schemeClr val="tx1"/>
                </a:solidFill>
                <a:latin typeface="-apple-system"/>
                <a:cs typeface="Arial"/>
              </a:rPr>
              <a:t> — экранированная точка (разделитель домена и зоны).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lang="ru-RU" sz="1000" b="0" i="0" u="none" strike="noStrike" cap="none">
                <a:ln>
                  <a:noFill/>
                </a:ln>
                <a:solidFill>
                  <a:schemeClr val="tx1"/>
                </a:solidFill>
                <a:latin typeface="Consolas"/>
                <a:cs typeface="Arial"/>
              </a:rPr>
              <a:t>[</a:t>
            </a:r>
            <a:r>
              <a:rPr lang="ru-RU" sz="1000" b="0" i="0" u="none" strike="noStrike" cap="none">
                <a:ln>
                  <a:noFill/>
                </a:ln>
                <a:solidFill>
                  <a:schemeClr val="tx1"/>
                </a:solidFill>
                <a:latin typeface="Consolas"/>
                <a:cs typeface="Arial"/>
              </a:rPr>
              <a:t>^\s@</a:t>
            </a:r>
            <a:r>
              <a:rPr lang="ru-RU" sz="1000" b="0" i="0" u="none" strike="noStrike" cap="none">
                <a:ln>
                  <a:noFill/>
                </a:ln>
                <a:solidFill>
                  <a:schemeClr val="tx1"/>
                </a:solidFill>
                <a:latin typeface="Consolas"/>
                <a:cs typeface="Arial"/>
              </a:rPr>
              <a:t>]+</a:t>
            </a:r>
            <a:r>
              <a:rPr lang="ru-RU" sz="1200" b="0" i="0" u="none" strike="noStrike" cap="none">
                <a:ln>
                  <a:noFill/>
                </a:ln>
                <a:solidFill>
                  <a:schemeClr val="tx1"/>
                </a:solidFill>
                <a:latin typeface="-apple-system"/>
                <a:cs typeface="Arial"/>
              </a:rPr>
              <a:t> — один или более символов после точки (доменная зона).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71463" algn="l"/>
              </a:tabLst>
              <a:defRPr/>
            </a:pPr>
            <a:r>
              <a:rPr lang="ru-RU" sz="1000" b="0" i="0" u="none" strike="noStrike" cap="none">
                <a:ln>
                  <a:noFill/>
                </a:ln>
                <a:solidFill>
                  <a:schemeClr val="tx1"/>
                </a:solidFill>
                <a:latin typeface="Consolas"/>
                <a:cs typeface="Arial"/>
              </a:rPr>
              <a:t>\$</a:t>
            </a:r>
            <a:r>
              <a:rPr lang="ru-RU" sz="1200" b="0" i="0" u="none" strike="noStrike" cap="none">
                <a:ln>
                  <a:noFill/>
                </a:ln>
                <a:solidFill>
                  <a:schemeClr val="tx1"/>
                </a:solidFill>
                <a:latin typeface="-apple-system"/>
                <a:cs typeface="Arial"/>
              </a:rPr>
              <a:t> — конец строки.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200" b="0" i="0" u="none" strike="noStrike" cap="none">
                <a:ln>
                  <a:noFill/>
                </a:ln>
                <a:solidFill>
                  <a:schemeClr val="tx1"/>
                </a:solidFill>
                <a:latin typeface="-apple-system"/>
                <a:cs typeface="Arial"/>
              </a:rPr>
              <a:t>Итого шаблон требует структуру: </a:t>
            </a:r>
            <a:r>
              <a:rPr lang="ru-RU" sz="1000" b="0" i="0" u="none" strike="noStrike" cap="none">
                <a:ln>
                  <a:noFill/>
                </a:ln>
                <a:solidFill>
                  <a:schemeClr val="tx1"/>
                </a:solidFill>
                <a:latin typeface="Consolas"/>
                <a:cs typeface="Arial"/>
              </a:rPr>
              <a:t>локальная_часть@домен.зона</a:t>
            </a:r>
            <a:r>
              <a:rPr lang="ru-RU" sz="1200" b="0" i="0" u="none" strike="noStrike" cap="none">
                <a:ln>
                  <a:noFill/>
                </a:ln>
                <a:solidFill>
                  <a:schemeClr val="tx1"/>
                </a:solidFill>
                <a:latin typeface="-apple-system"/>
                <a:cs typeface="Arial"/>
              </a:rPr>
              <a:t>, где ни в одной части нет пробелов и лишних </a:t>
            </a:r>
            <a:r>
              <a:rPr lang="ru-RU" sz="1000" b="0" i="0" u="none" strike="noStrike" cap="none">
                <a:ln>
                  <a:noFill/>
                </a:ln>
                <a:solidFill>
                  <a:schemeClr val="tx1"/>
                </a:solidFill>
                <a:latin typeface="Consolas"/>
                <a:cs typeface="Arial"/>
              </a:rPr>
              <a:t>@</a:t>
            </a:r>
            <a:r>
              <a:rPr lang="ru-RU" sz="1200" b="0" i="0" u="none" strike="noStrike" cap="none">
                <a:ln>
                  <a:noFill/>
                </a:ln>
                <a:solidFill>
                  <a:schemeClr val="tx1"/>
                </a:solidFill>
                <a:latin typeface="-apple-system"/>
                <a:cs typeface="Arial"/>
              </a:rPr>
              <a:t>.</a:t>
            </a: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// Сообщение: минимум 10 символов.</a:t>
            </a:r>
            <a:br>
              <a:rPr lang="ru-RU"/>
            </a:b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62500" lnSpcReduction="20000"/>
          </a:bodyPr>
          <a:lstStyle/>
          <a:p>
            <a:pPr marL="0" indent="0">
              <a:buNone/>
              <a:defRPr/>
            </a:pPr>
            <a:r>
              <a:rPr lang="ru-RU"/>
              <a:t>const</a:t>
            </a:r>
            <a:r>
              <a:rPr lang="ru-RU"/>
              <a:t> </a:t>
            </a:r>
            <a:r>
              <a:rPr lang="ru-RU"/>
              <a:t>validateMessage</a:t>
            </a:r>
            <a:r>
              <a:rPr lang="ru-RU"/>
              <a:t> = (</a:t>
            </a:r>
            <a:r>
              <a:rPr lang="ru-RU"/>
              <a:t>value</a:t>
            </a:r>
            <a:r>
              <a:rPr lang="ru-RU"/>
              <a:t>) =&gt; {</a:t>
            </a:r>
            <a:endParaRPr/>
          </a:p>
          <a:p>
            <a:pPr marL="0" indent="0">
              <a:buNone/>
              <a:defRPr/>
            </a:pPr>
            <a:r>
              <a:rPr lang="ru-RU"/>
              <a:t>    </a:t>
            </a:r>
            <a:r>
              <a:rPr lang="ru-RU"/>
              <a:t>if</a:t>
            </a:r>
            <a:r>
              <a:rPr lang="ru-RU"/>
              <a:t> (!</a:t>
            </a:r>
            <a:r>
              <a:rPr lang="ru-RU"/>
              <a:t>value.trim</a:t>
            </a:r>
            <a:r>
              <a:rPr lang="ru-RU"/>
              <a:t>()) </a:t>
            </a:r>
            <a:r>
              <a:rPr lang="ru-RU"/>
              <a:t>return</a:t>
            </a:r>
            <a:r>
              <a:rPr lang="ru-RU"/>
              <a:t> "Сообщение обязательно для заполнения";</a:t>
            </a:r>
            <a:endParaRPr/>
          </a:p>
          <a:p>
            <a:pPr marL="0" indent="0">
              <a:buNone/>
              <a:defRPr/>
            </a:pPr>
            <a:r>
              <a:rPr lang="ru-RU"/>
              <a:t>    </a:t>
            </a:r>
            <a:r>
              <a:rPr lang="en-US"/>
              <a:t>if (</a:t>
            </a:r>
            <a:r>
              <a:rPr lang="en-US"/>
              <a:t>value.trim</a:t>
            </a:r>
            <a:r>
              <a:rPr lang="en-US"/>
              <a:t>().length &lt; 10)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    return "</a:t>
            </a:r>
            <a:r>
              <a:rPr lang="ru-RU"/>
              <a:t>Минимум</a:t>
            </a:r>
            <a:r>
              <a:rPr lang="en-US"/>
              <a:t> 10 </a:t>
            </a:r>
            <a:r>
              <a:rPr lang="ru-RU"/>
              <a:t>символов</a:t>
            </a:r>
            <a:r>
              <a:rPr lang="en-US"/>
              <a:t>";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  </a:t>
            </a:r>
            <a:r>
              <a:rPr lang="ru-RU"/>
              <a:t>return</a:t>
            </a:r>
            <a:r>
              <a:rPr lang="ru-RU"/>
              <a:t> </a:t>
            </a:r>
            <a:r>
              <a:rPr lang="ru-RU"/>
              <a:t>null</a:t>
            </a:r>
            <a:r>
              <a:rPr lang="ru-RU"/>
              <a:t>;</a:t>
            </a:r>
            <a:endParaRPr/>
          </a:p>
          <a:p>
            <a:pPr marL="0" indent="0">
              <a:buNone/>
              <a:defRPr/>
            </a:pPr>
            <a:r>
              <a:rPr lang="ru-RU"/>
              <a:t>  };</a:t>
            </a:r>
            <a:endParaRPr/>
          </a:p>
          <a:p>
            <a:pPr marL="0" indent="0">
              <a:buNone/>
              <a:defRPr/>
            </a:pPr>
            <a:r>
              <a:rPr lang="ru-RU"/>
              <a:t> </a:t>
            </a:r>
            <a:endParaRPr/>
          </a:p>
          <a:p>
            <a:pPr marL="0" indent="0">
              <a:buNone/>
              <a:defRPr/>
            </a:pPr>
            <a:r>
              <a:rPr lang="ru-RU"/>
              <a:t>  // Универсальный объект </a:t>
            </a:r>
            <a:r>
              <a:rPr lang="ru-RU"/>
              <a:t>валидаторов</a:t>
            </a:r>
            <a:r>
              <a:rPr lang="ru-RU"/>
              <a:t> — удобно перебирать в цикле.</a:t>
            </a:r>
            <a:endParaRPr/>
          </a:p>
          <a:p>
            <a:pPr marL="0" indent="0">
              <a:buNone/>
              <a:defRPr/>
            </a:pPr>
            <a:r>
              <a:rPr lang="ru-RU"/>
              <a:t>  </a:t>
            </a:r>
            <a:r>
              <a:rPr lang="en-US">
                <a:solidFill>
                  <a:srgbClr val="FF0000"/>
                </a:solidFill>
              </a:rPr>
              <a:t>const</a:t>
            </a:r>
            <a:r>
              <a:rPr lang="en-US">
                <a:solidFill>
                  <a:srgbClr val="FF0000"/>
                </a:solidFill>
              </a:rPr>
              <a:t> validators = </a:t>
            </a:r>
            <a:r>
              <a:rPr lang="en-US"/>
              <a:t>{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  name: </a:t>
            </a:r>
            <a:r>
              <a:rPr lang="en-US"/>
              <a:t>validateName</a:t>
            </a:r>
            <a:r>
              <a:rPr lang="en-US"/>
              <a:t>,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  email: </a:t>
            </a:r>
            <a:r>
              <a:rPr lang="en-US"/>
              <a:t>validateEmail</a:t>
            </a:r>
            <a:r>
              <a:rPr lang="en-US"/>
              <a:t>,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  message: </a:t>
            </a:r>
            <a:r>
              <a:rPr lang="en-US"/>
              <a:t>validateMessage</a:t>
            </a:r>
            <a:r>
              <a:rPr lang="en-US"/>
              <a:t>,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};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/>
              <a:t>Шаг</a:t>
            </a:r>
            <a:r>
              <a:rPr lang="en-US"/>
              <a:t> 3. </a:t>
            </a:r>
            <a:r>
              <a:rPr lang="ru-RU"/>
              <a:t>Обработчик изменения полей</a:t>
            </a:r>
            <a:r>
              <a:rPr lang="en-US"/>
              <a:t> (live-</a:t>
            </a:r>
            <a:r>
              <a:rPr lang="ru-RU"/>
              <a:t>валидация</a:t>
            </a:r>
            <a:r>
              <a:rPr lang="en-US"/>
              <a:t>)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300625" y="1690688"/>
            <a:ext cx="6207179" cy="5167312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  <a:defRPr/>
            </a:pPr>
            <a:r>
              <a:rPr lang="ru-RU" sz="1600"/>
              <a:t>Теперь </a:t>
            </a:r>
            <a:r>
              <a:rPr lang="ru-RU" sz="1600"/>
              <a:t>обновим </a:t>
            </a:r>
            <a:r>
              <a:rPr lang="ru-RU" sz="1600"/>
              <a:t>onChange</a:t>
            </a:r>
            <a:r>
              <a:rPr lang="ru-RU" sz="1600"/>
              <a:t> так, чтобы при вводе сразу проверялось значение, но ошибка показывалась только для «тронутых» полей.</a:t>
            </a:r>
            <a:endParaRPr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 sz="1600"/>
              <a:t>// </a:t>
            </a:r>
            <a:r>
              <a:rPr lang="ru-RU" sz="1600"/>
              <a:t>Обработчик изменения поля.</a:t>
            </a:r>
            <a:endParaRPr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 sz="1600"/>
              <a:t>  // Принимает имя поля и новое значение, проверяет и обновляет состояние.</a:t>
            </a:r>
            <a:endParaRPr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 sz="1600"/>
              <a:t>  </a:t>
            </a:r>
            <a:r>
              <a:rPr lang="ru-RU" sz="1600"/>
              <a:t>const</a:t>
            </a:r>
            <a:r>
              <a:rPr lang="ru-RU" sz="1600"/>
              <a:t> </a:t>
            </a:r>
            <a:r>
              <a:rPr lang="ru-RU" sz="1600"/>
              <a:t>handleChange</a:t>
            </a:r>
            <a:r>
              <a:rPr lang="ru-RU" sz="1600"/>
              <a:t> = (</a:t>
            </a:r>
            <a:r>
              <a:rPr lang="ru-RU" sz="1600"/>
              <a:t>field</a:t>
            </a:r>
            <a:r>
              <a:rPr lang="ru-RU" sz="1600"/>
              <a:t>, </a:t>
            </a:r>
            <a:r>
              <a:rPr lang="ru-RU" sz="1600"/>
              <a:t>value</a:t>
            </a:r>
            <a:r>
              <a:rPr lang="ru-RU" sz="1600"/>
              <a:t>) =&gt; {</a:t>
            </a:r>
            <a:endParaRPr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 sz="1600"/>
              <a:t>    // Обновляем значение соответствующего поля через </a:t>
            </a:r>
            <a:r>
              <a:rPr lang="ru-RU" sz="1600"/>
              <a:t>switch</a:t>
            </a:r>
            <a:r>
              <a:rPr lang="ru-RU" sz="1600"/>
              <a:t>.</a:t>
            </a:r>
            <a:endParaRPr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 sz="1600"/>
              <a:t>    </a:t>
            </a:r>
            <a:r>
              <a:rPr lang="en-US" sz="1600"/>
              <a:t>switch (field) {</a:t>
            </a:r>
            <a:endParaRPr lang="ru-RU" sz="1600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 sz="1600"/>
              <a:t>      case "name":</a:t>
            </a:r>
            <a:endParaRPr lang="ru-RU" sz="1600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 sz="1600"/>
              <a:t>        </a:t>
            </a:r>
            <a:r>
              <a:rPr lang="en-US" sz="1600"/>
              <a:t>setName</a:t>
            </a:r>
            <a:r>
              <a:rPr lang="en-US" sz="1600"/>
              <a:t>(value);</a:t>
            </a:r>
            <a:endParaRPr lang="ru-RU" sz="1600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 sz="1600"/>
              <a:t>        break;</a:t>
            </a:r>
            <a:endParaRPr lang="ru-RU" sz="1600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 sz="1600"/>
              <a:t>      case "email":</a:t>
            </a:r>
            <a:endParaRPr lang="ru-RU" sz="1600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 sz="1600"/>
              <a:t>        </a:t>
            </a:r>
            <a:r>
              <a:rPr lang="en-US" sz="1600"/>
              <a:t>setEmail</a:t>
            </a:r>
            <a:r>
              <a:rPr lang="en-US" sz="1600"/>
              <a:t>(value);</a:t>
            </a:r>
            <a:endParaRPr lang="ru-RU" sz="1600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 sz="1600"/>
              <a:t>        break;</a:t>
            </a:r>
            <a:endParaRPr lang="ru-RU" sz="1600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 sz="1600"/>
              <a:t>      case "message":</a:t>
            </a:r>
            <a:endParaRPr lang="ru-RU" sz="1600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 sz="1600"/>
              <a:t>        </a:t>
            </a:r>
            <a:r>
              <a:rPr lang="en-US" sz="1600"/>
              <a:t>setMessage</a:t>
            </a:r>
            <a:r>
              <a:rPr lang="en-US" sz="1600"/>
              <a:t>(value);</a:t>
            </a:r>
            <a:endParaRPr lang="ru-RU" sz="1600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 sz="1600"/>
              <a:t>        </a:t>
            </a:r>
            <a:r>
              <a:rPr lang="ru-RU" sz="1600"/>
              <a:t>break</a:t>
            </a:r>
            <a:r>
              <a:rPr lang="ru-RU" sz="1600"/>
              <a:t>;</a:t>
            </a:r>
            <a:endParaRPr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 sz="1600"/>
              <a:t>      // </a:t>
            </a:r>
            <a:r>
              <a:rPr lang="ru-RU" sz="1600"/>
              <a:t>no</a:t>
            </a:r>
            <a:r>
              <a:rPr lang="ru-RU" sz="1600"/>
              <a:t> </a:t>
            </a:r>
            <a:r>
              <a:rPr lang="ru-RU" sz="1600"/>
              <a:t>default</a:t>
            </a:r>
            <a:r>
              <a:rPr lang="ru-RU" sz="1600"/>
              <a:t>    </a:t>
            </a:r>
            <a:r>
              <a:rPr lang="ru-RU" sz="1600"/>
              <a:t>}</a:t>
            </a:r>
            <a:endParaRPr/>
          </a:p>
          <a:p>
            <a:pPr marL="0" indent="0">
              <a:buNone/>
              <a:defRPr/>
            </a:pPr>
            <a:r>
              <a:rPr lang="ru-RU" sz="1600"/>
              <a:t> </a:t>
            </a: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6760888" y="1572705"/>
            <a:ext cx="4592912" cy="5432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// Если поле уже тронуто — сразу </a:t>
            </a:r>
            <a:r>
              <a:rPr lang="ru-RU"/>
              <a:t>валидируем</a:t>
            </a:r>
            <a:r>
              <a:rPr lang="ru-RU"/>
              <a:t> при наборе.</a:t>
            </a:r>
            <a:endParaRPr/>
          </a:p>
          <a:p>
            <a:pPr>
              <a:defRPr/>
            </a:pPr>
            <a:r>
              <a:rPr lang="ru-RU"/>
              <a:t>    // Если нет — не показываем ошибки, пока пользователь не уйдёт из поля.</a:t>
            </a:r>
            <a:endParaRPr/>
          </a:p>
          <a:p>
            <a:pPr>
              <a:defRPr/>
            </a:pPr>
            <a:r>
              <a:rPr lang="ru-RU"/>
              <a:t>    </a:t>
            </a:r>
            <a:r>
              <a:rPr lang="en-US"/>
              <a:t>if (touched[field]) {</a:t>
            </a:r>
            <a:endParaRPr lang="ru-RU"/>
          </a:p>
          <a:p>
            <a:pPr>
              <a:defRPr/>
            </a:pPr>
            <a:r>
              <a:rPr lang="en-US"/>
              <a:t>      </a:t>
            </a:r>
            <a:r>
              <a:rPr lang="en-US"/>
              <a:t>setErrors</a:t>
            </a:r>
            <a:r>
              <a:rPr lang="en-US"/>
              <a:t>((</a:t>
            </a:r>
            <a:r>
              <a:rPr lang="en-US"/>
              <a:t>prev</a:t>
            </a:r>
            <a:r>
              <a:rPr lang="en-US"/>
              <a:t>) =&gt; ({        ...</a:t>
            </a:r>
            <a:r>
              <a:rPr lang="en-US"/>
              <a:t>prev</a:t>
            </a:r>
            <a:r>
              <a:rPr lang="en-US"/>
              <a:t>,        [field]: </a:t>
            </a:r>
            <a:r>
              <a:rPr lang="en-US">
                <a:solidFill>
                  <a:srgbClr val="FF0000"/>
                </a:solidFill>
              </a:rPr>
              <a:t>validators[field](</a:t>
            </a:r>
            <a:r>
              <a:rPr lang="en-US"/>
              <a:t>value),      }));    }  };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ru-RU"/>
              <a:t>Обновим</a:t>
            </a:r>
            <a:r>
              <a:rPr lang="en-US"/>
              <a:t> </a:t>
            </a:r>
            <a:r>
              <a:rPr lang="en-US"/>
              <a:t>onChange</a:t>
            </a:r>
            <a:r>
              <a:rPr lang="en-US"/>
              <a:t> </a:t>
            </a:r>
            <a:r>
              <a:rPr lang="ru-RU"/>
              <a:t>в</a:t>
            </a:r>
            <a:r>
              <a:rPr lang="en-US"/>
              <a:t> JSX, </a:t>
            </a:r>
            <a:r>
              <a:rPr lang="ru-RU"/>
              <a:t>чтобы использовать</a:t>
            </a:r>
            <a:r>
              <a:rPr lang="en-US"/>
              <a:t> </a:t>
            </a:r>
            <a:r>
              <a:rPr lang="en-US"/>
              <a:t>handleChange</a:t>
            </a:r>
            <a:r>
              <a:rPr lang="en-US"/>
              <a:t>:</a:t>
            </a: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en-US"/>
              <a:t> </a:t>
            </a: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// </a:t>
            </a:r>
            <a:r>
              <a:rPr lang="ru-RU">
                <a:solidFill>
                  <a:schemeClr val="accent6">
                    <a:lumMod val="75000"/>
                  </a:schemeClr>
                </a:solidFill>
              </a:rPr>
              <a:t>Было</a:t>
            </a: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:</a:t>
            </a:r>
            <a:endParaRPr lang="ru-RU">
              <a:solidFill>
                <a:schemeClr val="accent6">
                  <a:lumMod val="75000"/>
                </a:schemeClr>
              </a:solidFill>
            </a:endParaRPr>
          </a:p>
          <a:p>
            <a:pPr>
              <a:defRPr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onChange</a:t>
            </a: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={(e) =&gt; </a:t>
            </a: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setName</a:t>
            </a: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e.target.value</a:t>
            </a: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)}</a:t>
            </a:r>
            <a:endParaRPr lang="ru-RU">
              <a:solidFill>
                <a:schemeClr val="accent6">
                  <a:lumMod val="75000"/>
                </a:schemeClr>
              </a:solidFill>
            </a:endParaRPr>
          </a:p>
          <a:p>
            <a:pPr>
              <a:defRPr/>
            </a:pPr>
            <a:r>
              <a:rPr lang="en-US"/>
              <a:t> // </a:t>
            </a:r>
            <a:r>
              <a:rPr lang="ru-RU"/>
              <a:t>Стало</a:t>
            </a:r>
            <a:r>
              <a:rPr lang="en-US"/>
              <a:t>:</a:t>
            </a:r>
            <a:endParaRPr lang="ru-RU"/>
          </a:p>
          <a:p>
            <a:pPr>
              <a:defRPr/>
            </a:pPr>
            <a:r>
              <a:rPr lang="en-US">
                <a:solidFill>
                  <a:srgbClr val="C00000"/>
                </a:solidFill>
              </a:rPr>
              <a:t>onChange</a:t>
            </a:r>
            <a:r>
              <a:rPr lang="en-US">
                <a:solidFill>
                  <a:srgbClr val="C00000"/>
                </a:solidFill>
              </a:rPr>
              <a:t>={(e) =&gt; </a:t>
            </a:r>
            <a:r>
              <a:rPr lang="en-US">
                <a:solidFill>
                  <a:srgbClr val="C00000"/>
                </a:solidFill>
              </a:rPr>
              <a:t>handleChange</a:t>
            </a:r>
            <a:r>
              <a:rPr lang="en-US">
                <a:solidFill>
                  <a:srgbClr val="C00000"/>
                </a:solidFill>
              </a:rPr>
              <a:t>("name", </a:t>
            </a:r>
            <a:r>
              <a:rPr lang="en-US">
                <a:solidFill>
                  <a:srgbClr val="C00000"/>
                </a:solidFill>
              </a:rPr>
              <a:t>e.target.value</a:t>
            </a:r>
            <a:r>
              <a:rPr lang="en-US">
                <a:solidFill>
                  <a:srgbClr val="C00000"/>
                </a:solidFill>
              </a:rPr>
              <a:t>)}</a:t>
            </a:r>
            <a:endParaRPr lang="ru-RU">
              <a:solidFill>
                <a:srgbClr val="C00000"/>
              </a:solidFill>
            </a:endParaRPr>
          </a:p>
          <a:p>
            <a:pPr>
              <a:defRPr/>
            </a:pPr>
            <a:r>
              <a:rPr lang="ru-RU"/>
              <a:t>Аналогично для </a:t>
            </a:r>
            <a:r>
              <a:rPr lang="ru-RU"/>
              <a:t>email</a:t>
            </a:r>
            <a:r>
              <a:rPr lang="ru-RU"/>
              <a:t> и </a:t>
            </a:r>
            <a:r>
              <a:rPr lang="ru-RU"/>
              <a:t>message</a:t>
            </a:r>
            <a:r>
              <a:rPr lang="ru-RU"/>
              <a:t>.</a:t>
            </a:r>
            <a:endParaRPr/>
          </a:p>
          <a:p>
            <a:pPr>
              <a:defRPr/>
            </a:pPr>
            <a:endParaRPr lang="ru-RU"/>
          </a:p>
          <a:p>
            <a:pPr>
              <a:spcBef>
                <a:spcPts val="600"/>
              </a:spcBef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Шаг 4. Обработчик потери фокуса (</a:t>
            </a:r>
            <a:r>
              <a:rPr lang="ru-RU"/>
              <a:t>blur</a:t>
            </a:r>
            <a:r>
              <a:rPr lang="ru-RU"/>
              <a:t>)</a:t>
            </a:r>
            <a:br>
              <a:rPr lang="ru-RU"/>
            </a:b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211899" y="1349635"/>
            <a:ext cx="5963433" cy="511379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  <a:defRPr/>
            </a:pPr>
            <a:r>
              <a:rPr lang="ru-RU"/>
              <a:t>При </a:t>
            </a:r>
            <a:r>
              <a:rPr lang="ru-RU"/>
              <a:t>выходе из поля помечаем его как тронутое и проводим </a:t>
            </a:r>
            <a:r>
              <a:rPr lang="ru-RU"/>
              <a:t>валидацию</a:t>
            </a:r>
            <a:r>
              <a:rPr lang="ru-RU"/>
              <a:t>.</a:t>
            </a:r>
            <a:endParaRPr/>
          </a:p>
          <a:p>
            <a:pPr marL="0" indent="0">
              <a:buNone/>
              <a:defRPr/>
            </a:pPr>
            <a:r>
              <a:rPr lang="ru-RU"/>
              <a:t>// </a:t>
            </a:r>
            <a:r>
              <a:rPr lang="ru-RU"/>
              <a:t>Обработчик потери фокуса.</a:t>
            </a:r>
            <a:endParaRPr/>
          </a:p>
          <a:p>
            <a:pPr marL="0" indent="0">
              <a:buNone/>
              <a:defRPr/>
            </a:pPr>
            <a:r>
              <a:rPr lang="ru-RU"/>
              <a:t>  </a:t>
            </a:r>
            <a:r>
              <a:rPr lang="ru-RU"/>
              <a:t>const</a:t>
            </a:r>
            <a:r>
              <a:rPr lang="ru-RU"/>
              <a:t> </a:t>
            </a:r>
            <a:r>
              <a:rPr lang="ru-RU">
                <a:solidFill>
                  <a:srgbClr val="C00000"/>
                </a:solidFill>
              </a:rPr>
              <a:t>handleBlur</a:t>
            </a:r>
            <a:r>
              <a:rPr lang="ru-RU"/>
              <a:t> = (</a:t>
            </a:r>
            <a:r>
              <a:rPr lang="ru-RU"/>
              <a:t>field</a:t>
            </a:r>
            <a:r>
              <a:rPr lang="ru-RU"/>
              <a:t>) =&gt; {</a:t>
            </a:r>
            <a:endParaRPr/>
          </a:p>
          <a:p>
            <a:pPr marL="0" indent="0">
              <a:buNone/>
              <a:defRPr/>
            </a:pPr>
            <a:r>
              <a:rPr lang="ru-RU"/>
              <a:t>    // Помечаем поле как тронутое.</a:t>
            </a:r>
            <a:endParaRPr/>
          </a:p>
          <a:p>
            <a:pPr marL="0" indent="0">
              <a:buNone/>
              <a:defRPr/>
            </a:pPr>
            <a:r>
              <a:rPr lang="ru-RU"/>
              <a:t>    </a:t>
            </a:r>
            <a:r>
              <a:rPr lang="ru-RU"/>
              <a:t>setTouched</a:t>
            </a:r>
            <a:r>
              <a:rPr lang="ru-RU"/>
              <a:t>((</a:t>
            </a:r>
            <a:r>
              <a:rPr lang="ru-RU"/>
              <a:t>prev</a:t>
            </a:r>
            <a:r>
              <a:rPr lang="ru-RU"/>
              <a:t>) =&gt; ({ ...</a:t>
            </a:r>
            <a:r>
              <a:rPr lang="ru-RU"/>
              <a:t>prev</a:t>
            </a:r>
            <a:r>
              <a:rPr lang="ru-RU"/>
              <a:t>, [</a:t>
            </a:r>
            <a:r>
              <a:rPr lang="ru-RU"/>
              <a:t>field</a:t>
            </a:r>
            <a:r>
              <a:rPr lang="ru-RU"/>
              <a:t>]: </a:t>
            </a:r>
            <a:r>
              <a:rPr lang="ru-RU"/>
              <a:t>true</a:t>
            </a:r>
            <a:r>
              <a:rPr lang="ru-RU"/>
              <a:t> }));</a:t>
            </a:r>
            <a:endParaRPr/>
          </a:p>
          <a:p>
            <a:pPr marL="0" indent="0">
              <a:buNone/>
              <a:defRPr/>
            </a:pPr>
            <a:r>
              <a:rPr lang="ru-RU"/>
              <a:t> </a:t>
            </a:r>
            <a:endParaRPr/>
          </a:p>
          <a:p>
            <a:pPr marL="0" indent="0">
              <a:buNone/>
              <a:defRPr/>
            </a:pPr>
            <a:r>
              <a:rPr lang="ru-RU"/>
              <a:t>    // Получаем текущее значение поля.</a:t>
            </a:r>
            <a:endParaRPr/>
          </a:p>
          <a:p>
            <a:pPr marL="0" indent="0">
              <a:buNone/>
              <a:defRPr/>
            </a:pPr>
            <a:r>
              <a:rPr lang="ru-RU"/>
              <a:t>    </a:t>
            </a:r>
            <a:r>
              <a:rPr lang="ru-RU"/>
              <a:t>const</a:t>
            </a:r>
            <a:r>
              <a:rPr lang="ru-RU"/>
              <a:t> </a:t>
            </a:r>
            <a:r>
              <a:rPr lang="ru-RU"/>
              <a:t>currentValue</a:t>
            </a:r>
            <a:r>
              <a:rPr lang="ru-RU"/>
              <a:t> =</a:t>
            </a:r>
            <a:endParaRPr/>
          </a:p>
          <a:p>
            <a:pPr marL="0" indent="0">
              <a:buNone/>
              <a:defRPr/>
            </a:pPr>
            <a:r>
              <a:rPr lang="ru-RU"/>
              <a:t>      </a:t>
            </a:r>
            <a:r>
              <a:rPr lang="en-US"/>
              <a:t>field === "name" ? name : field === "email" ? email : message;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 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  </a:t>
            </a:r>
            <a:endParaRPr lang="ru-RU"/>
          </a:p>
        </p:txBody>
      </p:sp>
      <p:sp>
        <p:nvSpPr>
          <p:cNvPr id="4" name="TextBox 3"/>
          <p:cNvSpPr txBox="1"/>
          <p:nvPr/>
        </p:nvSpPr>
        <p:spPr bwMode="auto">
          <a:xfrm>
            <a:off x="6475956" y="1349635"/>
            <a:ext cx="541124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// </a:t>
            </a:r>
            <a:r>
              <a:rPr lang="ru-RU"/>
              <a:t>Валидируем</a:t>
            </a:r>
            <a:r>
              <a:rPr lang="ru-RU"/>
              <a:t> и записываем результат.</a:t>
            </a:r>
            <a:endParaRPr/>
          </a:p>
          <a:p>
            <a:pPr>
              <a:defRPr/>
            </a:pPr>
            <a:r>
              <a:rPr lang="ru-RU"/>
              <a:t>    </a:t>
            </a:r>
            <a:r>
              <a:rPr lang="ru-RU"/>
              <a:t>setErrors</a:t>
            </a:r>
            <a:r>
              <a:rPr lang="ru-RU"/>
              <a:t>((</a:t>
            </a:r>
            <a:r>
              <a:rPr lang="ru-RU"/>
              <a:t>prev</a:t>
            </a:r>
            <a:r>
              <a:rPr lang="ru-RU"/>
              <a:t>) =&gt; ({</a:t>
            </a:r>
            <a:endParaRPr/>
          </a:p>
          <a:p>
            <a:pPr>
              <a:defRPr/>
            </a:pPr>
            <a:r>
              <a:rPr lang="ru-RU"/>
              <a:t>      </a:t>
            </a:r>
            <a:r>
              <a:rPr lang="en-US"/>
              <a:t>...</a:t>
            </a:r>
            <a:r>
              <a:rPr lang="en-US"/>
              <a:t>prev</a:t>
            </a:r>
            <a:r>
              <a:rPr lang="en-US"/>
              <a:t>,</a:t>
            </a:r>
            <a:endParaRPr lang="ru-RU"/>
          </a:p>
          <a:p>
            <a:pPr>
              <a:defRPr/>
            </a:pPr>
            <a:r>
              <a:rPr lang="en-US"/>
              <a:t>      [field]: validators[field](</a:t>
            </a:r>
            <a:r>
              <a:rPr lang="en-US"/>
              <a:t>currentValue</a:t>
            </a:r>
            <a:r>
              <a:rPr lang="en-US"/>
              <a:t>),</a:t>
            </a:r>
            <a:endParaRPr lang="ru-RU"/>
          </a:p>
          <a:p>
            <a:pPr>
              <a:defRPr/>
            </a:pPr>
            <a:r>
              <a:rPr lang="en-US"/>
              <a:t>    }));</a:t>
            </a:r>
            <a:endParaRPr lang="ru-RU"/>
          </a:p>
          <a:p>
            <a:pPr>
              <a:defRPr/>
            </a:pPr>
            <a:r>
              <a:rPr lang="en-US"/>
              <a:t>  };</a:t>
            </a:r>
            <a:endParaRPr lang="ru-RU"/>
          </a:p>
          <a:p>
            <a:pPr>
              <a:defRPr/>
            </a:pPr>
            <a:r>
              <a:rPr lang="ru-RU"/>
              <a:t>Обновим</a:t>
            </a:r>
            <a:r>
              <a:rPr lang="en-US"/>
              <a:t> </a:t>
            </a:r>
            <a:r>
              <a:rPr lang="en-US"/>
              <a:t>onBlur</a:t>
            </a:r>
            <a:r>
              <a:rPr lang="en-US"/>
              <a:t> </a:t>
            </a:r>
            <a:r>
              <a:rPr lang="ru-RU"/>
              <a:t>в</a:t>
            </a:r>
            <a:r>
              <a:rPr lang="en-US"/>
              <a:t> JSX:</a:t>
            </a:r>
            <a:endParaRPr lang="ru-RU"/>
          </a:p>
          <a:p>
            <a:pPr>
              <a:defRPr/>
            </a:pPr>
            <a:r>
              <a:rPr lang="en-US"/>
              <a:t> </a:t>
            </a:r>
            <a:endParaRPr lang="ru-RU"/>
          </a:p>
          <a:p>
            <a:pPr>
              <a:defRPr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// </a:t>
            </a:r>
            <a:r>
              <a:rPr lang="ru-RU">
                <a:solidFill>
                  <a:schemeClr val="accent6">
                    <a:lumMod val="75000"/>
                  </a:schemeClr>
                </a:solidFill>
              </a:rPr>
              <a:t>Было</a:t>
            </a: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:</a:t>
            </a:r>
            <a:endParaRPr lang="ru-RU">
              <a:solidFill>
                <a:schemeClr val="accent6">
                  <a:lumMod val="75000"/>
                </a:schemeClr>
              </a:solidFill>
            </a:endParaRPr>
          </a:p>
          <a:p>
            <a:pPr>
              <a:defRPr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onBlur</a:t>
            </a: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={() =&gt; </a:t>
            </a: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setTouched</a:t>
            </a: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((</a:t>
            </a: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prev</a:t>
            </a: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) =&gt; ({ ...</a:t>
            </a: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prev</a:t>
            </a: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, name: true }))}</a:t>
            </a:r>
            <a:endParaRPr lang="ru-RU">
              <a:solidFill>
                <a:schemeClr val="accent6">
                  <a:lumMod val="75000"/>
                </a:schemeClr>
              </a:solidFill>
            </a:endParaRPr>
          </a:p>
          <a:p>
            <a:pPr>
              <a:defRPr/>
            </a:pPr>
            <a:r>
              <a:rPr lang="en-US"/>
              <a:t> </a:t>
            </a:r>
            <a:endParaRPr lang="ru-RU"/>
          </a:p>
          <a:p>
            <a:pPr>
              <a:defRPr/>
            </a:pPr>
            <a:r>
              <a:rPr lang="en-US">
                <a:solidFill>
                  <a:srgbClr val="C00000"/>
                </a:solidFill>
              </a:rPr>
              <a:t>// </a:t>
            </a:r>
            <a:r>
              <a:rPr lang="ru-RU">
                <a:solidFill>
                  <a:srgbClr val="C00000"/>
                </a:solidFill>
              </a:rPr>
              <a:t>Стало</a:t>
            </a:r>
            <a:r>
              <a:rPr lang="en-US">
                <a:solidFill>
                  <a:srgbClr val="C00000"/>
                </a:solidFill>
              </a:rPr>
              <a:t>:</a:t>
            </a:r>
            <a:endParaRPr lang="ru-RU">
              <a:solidFill>
                <a:srgbClr val="C00000"/>
              </a:solidFill>
            </a:endParaRPr>
          </a:p>
          <a:p>
            <a:pPr>
              <a:defRPr/>
            </a:pPr>
            <a:r>
              <a:rPr lang="en-US">
                <a:solidFill>
                  <a:srgbClr val="C00000"/>
                </a:solidFill>
              </a:rPr>
              <a:t>onBlur</a:t>
            </a:r>
            <a:r>
              <a:rPr lang="en-US">
                <a:solidFill>
                  <a:srgbClr val="C00000"/>
                </a:solidFill>
              </a:rPr>
              <a:t>={() =&gt; </a:t>
            </a:r>
            <a:r>
              <a:rPr lang="en-US">
                <a:solidFill>
                  <a:srgbClr val="C00000"/>
                </a:solidFill>
              </a:rPr>
              <a:t>handleBlur</a:t>
            </a:r>
            <a:r>
              <a:rPr lang="en-US">
                <a:solidFill>
                  <a:srgbClr val="C00000"/>
                </a:solidFill>
              </a:rPr>
              <a:t>("name")}</a:t>
            </a:r>
            <a:endParaRPr lang="ru-RU">
              <a:solidFill>
                <a:srgbClr val="C00000"/>
              </a:solidFill>
            </a:endParaRPr>
          </a:p>
          <a:p>
            <a:pPr>
              <a:defRPr/>
            </a:pPr>
            <a:r>
              <a:rPr lang="ru-RU">
                <a:solidFill>
                  <a:srgbClr val="C00000"/>
                </a:solidFill>
              </a:rPr>
              <a:t>Аналогично для</a:t>
            </a:r>
            <a:r>
              <a:rPr lang="en-US">
                <a:solidFill>
                  <a:srgbClr val="C00000"/>
                </a:solidFill>
              </a:rPr>
              <a:t> email </a:t>
            </a:r>
            <a:r>
              <a:rPr lang="ru-RU">
                <a:solidFill>
                  <a:srgbClr val="C00000"/>
                </a:solidFill>
              </a:rPr>
              <a:t>и</a:t>
            </a:r>
            <a:r>
              <a:rPr lang="en-US">
                <a:solidFill>
                  <a:srgbClr val="C00000"/>
                </a:solidFill>
              </a:rPr>
              <a:t> message.</a:t>
            </a:r>
            <a:endParaRPr lang="ru-RU">
              <a:solidFill>
                <a:srgbClr val="C00000"/>
              </a:solidFill>
            </a:endParaRPr>
          </a:p>
          <a:p>
            <a:pPr>
              <a:defRPr/>
            </a:pPr>
            <a:endParaRPr lang="ru-RU"/>
          </a:p>
        </p:txBody>
      </p:sp>
      <p:cxnSp>
        <p:nvCxnSpPr>
          <p:cNvPr id="6" name="Соединительная линия уступом 5"/>
          <p:cNvCxnSpPr>
            <a:cxnSpLocks/>
          </p:cNvCxnSpPr>
          <p:nvPr/>
        </p:nvCxnSpPr>
        <p:spPr bwMode="auto">
          <a:xfrm rot="5400000" flipH="1" flipV="1">
            <a:off x="3958225" y="2768252"/>
            <a:ext cx="3958225" cy="142796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Шаг 5. Обработчик отправки формы</a:t>
            </a:r>
            <a:br>
              <a:rPr lang="ru-RU"/>
            </a:b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204590" y="1324584"/>
            <a:ext cx="5625232" cy="511379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  <a:defRPr/>
            </a:pPr>
            <a:r>
              <a:rPr lang="ru-RU"/>
              <a:t>// </a:t>
            </a:r>
            <a:r>
              <a:rPr lang="ru-RU"/>
              <a:t>Обработчик отправки формы.</a:t>
            </a:r>
            <a:endParaRPr/>
          </a:p>
          <a:p>
            <a:pPr marL="0" indent="0">
              <a:buNone/>
              <a:defRPr/>
            </a:pPr>
            <a:r>
              <a:rPr lang="ru-RU"/>
              <a:t>  </a:t>
            </a:r>
            <a:r>
              <a:rPr lang="ru-RU"/>
              <a:t>const</a:t>
            </a:r>
            <a:r>
              <a:rPr lang="ru-RU"/>
              <a:t> </a:t>
            </a:r>
            <a:r>
              <a:rPr lang="ru-RU"/>
              <a:t>handleSubmit</a:t>
            </a:r>
            <a:r>
              <a:rPr lang="ru-RU"/>
              <a:t> = (e) =&gt; {</a:t>
            </a:r>
            <a:endParaRPr/>
          </a:p>
          <a:p>
            <a:pPr marL="0" indent="0">
              <a:buNone/>
              <a:defRPr/>
            </a:pPr>
            <a:r>
              <a:rPr lang="ru-RU"/>
              <a:t>    </a:t>
            </a:r>
            <a:r>
              <a:rPr lang="ru-RU"/>
              <a:t>e.preventDefault</a:t>
            </a:r>
            <a:r>
              <a:rPr lang="ru-RU"/>
              <a:t>(); // Предотвращаем перезагрузку страницы</a:t>
            </a:r>
            <a:r>
              <a:rPr lang="ru-RU"/>
              <a:t>.</a:t>
            </a:r>
            <a:endParaRPr lang="ru-RU"/>
          </a:p>
          <a:p>
            <a:pPr marL="0" indent="0">
              <a:buNone/>
              <a:defRPr/>
            </a:pPr>
            <a:r>
              <a:rPr lang="ru-RU"/>
              <a:t>    // 1. </a:t>
            </a:r>
            <a:r>
              <a:rPr lang="ru-RU"/>
              <a:t>Валидируем</a:t>
            </a:r>
            <a:r>
              <a:rPr lang="ru-RU"/>
              <a:t> все поля сразу.</a:t>
            </a:r>
            <a:endParaRPr/>
          </a:p>
          <a:p>
            <a:pPr marL="0" indent="0">
              <a:buNone/>
              <a:defRPr/>
            </a:pPr>
            <a:r>
              <a:rPr lang="ru-RU"/>
              <a:t>    </a:t>
            </a:r>
            <a:r>
              <a:rPr lang="ru-RU"/>
              <a:t>const</a:t>
            </a:r>
            <a:r>
              <a:rPr lang="ru-RU"/>
              <a:t> </a:t>
            </a:r>
            <a:r>
              <a:rPr lang="ru-RU">
                <a:solidFill>
                  <a:srgbClr val="FF0000"/>
                </a:solidFill>
              </a:rPr>
              <a:t>newErrors</a:t>
            </a:r>
            <a:r>
              <a:rPr lang="ru-RU">
                <a:solidFill>
                  <a:srgbClr val="FF0000"/>
                </a:solidFill>
              </a:rPr>
              <a:t> </a:t>
            </a:r>
            <a:r>
              <a:rPr lang="ru-RU"/>
              <a:t>= {</a:t>
            </a:r>
            <a:endParaRPr/>
          </a:p>
          <a:p>
            <a:pPr marL="0" indent="0">
              <a:buNone/>
              <a:defRPr/>
            </a:pPr>
            <a:r>
              <a:rPr lang="ru-RU"/>
              <a:t>      </a:t>
            </a:r>
            <a:r>
              <a:rPr lang="en-US"/>
              <a:t>name: </a:t>
            </a:r>
            <a:r>
              <a:rPr lang="en-US"/>
              <a:t>validateName</a:t>
            </a:r>
            <a:r>
              <a:rPr lang="en-US"/>
              <a:t>(name),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    email: </a:t>
            </a:r>
            <a:r>
              <a:rPr lang="en-US"/>
              <a:t>validateEmail</a:t>
            </a:r>
            <a:r>
              <a:rPr lang="en-US"/>
              <a:t>(email),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    </a:t>
            </a:r>
            <a:r>
              <a:rPr lang="ru-RU"/>
              <a:t>message</a:t>
            </a:r>
            <a:r>
              <a:rPr lang="ru-RU"/>
              <a:t>: </a:t>
            </a:r>
            <a:r>
              <a:rPr lang="ru-RU"/>
              <a:t>validateMessage</a:t>
            </a:r>
            <a:r>
              <a:rPr lang="ru-RU"/>
              <a:t>(</a:t>
            </a:r>
            <a:r>
              <a:rPr lang="ru-RU"/>
              <a:t>message</a:t>
            </a:r>
            <a:r>
              <a:rPr lang="ru-RU"/>
              <a:t>),</a:t>
            </a:r>
            <a:endParaRPr/>
          </a:p>
          <a:p>
            <a:pPr marL="0" indent="0">
              <a:buNone/>
              <a:defRPr/>
            </a:pPr>
            <a:r>
              <a:rPr lang="ru-RU"/>
              <a:t>    </a:t>
            </a:r>
            <a:r>
              <a:rPr lang="ru-RU"/>
              <a:t>};</a:t>
            </a:r>
            <a:endParaRPr lang="ru-RU"/>
          </a:p>
          <a:p>
            <a:pPr marL="0" indent="0">
              <a:buNone/>
              <a:defRPr/>
            </a:pPr>
            <a:r>
              <a:rPr lang="ru-RU"/>
              <a:t>    // 2. Записываем ошибки и помечаем все поля как тронутые.</a:t>
            </a:r>
            <a:endParaRPr/>
          </a:p>
          <a:p>
            <a:pPr marL="0" indent="0">
              <a:buNone/>
              <a:defRPr/>
            </a:pPr>
            <a:r>
              <a:rPr lang="ru-RU"/>
              <a:t>    </a:t>
            </a:r>
            <a:r>
              <a:rPr lang="en-US"/>
              <a:t>setErrors</a:t>
            </a:r>
            <a:r>
              <a:rPr lang="en-US"/>
              <a:t>(</a:t>
            </a:r>
            <a:r>
              <a:rPr lang="en-US"/>
              <a:t>newErrors</a:t>
            </a:r>
            <a:r>
              <a:rPr lang="en-US"/>
              <a:t>);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  </a:t>
            </a:r>
            <a:r>
              <a:rPr lang="en-US"/>
              <a:t>setTouched</a:t>
            </a:r>
            <a:r>
              <a:rPr lang="en-US"/>
              <a:t>({ name: true, email: true, message: true });</a:t>
            </a:r>
            <a:endParaRPr lang="ru-RU"/>
          </a:p>
          <a:p>
            <a:pPr marL="0" indent="0">
              <a:buNone/>
              <a:defRPr/>
            </a:pPr>
            <a:endParaRPr lang="ru-RU"/>
          </a:p>
        </p:txBody>
      </p:sp>
      <p:sp>
        <p:nvSpPr>
          <p:cNvPr id="4" name="TextBox 3"/>
          <p:cNvSpPr txBox="1"/>
          <p:nvPr/>
        </p:nvSpPr>
        <p:spPr bwMode="auto">
          <a:xfrm>
            <a:off x="5829822" y="1203825"/>
            <a:ext cx="5982224" cy="5078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/>
              <a:t> </a:t>
            </a:r>
            <a:r>
              <a:rPr lang="ru-RU"/>
              <a:t>// 3. Если хотя бы одна ошибка есть — не отправляем.</a:t>
            </a:r>
            <a:endParaRPr/>
          </a:p>
          <a:p>
            <a:pPr>
              <a:defRPr/>
            </a:pPr>
            <a:r>
              <a:rPr lang="ru-RU"/>
              <a:t>    </a:t>
            </a:r>
            <a:r>
              <a:rPr lang="en-US"/>
              <a:t>if (</a:t>
            </a:r>
            <a:r>
              <a:rPr lang="en-US"/>
              <a:t>Object.values</a:t>
            </a:r>
            <a:r>
              <a:rPr lang="en-US"/>
              <a:t>(</a:t>
            </a:r>
            <a:r>
              <a:rPr lang="en-US">
                <a:solidFill>
                  <a:srgbClr val="FF0000"/>
                </a:solidFill>
              </a:rPr>
              <a:t>newErrors</a:t>
            </a:r>
            <a:r>
              <a:rPr lang="en-US"/>
              <a:t>).some((err) =&gt; err !== null)) {      </a:t>
            </a:r>
            <a:r>
              <a:rPr lang="ru-RU"/>
              <a:t>return</a:t>
            </a:r>
            <a:r>
              <a:rPr lang="ru-RU"/>
              <a:t>; // Прерываем отправку.    }</a:t>
            </a:r>
            <a:endParaRPr/>
          </a:p>
          <a:p>
            <a:pPr>
              <a:defRPr/>
            </a:pPr>
            <a:r>
              <a:rPr lang="ru-RU"/>
              <a:t> </a:t>
            </a:r>
            <a:endParaRPr/>
          </a:p>
          <a:p>
            <a:pPr>
              <a:defRPr/>
            </a:pPr>
            <a:r>
              <a:rPr lang="ru-RU"/>
              <a:t>    // 4. Имитируем отправку на сервер.</a:t>
            </a:r>
            <a:endParaRPr/>
          </a:p>
          <a:p>
            <a:pPr>
              <a:defRPr/>
            </a:pPr>
            <a:r>
              <a:rPr lang="ru-RU"/>
              <a:t>    </a:t>
            </a:r>
            <a:r>
              <a:rPr lang="ru-RU"/>
              <a:t>setIsSubmitting</a:t>
            </a:r>
            <a:r>
              <a:rPr lang="ru-RU"/>
              <a:t>(</a:t>
            </a:r>
            <a:r>
              <a:rPr lang="ru-RU"/>
              <a:t>true</a:t>
            </a:r>
            <a:r>
              <a:rPr lang="ru-RU"/>
              <a:t>);</a:t>
            </a:r>
            <a:endParaRPr/>
          </a:p>
          <a:p>
            <a:pPr>
              <a:defRPr/>
            </a:pPr>
            <a:r>
              <a:rPr lang="ru-RU"/>
              <a:t>    // </a:t>
            </a:r>
            <a:r>
              <a:rPr lang="ru-RU"/>
              <a:t>setTimeout</a:t>
            </a:r>
            <a:r>
              <a:rPr lang="ru-RU"/>
              <a:t> имитирует сетевой запрос с задержкой 1.5 секунды.</a:t>
            </a:r>
            <a:endParaRPr/>
          </a:p>
          <a:p>
            <a:pPr>
              <a:defRPr/>
            </a:pPr>
            <a:r>
              <a:rPr lang="ru-RU"/>
              <a:t>    </a:t>
            </a:r>
            <a:r>
              <a:rPr lang="en-US"/>
              <a:t>setTimeout</a:t>
            </a:r>
            <a:r>
              <a:rPr lang="en-US"/>
              <a:t>(() =&gt; {</a:t>
            </a:r>
            <a:endParaRPr lang="ru-RU"/>
          </a:p>
          <a:p>
            <a:pPr>
              <a:defRPr/>
            </a:pPr>
            <a:r>
              <a:rPr lang="en-US"/>
              <a:t>      </a:t>
            </a:r>
            <a:r>
              <a:rPr lang="en-US"/>
              <a:t>setIsSubmitting</a:t>
            </a:r>
            <a:r>
              <a:rPr lang="en-US"/>
              <a:t>(false);</a:t>
            </a:r>
            <a:endParaRPr lang="ru-RU"/>
          </a:p>
          <a:p>
            <a:pPr>
              <a:defRPr/>
            </a:pPr>
            <a:r>
              <a:rPr lang="en-US"/>
              <a:t>      </a:t>
            </a:r>
            <a:r>
              <a:rPr lang="en-US"/>
              <a:t>setSubmitted</a:t>
            </a:r>
            <a:r>
              <a:rPr lang="en-US"/>
              <a:t>(true);</a:t>
            </a:r>
            <a:endParaRPr lang="ru-RU"/>
          </a:p>
          <a:p>
            <a:pPr>
              <a:defRPr/>
            </a:pPr>
            <a:r>
              <a:rPr lang="en-US"/>
              <a:t>      </a:t>
            </a:r>
            <a:r>
              <a:rPr lang="ru-RU">
                <a:solidFill>
                  <a:srgbClr val="0070C0"/>
                </a:solidFill>
              </a:rPr>
              <a:t>// В реальном проекте здесь был бы </a:t>
            </a:r>
            <a:r>
              <a:rPr lang="ru-RU">
                <a:solidFill>
                  <a:srgbClr val="0070C0"/>
                </a:solidFill>
              </a:rPr>
              <a:t>fetch</a:t>
            </a:r>
            <a:r>
              <a:rPr lang="ru-RU">
                <a:solidFill>
                  <a:srgbClr val="0070C0"/>
                </a:solidFill>
              </a:rPr>
              <a:t> / </a:t>
            </a:r>
            <a:r>
              <a:rPr lang="ru-RU">
                <a:solidFill>
                  <a:srgbClr val="0070C0"/>
                </a:solidFill>
              </a:rPr>
              <a:t>axios</a:t>
            </a:r>
            <a:r>
              <a:rPr lang="ru-RU">
                <a:solidFill>
                  <a:srgbClr val="0070C0"/>
                </a:solidFill>
              </a:rPr>
              <a:t>:</a:t>
            </a:r>
            <a:endParaRPr/>
          </a:p>
          <a:p>
            <a:pPr>
              <a:defRPr/>
            </a:pPr>
            <a:r>
              <a:rPr lang="ru-RU">
                <a:solidFill>
                  <a:srgbClr val="0070C0"/>
                </a:solidFill>
              </a:rPr>
              <a:t>      </a:t>
            </a:r>
            <a:r>
              <a:rPr lang="en-US">
                <a:solidFill>
                  <a:srgbClr val="0070C0"/>
                </a:solidFill>
              </a:rPr>
              <a:t>// fetch("/</a:t>
            </a:r>
            <a:r>
              <a:rPr lang="en-US">
                <a:solidFill>
                  <a:srgbClr val="0070C0"/>
                </a:solidFill>
              </a:rPr>
              <a:t>api</a:t>
            </a:r>
            <a:r>
              <a:rPr lang="en-US">
                <a:solidFill>
                  <a:srgbClr val="0070C0"/>
                </a:solidFill>
              </a:rPr>
              <a:t>/feedback", { method: "POST", body: ... })</a:t>
            </a:r>
            <a:endParaRPr lang="ru-RU">
              <a:solidFill>
                <a:srgbClr val="0070C0"/>
              </a:solidFill>
            </a:endParaRPr>
          </a:p>
          <a:p>
            <a:pPr>
              <a:defRPr/>
            </a:pPr>
            <a:r>
              <a:rPr lang="en-US"/>
              <a:t>    }, 1500);</a:t>
            </a:r>
            <a:endParaRPr lang="ru-RU"/>
          </a:p>
          <a:p>
            <a:pPr>
              <a:defRPr/>
            </a:pPr>
            <a:r>
              <a:rPr lang="en-US"/>
              <a:t>  };</a:t>
            </a:r>
            <a:endParaRPr lang="ru-RU"/>
          </a:p>
          <a:p>
            <a:pPr>
              <a:defRPr/>
            </a:pPr>
            <a:r>
              <a:rPr lang="ru-RU"/>
              <a:t>Добавим</a:t>
            </a:r>
            <a:r>
              <a:rPr lang="en-US"/>
              <a:t> </a:t>
            </a:r>
            <a:r>
              <a:rPr lang="en-US"/>
              <a:t>onSubmit</a:t>
            </a:r>
            <a:r>
              <a:rPr lang="en-US"/>
              <a:t> </a:t>
            </a:r>
            <a:r>
              <a:rPr lang="ru-RU"/>
              <a:t>в тег</a:t>
            </a:r>
            <a:r>
              <a:rPr lang="en-US"/>
              <a:t> &lt;form&gt;: </a:t>
            </a:r>
            <a:endParaRPr lang="ru-RU"/>
          </a:p>
          <a:p>
            <a:pPr>
              <a:defRPr/>
            </a:pPr>
            <a:r>
              <a:rPr lang="en-US" b="1"/>
              <a:t>&lt;form </a:t>
            </a:r>
            <a:r>
              <a:rPr lang="en-US" b="1"/>
              <a:t>className</a:t>
            </a:r>
            <a:r>
              <a:rPr lang="en-US" b="1"/>
              <a:t>="feedback-form" </a:t>
            </a:r>
            <a:r>
              <a:rPr lang="en-US" b="1"/>
              <a:t>onSubmit</a:t>
            </a:r>
            <a:r>
              <a:rPr lang="en-US" b="1"/>
              <a:t>={</a:t>
            </a:r>
            <a:r>
              <a:rPr lang="en-US" b="1"/>
              <a:t>handleSubmit</a:t>
            </a:r>
            <a:r>
              <a:rPr lang="en-US" b="1"/>
              <a:t>}&gt;</a:t>
            </a:r>
            <a:endParaRPr lang="ru-RU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Шаг 6. Условный рендеринг после отправки</a:t>
            </a:r>
            <a:br>
              <a:rPr lang="ru-RU"/>
            </a:b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458244" y="1525000"/>
            <a:ext cx="5637756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  <a:defRPr/>
            </a:pPr>
            <a:r>
              <a:rPr lang="ru-RU"/>
              <a:t>Добавим </a:t>
            </a:r>
            <a:r>
              <a:rPr lang="ru-RU"/>
              <a:t>в конец компонента, перед закрывающим &lt;/&gt; или </a:t>
            </a:r>
            <a:r>
              <a:rPr lang="ru-RU"/>
              <a:t>return</a:t>
            </a:r>
            <a:r>
              <a:rPr lang="ru-RU"/>
              <a:t>, логику показа успешного экрана:</a:t>
            </a:r>
            <a:endParaRPr/>
          </a:p>
          <a:p>
            <a:pPr marL="0" indent="0">
              <a:buNone/>
              <a:defRPr/>
            </a:pPr>
            <a:r>
              <a:rPr lang="ru-RU"/>
              <a:t>// </a:t>
            </a:r>
            <a:r>
              <a:rPr lang="ru-RU"/>
              <a:t>Если форма успешно отправлена — показываем благодарность.</a:t>
            </a:r>
            <a:endParaRPr/>
          </a:p>
          <a:p>
            <a:pPr marL="0" indent="0">
              <a:buNone/>
              <a:defRPr/>
            </a:pPr>
            <a:r>
              <a:rPr lang="ru-RU"/>
              <a:t>  </a:t>
            </a:r>
            <a:r>
              <a:rPr lang="en-US"/>
              <a:t>if (submitted) {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  return (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    &lt;div </a:t>
            </a:r>
            <a:r>
              <a:rPr lang="en-US"/>
              <a:t>className</a:t>
            </a:r>
            <a:r>
              <a:rPr lang="en-US"/>
              <a:t>="feedback-form feedback-form--success"&gt;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      &lt;h2 </a:t>
            </a:r>
            <a:r>
              <a:rPr lang="en-US"/>
              <a:t>className</a:t>
            </a:r>
            <a:r>
              <a:rPr lang="en-US"/>
              <a:t>="feedback-</a:t>
            </a:r>
            <a:r>
              <a:rPr lang="en-US"/>
              <a:t>form__title</a:t>
            </a:r>
            <a:r>
              <a:rPr lang="en-US"/>
              <a:t>"&gt;</a:t>
            </a:r>
            <a:r>
              <a:rPr lang="ru-RU"/>
              <a:t>Спасибо за обращение</a:t>
            </a:r>
            <a:r>
              <a:rPr lang="en-US"/>
              <a:t>!&lt;/h2&gt;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      &lt;p </a:t>
            </a:r>
            <a:r>
              <a:rPr lang="en-US"/>
              <a:t>className</a:t>
            </a:r>
            <a:r>
              <a:rPr lang="en-US"/>
              <a:t>="feedback-</a:t>
            </a:r>
            <a:r>
              <a:rPr lang="en-US"/>
              <a:t>form__text</a:t>
            </a:r>
            <a:r>
              <a:rPr lang="en-US"/>
              <a:t>"&gt;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        </a:t>
            </a:r>
            <a:r>
              <a:rPr lang="ru-RU"/>
              <a:t>Мы свяжемся с вами в ближайшее время.</a:t>
            </a:r>
            <a:endParaRPr/>
          </a:p>
          <a:p>
            <a:pPr marL="0" indent="0">
              <a:buNone/>
              <a:defRPr/>
            </a:pPr>
            <a:r>
              <a:rPr lang="ru-RU"/>
              <a:t>        </a:t>
            </a:r>
            <a:r>
              <a:rPr lang="en-US"/>
              <a:t>&lt;/p&gt;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      &lt;</a:t>
            </a:r>
            <a:r>
              <a:rPr lang="en-US"/>
              <a:t>button    type</a:t>
            </a:r>
            <a:r>
              <a:rPr lang="en-US"/>
              <a:t>="</a:t>
            </a:r>
            <a:r>
              <a:rPr lang="en-US"/>
              <a:t>button“  </a:t>
            </a:r>
            <a:endParaRPr/>
          </a:p>
          <a:p>
            <a:pPr marL="0" indent="0">
              <a:buNone/>
              <a:defRPr/>
            </a:pPr>
            <a:r>
              <a:rPr lang="en-US"/>
              <a:t>className</a:t>
            </a:r>
            <a:r>
              <a:rPr lang="en-US"/>
              <a:t>="feedback-</a:t>
            </a:r>
            <a:r>
              <a:rPr lang="en-US"/>
              <a:t>form__submit</a:t>
            </a:r>
            <a:r>
              <a:rPr lang="en-US"/>
              <a:t>"</a:t>
            </a: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</p:txBody>
      </p:sp>
      <p:sp>
        <p:nvSpPr>
          <p:cNvPr id="4" name="TextBox 3"/>
          <p:cNvSpPr txBox="1"/>
          <p:nvPr/>
        </p:nvSpPr>
        <p:spPr bwMode="auto">
          <a:xfrm>
            <a:off x="6096000" y="1415115"/>
            <a:ext cx="587888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onClick</a:t>
            </a:r>
            <a:r>
              <a:rPr lang="ru-RU"/>
              <a:t>={() =&gt; {</a:t>
            </a:r>
            <a:endParaRPr/>
          </a:p>
          <a:p>
            <a:pPr>
              <a:defRPr/>
            </a:pPr>
            <a:r>
              <a:rPr lang="ru-RU"/>
              <a:t>            // Сбрасываем форму к начальному состоянию.</a:t>
            </a:r>
            <a:endParaRPr/>
          </a:p>
          <a:p>
            <a:pPr>
              <a:defRPr/>
            </a:pPr>
            <a:r>
              <a:rPr lang="ru-RU"/>
              <a:t>            </a:t>
            </a:r>
            <a:r>
              <a:rPr lang="en-US"/>
              <a:t>setName</a:t>
            </a:r>
            <a:r>
              <a:rPr lang="en-US"/>
              <a:t>("");</a:t>
            </a:r>
            <a:endParaRPr lang="ru-RU"/>
          </a:p>
          <a:p>
            <a:pPr>
              <a:defRPr/>
            </a:pPr>
            <a:r>
              <a:rPr lang="en-US"/>
              <a:t>            </a:t>
            </a:r>
            <a:r>
              <a:rPr lang="en-US"/>
              <a:t>setEmail</a:t>
            </a:r>
            <a:r>
              <a:rPr lang="en-US"/>
              <a:t>("");</a:t>
            </a:r>
            <a:endParaRPr lang="ru-RU"/>
          </a:p>
          <a:p>
            <a:pPr>
              <a:defRPr/>
            </a:pPr>
            <a:r>
              <a:rPr lang="en-US"/>
              <a:t>            </a:t>
            </a:r>
            <a:r>
              <a:rPr lang="en-US"/>
              <a:t>setMessage</a:t>
            </a:r>
            <a:r>
              <a:rPr lang="en-US"/>
              <a:t>("");</a:t>
            </a:r>
            <a:endParaRPr lang="ru-RU"/>
          </a:p>
          <a:p>
            <a:pPr>
              <a:defRPr/>
            </a:pPr>
            <a:r>
              <a:rPr lang="en-US"/>
              <a:t>            </a:t>
            </a:r>
            <a:r>
              <a:rPr lang="en-US"/>
              <a:t>setErrors</a:t>
            </a:r>
            <a:r>
              <a:rPr lang="en-US"/>
              <a:t>({ name: null, email: null, message: null });</a:t>
            </a:r>
            <a:endParaRPr lang="ru-RU"/>
          </a:p>
          <a:p>
            <a:pPr>
              <a:defRPr/>
            </a:pPr>
            <a:r>
              <a:rPr lang="en-US"/>
              <a:t>            </a:t>
            </a:r>
            <a:r>
              <a:rPr lang="en-US"/>
              <a:t>setTouched</a:t>
            </a:r>
            <a:r>
              <a:rPr lang="en-US"/>
              <a:t>({ name: false, email: false, message: false });</a:t>
            </a:r>
            <a:endParaRPr lang="ru-RU"/>
          </a:p>
          <a:p>
            <a:pPr>
              <a:defRPr/>
            </a:pPr>
            <a:r>
              <a:rPr lang="en-US"/>
              <a:t>            </a:t>
            </a:r>
            <a:r>
              <a:rPr lang="ru-RU"/>
              <a:t>setSubmitted</a:t>
            </a:r>
            <a:r>
              <a:rPr lang="ru-RU"/>
              <a:t>(</a:t>
            </a:r>
            <a:r>
              <a:rPr lang="ru-RU"/>
              <a:t>false</a:t>
            </a:r>
            <a:r>
              <a:rPr lang="ru-RU"/>
              <a:t>);</a:t>
            </a:r>
            <a:endParaRPr/>
          </a:p>
          <a:p>
            <a:pPr>
              <a:defRPr/>
            </a:pPr>
            <a:r>
              <a:rPr lang="ru-RU"/>
              <a:t>          }}</a:t>
            </a:r>
            <a:endParaRPr/>
          </a:p>
          <a:p>
            <a:pPr>
              <a:defRPr/>
            </a:pPr>
            <a:r>
              <a:rPr lang="ru-RU"/>
              <a:t>        &gt;</a:t>
            </a:r>
            <a:endParaRPr/>
          </a:p>
          <a:p>
            <a:pPr>
              <a:defRPr/>
            </a:pPr>
            <a:r>
              <a:rPr lang="ru-RU"/>
              <a:t>          Отправить ещё одно сообщение</a:t>
            </a:r>
            <a:endParaRPr/>
          </a:p>
          <a:p>
            <a:pPr>
              <a:defRPr/>
            </a:pPr>
            <a:r>
              <a:rPr lang="ru-RU"/>
              <a:t>        &lt;/</a:t>
            </a:r>
            <a:r>
              <a:rPr lang="ru-RU"/>
              <a:t>button</a:t>
            </a:r>
            <a:r>
              <a:rPr lang="ru-RU"/>
              <a:t>&gt;</a:t>
            </a:r>
            <a:endParaRPr/>
          </a:p>
          <a:p>
            <a:pPr>
              <a:defRPr/>
            </a:pPr>
            <a:r>
              <a:rPr lang="ru-RU"/>
              <a:t>      &lt;/</a:t>
            </a:r>
            <a:r>
              <a:rPr lang="ru-RU"/>
              <a:t>div</a:t>
            </a:r>
            <a:r>
              <a:rPr lang="ru-RU"/>
              <a:t>&gt;</a:t>
            </a:r>
            <a:endParaRPr/>
          </a:p>
          <a:p>
            <a:pPr>
              <a:defRPr/>
            </a:pPr>
            <a:r>
              <a:rPr lang="ru-RU"/>
              <a:t>    );</a:t>
            </a:r>
            <a:endParaRPr/>
          </a:p>
          <a:p>
            <a:pPr>
              <a:defRPr/>
            </a:pPr>
            <a:r>
              <a:rPr lang="ru-RU"/>
              <a:t>  }</a:t>
            </a:r>
            <a:endParaRPr lang="ru-RU"/>
          </a:p>
        </p:txBody>
      </p:sp>
      <p:cxnSp>
        <p:nvCxnSpPr>
          <p:cNvPr id="6" name="Соединительная линия уступом 5"/>
          <p:cNvCxnSpPr>
            <a:cxnSpLocks/>
          </p:cNvCxnSpPr>
          <p:nvPr/>
        </p:nvCxnSpPr>
        <p:spPr bwMode="auto">
          <a:xfrm rot="5400000" flipH="1" flipV="1">
            <a:off x="3468122" y="3242654"/>
            <a:ext cx="4236973" cy="80166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/>
          <a:stretch/>
        </p:blipFill>
        <p:spPr bwMode="auto">
          <a:xfrm>
            <a:off x="790832" y="296562"/>
            <a:ext cx="10873945" cy="5955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Шаг 7. CSS-стилизация состояний полей</a:t>
            </a:r>
            <a:br>
              <a:rPr lang="ru-RU"/>
            </a:b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55000" lnSpcReduction="20000"/>
          </a:bodyPr>
          <a:lstStyle/>
          <a:p>
            <a:pPr marL="0" indent="0">
              <a:buNone/>
              <a:defRPr/>
            </a:pPr>
            <a:r>
              <a:rPr lang="ru-RU"/>
              <a:t>Создайте </a:t>
            </a:r>
            <a:r>
              <a:rPr lang="ru-RU"/>
              <a:t>файл </a:t>
            </a:r>
            <a:r>
              <a:rPr lang="ru-RU"/>
              <a:t>src</a:t>
            </a:r>
            <a:r>
              <a:rPr lang="ru-RU"/>
              <a:t>/</a:t>
            </a:r>
            <a:r>
              <a:rPr lang="ru-RU"/>
              <a:t>components</a:t>
            </a:r>
            <a:r>
              <a:rPr lang="ru-RU"/>
              <a:t>/FeedbackForm.css. </a:t>
            </a:r>
            <a:endParaRPr lang="en-US"/>
          </a:p>
          <a:p>
            <a:pPr marL="0" indent="0">
              <a:buNone/>
              <a:defRPr/>
            </a:pPr>
            <a:r>
              <a:rPr lang="ru-RU"/>
              <a:t>Здесь </a:t>
            </a:r>
            <a:r>
              <a:rPr lang="ru-RU"/>
              <a:t>ключевой момент — четыре визуальных состояния для каждого поля.</a:t>
            </a:r>
            <a:endParaRPr/>
          </a:p>
          <a:p>
            <a:pPr marL="0" indent="0">
              <a:buNone/>
              <a:defRPr/>
            </a:pPr>
            <a:r>
              <a:rPr lang="en-US"/>
              <a:t>/* </a:t>
            </a:r>
            <a:r>
              <a:rPr lang="en-US"/>
              <a:t>src</a:t>
            </a:r>
            <a:r>
              <a:rPr lang="en-US"/>
              <a:t>/components/FeedbackForm.css */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 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/* --- </a:t>
            </a:r>
            <a:r>
              <a:rPr lang="ru-RU"/>
              <a:t>Каркас формы</a:t>
            </a:r>
            <a:r>
              <a:rPr lang="en-US"/>
              <a:t> --- */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.feedback-form {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max-width: 480px;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margin: 40px auto;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padding: 32px;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background: #</a:t>
            </a:r>
            <a:r>
              <a:rPr lang="en-US"/>
              <a:t>ffffff</a:t>
            </a:r>
            <a:r>
              <a:rPr lang="en-US"/>
              <a:t>;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border-radius: 12px;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box-shadow: 0 2px 16px </a:t>
            </a:r>
            <a:r>
              <a:rPr lang="en-US"/>
              <a:t>rgba</a:t>
            </a:r>
            <a:r>
              <a:rPr lang="en-US"/>
              <a:t>(0, 0, 0, 0.08);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font-family: system-</a:t>
            </a:r>
            <a:r>
              <a:rPr lang="en-US"/>
              <a:t>ui</a:t>
            </a:r>
            <a:r>
              <a:rPr lang="en-US"/>
              <a:t>, -apple-system, sans-serif;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}</a:t>
            </a:r>
            <a:endParaRPr lang="ru-RU"/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CSS-стилизация состояний полей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70000" lnSpcReduction="20000"/>
          </a:bodyPr>
          <a:lstStyle/>
          <a:p>
            <a:pPr marL="0" indent="0">
              <a:spcBef>
                <a:spcPts val="600"/>
              </a:spcBef>
              <a:buNone/>
              <a:defRPr/>
            </a:pPr>
            <a:r>
              <a:rPr lang="en-US"/>
              <a:t>/* --- </a:t>
            </a:r>
            <a:r>
              <a:rPr lang="ru-RU"/>
              <a:t>Поле</a:t>
            </a:r>
            <a:r>
              <a:rPr lang="en-US"/>
              <a:t> --- */</a:t>
            </a:r>
            <a:endParaRPr lang="ru-RU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/>
              <a:t>.field {</a:t>
            </a:r>
            <a:endParaRPr lang="ru-RU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/>
              <a:t>  margin-bottom: 20px;</a:t>
            </a:r>
            <a:endParaRPr lang="ru-RU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/>
              <a:t>  display: flex;</a:t>
            </a:r>
            <a:endParaRPr lang="ru-RU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/>
              <a:t>  flex-direction: column;</a:t>
            </a:r>
            <a:endParaRPr lang="ru-RU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/>
              <a:t>  gap: 6px;</a:t>
            </a:r>
            <a:endParaRPr lang="ru-RU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/>
              <a:t>}</a:t>
            </a:r>
            <a:endParaRPr lang="ru-RU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/>
              <a:t> </a:t>
            </a:r>
            <a:endParaRPr lang="ru-RU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/>
              <a:t>.</a:t>
            </a:r>
            <a:r>
              <a:rPr lang="en-US"/>
              <a:t>field__label</a:t>
            </a:r>
            <a:r>
              <a:rPr lang="en-US"/>
              <a:t> {</a:t>
            </a:r>
            <a:endParaRPr lang="ru-RU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/>
              <a:t>  font-size: 14px;</a:t>
            </a:r>
            <a:endParaRPr lang="ru-RU"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/>
              <a:t>  </a:t>
            </a:r>
            <a:r>
              <a:rPr lang="ru-RU"/>
              <a:t>font-weight</a:t>
            </a:r>
            <a:r>
              <a:rPr lang="ru-RU"/>
              <a:t>: 600;</a:t>
            </a:r>
            <a:endParaRPr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/>
              <a:t>  </a:t>
            </a:r>
            <a:r>
              <a:rPr lang="ru-RU"/>
              <a:t>color</a:t>
            </a:r>
            <a:r>
              <a:rPr lang="ru-RU"/>
              <a:t>: #333;</a:t>
            </a:r>
            <a:endParaRPr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/>
              <a:t>}</a:t>
            </a:r>
            <a:endParaRPr/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/>
              <a:t> </a:t>
            </a: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3722318" y="1690688"/>
            <a:ext cx="474736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/* --- Базовое состояние </a:t>
            </a:r>
            <a:r>
              <a:rPr lang="ru-RU"/>
              <a:t>инпута</a:t>
            </a:r>
            <a:r>
              <a:rPr lang="ru-RU"/>
              <a:t> (покой) --- */</a:t>
            </a:r>
            <a:endParaRPr/>
          </a:p>
          <a:p>
            <a:pPr>
              <a:defRPr/>
            </a:pPr>
            <a:r>
              <a:rPr lang="en-US"/>
              <a:t>.</a:t>
            </a:r>
            <a:r>
              <a:rPr lang="en-US"/>
              <a:t>field__input</a:t>
            </a:r>
            <a:r>
              <a:rPr lang="en-US"/>
              <a:t> {</a:t>
            </a:r>
            <a:endParaRPr lang="ru-RU"/>
          </a:p>
          <a:p>
            <a:pPr>
              <a:defRPr/>
            </a:pPr>
            <a:r>
              <a:rPr lang="en-US"/>
              <a:t>  width: 100%;</a:t>
            </a:r>
            <a:endParaRPr lang="ru-RU"/>
          </a:p>
          <a:p>
            <a:pPr>
              <a:defRPr/>
            </a:pPr>
            <a:r>
              <a:rPr lang="en-US"/>
              <a:t>  padding: 10px 14px;</a:t>
            </a:r>
            <a:endParaRPr lang="ru-RU"/>
          </a:p>
          <a:p>
            <a:pPr>
              <a:defRPr/>
            </a:pPr>
            <a:r>
              <a:rPr lang="en-US"/>
              <a:t>  font-size: 15px;</a:t>
            </a:r>
            <a:endParaRPr lang="ru-RU"/>
          </a:p>
          <a:p>
            <a:pPr>
              <a:defRPr/>
            </a:pPr>
            <a:r>
              <a:rPr lang="en-US"/>
              <a:t>  border: 2px solid #d0d5dd; /* </a:t>
            </a:r>
            <a:r>
              <a:rPr lang="ru-RU"/>
              <a:t>нейтральная рамка</a:t>
            </a:r>
            <a:r>
              <a:rPr lang="en-US"/>
              <a:t> */</a:t>
            </a:r>
            <a:endParaRPr lang="ru-RU"/>
          </a:p>
          <a:p>
            <a:pPr>
              <a:defRPr/>
            </a:pPr>
            <a:r>
              <a:rPr lang="en-US"/>
              <a:t>  border-radius: 8px;</a:t>
            </a:r>
            <a:endParaRPr lang="ru-RU"/>
          </a:p>
          <a:p>
            <a:pPr>
              <a:defRPr/>
            </a:pPr>
            <a:r>
              <a:rPr lang="en-US"/>
              <a:t>  background: #f9fafb;</a:t>
            </a:r>
            <a:endParaRPr lang="ru-RU"/>
          </a:p>
          <a:p>
            <a:pPr>
              <a:defRPr/>
            </a:pPr>
            <a:r>
              <a:rPr lang="en-US"/>
              <a:t>  color: #1d2939;</a:t>
            </a:r>
            <a:endParaRPr lang="ru-RU"/>
          </a:p>
          <a:p>
            <a:pPr>
              <a:defRPr/>
            </a:pPr>
            <a:r>
              <a:rPr lang="en-US"/>
              <a:t>  outline: none;   </a:t>
            </a:r>
            <a:endParaRPr/>
          </a:p>
          <a:p>
            <a:pPr>
              <a:defRPr/>
            </a:pPr>
            <a:r>
              <a:rPr lang="en-US"/>
              <a:t>         /* </a:t>
            </a:r>
            <a:r>
              <a:rPr lang="ru-RU"/>
              <a:t>убираем стандартный</a:t>
            </a:r>
            <a:r>
              <a:rPr lang="en-US"/>
              <a:t> outline,</a:t>
            </a:r>
            <a:endParaRPr lang="ru-RU"/>
          </a:p>
          <a:p>
            <a:pPr>
              <a:defRPr/>
            </a:pPr>
            <a:r>
              <a:rPr lang="en-US"/>
              <a:t>            </a:t>
            </a:r>
            <a:r>
              <a:rPr lang="ru-RU"/>
              <a:t>кастомизируем</a:t>
            </a:r>
            <a:r>
              <a:rPr lang="ru-RU"/>
              <a:t> через</a:t>
            </a:r>
            <a:r>
              <a:rPr lang="en-US"/>
              <a:t> box-shadow */</a:t>
            </a:r>
            <a:endParaRPr lang="ru-RU"/>
          </a:p>
          <a:p>
            <a:pPr>
              <a:defRPr/>
            </a:pPr>
            <a:r>
              <a:rPr lang="en-US"/>
              <a:t>  transition: border-color 0.2s, box-shadow 0.2s, background 0.2s;</a:t>
            </a:r>
            <a:endParaRPr lang="ru-RU"/>
          </a:p>
          <a:p>
            <a:pPr>
              <a:defRPr/>
            </a:pPr>
            <a:r>
              <a:rPr lang="en-US"/>
              <a:t>}</a:t>
            </a:r>
            <a:endParaRPr lang="ru-RU"/>
          </a:p>
          <a:p>
            <a:pPr>
              <a:defRPr/>
            </a:pPr>
            <a:endParaRPr lang="ru-RU"/>
          </a:p>
        </p:txBody>
      </p:sp>
      <p:sp>
        <p:nvSpPr>
          <p:cNvPr id="5" name="TextBox 4"/>
          <p:cNvSpPr txBox="1"/>
          <p:nvPr/>
        </p:nvSpPr>
        <p:spPr bwMode="auto">
          <a:xfrm>
            <a:off x="8564671" y="1690688"/>
            <a:ext cx="36273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/>
              <a:t>/* --- </a:t>
            </a:r>
            <a:r>
              <a:rPr lang="ru-RU"/>
              <a:t>Состояние фокуса</a:t>
            </a:r>
            <a:r>
              <a:rPr lang="en-US"/>
              <a:t> --- */</a:t>
            </a:r>
            <a:endParaRPr lang="ru-RU"/>
          </a:p>
          <a:p>
            <a:pPr>
              <a:defRPr/>
            </a:pPr>
            <a:r>
              <a:rPr lang="en-US"/>
              <a:t>.field__</a:t>
            </a:r>
            <a:r>
              <a:rPr lang="en-US"/>
              <a:t>input:focus</a:t>
            </a:r>
            <a:r>
              <a:rPr lang="en-US"/>
              <a:t> {</a:t>
            </a:r>
            <a:endParaRPr lang="ru-RU"/>
          </a:p>
          <a:p>
            <a:pPr>
              <a:defRPr/>
            </a:pPr>
            <a:r>
              <a:rPr lang="en-US"/>
              <a:t>  border-color: #2563eb;     /* </a:t>
            </a:r>
            <a:r>
              <a:rPr lang="ru-RU"/>
              <a:t>синяя рамка</a:t>
            </a:r>
            <a:r>
              <a:rPr lang="en-US"/>
              <a:t> */</a:t>
            </a:r>
            <a:endParaRPr lang="ru-RU"/>
          </a:p>
          <a:p>
            <a:pPr>
              <a:defRPr/>
            </a:pPr>
            <a:r>
              <a:rPr lang="en-US"/>
              <a:t>  background: #</a:t>
            </a:r>
            <a:r>
              <a:rPr lang="en-US"/>
              <a:t>ffffff</a:t>
            </a:r>
            <a:r>
              <a:rPr lang="en-US"/>
              <a:t>;</a:t>
            </a:r>
            <a:endParaRPr lang="ru-RU"/>
          </a:p>
          <a:p>
            <a:pPr>
              <a:defRPr/>
            </a:pPr>
            <a:r>
              <a:rPr lang="en-US"/>
              <a:t>  box-shadow: 0 0 0 3px </a:t>
            </a:r>
            <a:r>
              <a:rPr lang="en-US"/>
              <a:t>rgba</a:t>
            </a:r>
            <a:r>
              <a:rPr lang="en-US"/>
              <a:t>(37, 99, 235, 0.15); /* </a:t>
            </a:r>
            <a:r>
              <a:rPr lang="ru-RU"/>
              <a:t>мягкое свечение</a:t>
            </a:r>
            <a:r>
              <a:rPr lang="en-US"/>
              <a:t> */</a:t>
            </a:r>
            <a:endParaRPr lang="ru-RU"/>
          </a:p>
          <a:p>
            <a:pPr>
              <a:defRPr/>
            </a:pPr>
            <a:r>
              <a:rPr lang="en-US"/>
              <a:t>}</a:t>
            </a:r>
            <a:endParaRPr lang="ru-RU"/>
          </a:p>
        </p:txBody>
      </p:sp>
      <p:cxnSp>
        <p:nvCxnSpPr>
          <p:cNvPr id="7" name="Соединительная линия уступом 6"/>
          <p:cNvCxnSpPr>
            <a:cxnSpLocks/>
          </p:cNvCxnSpPr>
          <p:nvPr/>
        </p:nvCxnSpPr>
        <p:spPr bwMode="auto">
          <a:xfrm rot="5400000" flipH="1" flipV="1">
            <a:off x="1383957" y="2804984"/>
            <a:ext cx="3336324" cy="148281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Соединительная линия уступом 8"/>
          <p:cNvCxnSpPr>
            <a:cxnSpLocks/>
          </p:cNvCxnSpPr>
          <p:nvPr/>
        </p:nvCxnSpPr>
        <p:spPr bwMode="auto">
          <a:xfrm rot="5400000" flipH="1" flipV="1">
            <a:off x="6283411" y="3453715"/>
            <a:ext cx="3978875" cy="77847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CSS-стилизация состояний полей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613775" y="1825625"/>
            <a:ext cx="4058433" cy="493843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  <a:defRPr/>
            </a:pPr>
            <a:r>
              <a:rPr lang="en-US"/>
              <a:t>/* --- </a:t>
            </a:r>
            <a:r>
              <a:rPr lang="ru-RU"/>
              <a:t>Состояние ошибки</a:t>
            </a:r>
            <a:r>
              <a:rPr lang="en-US"/>
              <a:t> --- */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/* </a:t>
            </a:r>
            <a:r>
              <a:rPr lang="ru-RU"/>
              <a:t>Класс добавляется через</a:t>
            </a:r>
            <a:r>
              <a:rPr lang="en-US"/>
              <a:t> JSX, </a:t>
            </a:r>
            <a:r>
              <a:rPr lang="ru-RU"/>
              <a:t>когда</a:t>
            </a:r>
            <a:r>
              <a:rPr lang="en-US"/>
              <a:t> touched[field] &amp;&amp; errors[field] */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.</a:t>
            </a:r>
            <a:r>
              <a:rPr lang="en-US"/>
              <a:t>field__input</a:t>
            </a:r>
            <a:r>
              <a:rPr lang="en-US"/>
              <a:t>--error {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border-color: #e5484d;  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 </a:t>
            </a:r>
            <a:r>
              <a:rPr lang="en-US"/>
              <a:t>/* </a:t>
            </a:r>
            <a:r>
              <a:rPr lang="ru-RU"/>
              <a:t>красная рамка</a:t>
            </a:r>
            <a:r>
              <a:rPr lang="en-US"/>
              <a:t> */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background: #fef2f2;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}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.</a:t>
            </a:r>
            <a:r>
              <a:rPr lang="en-US"/>
              <a:t>field__input</a:t>
            </a:r>
            <a:r>
              <a:rPr lang="en-US"/>
              <a:t>--</a:t>
            </a:r>
            <a:r>
              <a:rPr lang="en-US"/>
              <a:t>error:focus</a:t>
            </a:r>
            <a:r>
              <a:rPr lang="en-US"/>
              <a:t> {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border-color: #e5484d;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box-shadow: 0 0 0 3px </a:t>
            </a:r>
            <a:r>
              <a:rPr lang="en-US"/>
              <a:t>rgba</a:t>
            </a:r>
            <a:r>
              <a:rPr lang="en-US"/>
              <a:t>(229, 72, 77, 0.15);</a:t>
            </a:r>
            <a:endParaRPr lang="ru-RU"/>
          </a:p>
          <a:p>
            <a:pPr marL="0" indent="0">
              <a:buNone/>
              <a:defRPr/>
            </a:pPr>
            <a:r>
              <a:rPr lang="ru-RU"/>
              <a:t>}</a:t>
            </a:r>
            <a:endParaRPr/>
          </a:p>
          <a:p>
            <a:pPr marL="0" indent="0">
              <a:buNone/>
              <a:defRPr/>
            </a:pPr>
            <a:r>
              <a:rPr lang="ru-RU"/>
              <a:t> </a:t>
            </a:r>
            <a:endParaRPr/>
          </a:p>
          <a:p>
            <a:pPr marL="0" indent="0">
              <a:buNone/>
              <a:defRPr/>
            </a:pPr>
            <a:endParaRPr lang="ru-RU"/>
          </a:p>
        </p:txBody>
      </p:sp>
      <p:sp>
        <p:nvSpPr>
          <p:cNvPr id="4" name="TextBox 3"/>
          <p:cNvSpPr txBox="1"/>
          <p:nvPr/>
        </p:nvSpPr>
        <p:spPr bwMode="auto">
          <a:xfrm>
            <a:off x="4940474" y="1690688"/>
            <a:ext cx="250520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/* --- Состояние успеха --- */</a:t>
            </a:r>
            <a:endParaRPr/>
          </a:p>
          <a:p>
            <a:pPr>
              <a:defRPr/>
            </a:pPr>
            <a:r>
              <a:rPr lang="ru-RU"/>
              <a:t>/* Класс добавляется, когда поле тронуто и ошибки нет */</a:t>
            </a:r>
            <a:endParaRPr/>
          </a:p>
          <a:p>
            <a:pPr>
              <a:defRPr/>
            </a:pPr>
            <a:r>
              <a:rPr lang="en-US"/>
              <a:t>.</a:t>
            </a:r>
            <a:r>
              <a:rPr lang="en-US"/>
              <a:t>field__input</a:t>
            </a:r>
            <a:r>
              <a:rPr lang="en-US"/>
              <a:t>--valid {</a:t>
            </a:r>
            <a:endParaRPr lang="ru-RU"/>
          </a:p>
          <a:p>
            <a:pPr>
              <a:defRPr/>
            </a:pPr>
            <a:r>
              <a:rPr lang="en-US"/>
              <a:t>  border-color: #30a46c;     /* </a:t>
            </a:r>
            <a:r>
              <a:rPr lang="ru-RU"/>
              <a:t>зелёная рамка</a:t>
            </a:r>
            <a:r>
              <a:rPr lang="en-US"/>
              <a:t> */</a:t>
            </a:r>
            <a:endParaRPr lang="ru-RU"/>
          </a:p>
          <a:p>
            <a:pPr>
              <a:defRPr/>
            </a:pPr>
            <a:r>
              <a:rPr lang="en-US"/>
              <a:t>  background: #f0fdf4;</a:t>
            </a:r>
            <a:endParaRPr lang="ru-RU"/>
          </a:p>
          <a:p>
            <a:pPr>
              <a:defRPr/>
            </a:pPr>
            <a:r>
              <a:rPr lang="en-US"/>
              <a:t>}</a:t>
            </a:r>
            <a:endParaRPr lang="ru-RU"/>
          </a:p>
          <a:p>
            <a:pPr>
              <a:defRPr/>
            </a:pPr>
            <a:r>
              <a:rPr lang="en-US"/>
              <a:t>.</a:t>
            </a:r>
            <a:r>
              <a:rPr lang="en-US"/>
              <a:t>field__input</a:t>
            </a:r>
            <a:r>
              <a:rPr lang="en-US"/>
              <a:t>--</a:t>
            </a:r>
            <a:r>
              <a:rPr lang="en-US"/>
              <a:t>valid:focus</a:t>
            </a:r>
            <a:r>
              <a:rPr lang="en-US"/>
              <a:t> {</a:t>
            </a:r>
            <a:endParaRPr lang="ru-RU"/>
          </a:p>
          <a:p>
            <a:pPr>
              <a:defRPr/>
            </a:pPr>
            <a:r>
              <a:rPr lang="en-US"/>
              <a:t>  border-color: #30a46c;</a:t>
            </a:r>
            <a:endParaRPr lang="ru-RU"/>
          </a:p>
          <a:p>
            <a:pPr>
              <a:defRPr/>
            </a:pPr>
            <a:r>
              <a:rPr lang="en-US"/>
              <a:t>  box-shadow: 0 0 0 3px </a:t>
            </a:r>
            <a:r>
              <a:rPr lang="en-US"/>
              <a:t>rgba</a:t>
            </a:r>
            <a:r>
              <a:rPr lang="en-US"/>
              <a:t>(48, 164, 108, 0.15);</a:t>
            </a:r>
            <a:endParaRPr lang="ru-RU"/>
          </a:p>
          <a:p>
            <a:pPr>
              <a:defRPr/>
            </a:pPr>
            <a:r>
              <a:rPr lang="en-US"/>
              <a:t>}</a:t>
            </a:r>
            <a:endParaRPr lang="ru-RU"/>
          </a:p>
        </p:txBody>
      </p:sp>
      <p:sp>
        <p:nvSpPr>
          <p:cNvPr id="5" name="TextBox 4"/>
          <p:cNvSpPr txBox="1"/>
          <p:nvPr/>
        </p:nvSpPr>
        <p:spPr bwMode="auto">
          <a:xfrm>
            <a:off x="8417490" y="1825625"/>
            <a:ext cx="363254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/>
              <a:t>/* --- </a:t>
            </a:r>
            <a:r>
              <a:rPr lang="ru-RU"/>
              <a:t>Текст ошибки</a:t>
            </a:r>
            <a:r>
              <a:rPr lang="en-US"/>
              <a:t> --- */</a:t>
            </a:r>
            <a:endParaRPr lang="ru-RU"/>
          </a:p>
          <a:p>
            <a:pPr>
              <a:defRPr/>
            </a:pPr>
            <a:r>
              <a:rPr lang="en-US"/>
              <a:t>.</a:t>
            </a:r>
            <a:r>
              <a:rPr lang="en-US"/>
              <a:t>field__error</a:t>
            </a:r>
            <a:r>
              <a:rPr lang="en-US"/>
              <a:t> {</a:t>
            </a:r>
            <a:endParaRPr lang="ru-RU"/>
          </a:p>
          <a:p>
            <a:pPr>
              <a:defRPr/>
            </a:pPr>
            <a:r>
              <a:rPr lang="en-US"/>
              <a:t>  font-size: 13px;</a:t>
            </a:r>
            <a:endParaRPr lang="ru-RU"/>
          </a:p>
          <a:p>
            <a:pPr>
              <a:defRPr/>
            </a:pPr>
            <a:r>
              <a:rPr lang="en-US"/>
              <a:t>  color: #e5484d;</a:t>
            </a:r>
            <a:endParaRPr lang="ru-RU"/>
          </a:p>
          <a:p>
            <a:pPr>
              <a:defRPr/>
            </a:pPr>
            <a:r>
              <a:rPr lang="en-US"/>
              <a:t>  margin-top: 2px;</a:t>
            </a:r>
            <a:endParaRPr lang="ru-RU"/>
          </a:p>
          <a:p>
            <a:pPr>
              <a:defRPr/>
            </a:pPr>
            <a:r>
              <a:rPr lang="en-US"/>
              <a:t>}</a:t>
            </a:r>
            <a:endParaRPr lang="ru-RU"/>
          </a:p>
          <a:p>
            <a:pPr>
              <a:defRPr/>
            </a:pPr>
            <a:r>
              <a:rPr lang="en-US"/>
              <a:t>/* --- </a:t>
            </a:r>
            <a:r>
              <a:rPr lang="en-US"/>
              <a:t>Textarea</a:t>
            </a:r>
            <a:r>
              <a:rPr lang="en-US"/>
              <a:t> --- */</a:t>
            </a:r>
            <a:endParaRPr lang="ru-RU"/>
          </a:p>
          <a:p>
            <a:pPr>
              <a:defRPr/>
            </a:pPr>
            <a:r>
              <a:rPr lang="en-US"/>
              <a:t>.</a:t>
            </a:r>
            <a:r>
              <a:rPr lang="en-US"/>
              <a:t>field__input</a:t>
            </a:r>
            <a:r>
              <a:rPr lang="en-US"/>
              <a:t>--</a:t>
            </a:r>
            <a:r>
              <a:rPr lang="en-US"/>
              <a:t>textarea</a:t>
            </a:r>
            <a:r>
              <a:rPr lang="en-US"/>
              <a:t> {</a:t>
            </a:r>
            <a:endParaRPr lang="ru-RU"/>
          </a:p>
          <a:p>
            <a:pPr>
              <a:defRPr/>
            </a:pPr>
            <a:r>
              <a:rPr lang="en-US"/>
              <a:t>  resize: vertical;</a:t>
            </a:r>
            <a:endParaRPr lang="ru-RU"/>
          </a:p>
          <a:p>
            <a:pPr>
              <a:defRPr/>
            </a:pPr>
            <a:r>
              <a:rPr lang="en-US"/>
              <a:t>  </a:t>
            </a:r>
            <a:r>
              <a:rPr lang="ru-RU"/>
              <a:t>min-height</a:t>
            </a:r>
            <a:r>
              <a:rPr lang="ru-RU"/>
              <a:t>: 100px;</a:t>
            </a:r>
            <a:endParaRPr/>
          </a:p>
          <a:p>
            <a:pPr>
              <a:defRPr/>
            </a:pPr>
            <a:r>
              <a:rPr lang="ru-RU"/>
              <a:t>}</a:t>
            </a:r>
            <a:endParaRPr/>
          </a:p>
        </p:txBody>
      </p:sp>
      <p:cxnSp>
        <p:nvCxnSpPr>
          <p:cNvPr id="7" name="Соединительная линия уступом 6"/>
          <p:cNvCxnSpPr>
            <a:cxnSpLocks/>
          </p:cNvCxnSpPr>
          <p:nvPr/>
        </p:nvCxnSpPr>
        <p:spPr bwMode="auto">
          <a:xfrm rot="5400000" flipH="1" flipV="1">
            <a:off x="2248930" y="3138617"/>
            <a:ext cx="4028303" cy="140867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Соединительная линия уступом 8"/>
          <p:cNvCxnSpPr>
            <a:cxnSpLocks/>
          </p:cNvCxnSpPr>
          <p:nvPr/>
        </p:nvCxnSpPr>
        <p:spPr bwMode="auto">
          <a:xfrm rot="5400000" flipH="1" flipV="1">
            <a:off x="5894172" y="3385752"/>
            <a:ext cx="3880022" cy="116153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3508332" cy="1325563"/>
          </a:xfrm>
        </p:spPr>
        <p:txBody>
          <a:bodyPr/>
          <a:lstStyle/>
          <a:p>
            <a:pPr>
              <a:defRPr/>
            </a:pPr>
            <a:r>
              <a:rPr lang="en-US"/>
              <a:t>CSS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838200" y="1825625"/>
            <a:ext cx="3508332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  <a:defRPr/>
            </a:pPr>
            <a:r>
              <a:rPr lang="ru-RU"/>
              <a:t>/* --- Кнопка отправки --- */</a:t>
            </a:r>
            <a:endParaRPr/>
          </a:p>
          <a:p>
            <a:pPr marL="0" indent="0">
              <a:buNone/>
              <a:defRPr/>
            </a:pPr>
            <a:r>
              <a:rPr lang="en-US"/>
              <a:t>.feedback-</a:t>
            </a:r>
            <a:r>
              <a:rPr lang="en-US"/>
              <a:t>form__submit</a:t>
            </a:r>
            <a:r>
              <a:rPr lang="en-US"/>
              <a:t> {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width: 100%;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padding: 12px;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font-size: 15px;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font-weight: 600;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color: #</a:t>
            </a:r>
            <a:r>
              <a:rPr lang="en-US"/>
              <a:t>ffffff</a:t>
            </a:r>
            <a:r>
              <a:rPr lang="en-US"/>
              <a:t>;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background: #2563eb;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border: none;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border-radius: 8px;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cursor: pointer;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transition: background 0.2s;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}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 </a:t>
            </a:r>
            <a:endParaRPr lang="ru-RU"/>
          </a:p>
          <a:p>
            <a:pPr marL="0" indent="0">
              <a:buNone/>
              <a:defRPr/>
            </a:pPr>
            <a:endParaRPr lang="ru-RU"/>
          </a:p>
        </p:txBody>
      </p:sp>
      <p:sp>
        <p:nvSpPr>
          <p:cNvPr id="4" name="TextBox 3"/>
          <p:cNvSpPr txBox="1"/>
          <p:nvPr/>
        </p:nvSpPr>
        <p:spPr bwMode="auto">
          <a:xfrm>
            <a:off x="7064680" y="169667"/>
            <a:ext cx="459705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/>
              <a:t>.feedback-form__</a:t>
            </a:r>
            <a:r>
              <a:rPr lang="en-US"/>
              <a:t>submit:hover:not</a:t>
            </a:r>
            <a:r>
              <a:rPr lang="en-US"/>
              <a:t>(:disabled) {</a:t>
            </a:r>
            <a:endParaRPr lang="ru-RU"/>
          </a:p>
          <a:p>
            <a:pPr>
              <a:defRPr/>
            </a:pPr>
            <a:r>
              <a:rPr lang="en-US"/>
              <a:t>  background: #1d4ed8;</a:t>
            </a:r>
            <a:endParaRPr lang="ru-RU"/>
          </a:p>
          <a:p>
            <a:pPr>
              <a:defRPr/>
            </a:pPr>
            <a:r>
              <a:rPr lang="en-US"/>
              <a:t>}</a:t>
            </a:r>
            <a:endParaRPr lang="ru-RU"/>
          </a:p>
          <a:p>
            <a:pPr>
              <a:defRPr/>
            </a:pPr>
            <a:r>
              <a:rPr lang="en-US"/>
              <a:t>.feedback-form__</a:t>
            </a:r>
            <a:r>
              <a:rPr lang="en-US"/>
              <a:t>submit:disabled</a:t>
            </a:r>
            <a:r>
              <a:rPr lang="en-US"/>
              <a:t> {</a:t>
            </a:r>
            <a:endParaRPr lang="ru-RU"/>
          </a:p>
          <a:p>
            <a:pPr>
              <a:defRPr/>
            </a:pPr>
            <a:r>
              <a:rPr lang="en-US"/>
              <a:t>  background: #94a3b8;</a:t>
            </a:r>
            <a:endParaRPr lang="ru-RU"/>
          </a:p>
          <a:p>
            <a:pPr>
              <a:defRPr/>
            </a:pPr>
            <a:r>
              <a:rPr lang="en-US"/>
              <a:t>  cursor: not-allowed;</a:t>
            </a:r>
            <a:endParaRPr lang="ru-RU"/>
          </a:p>
          <a:p>
            <a:pPr>
              <a:defRPr/>
            </a:pPr>
            <a:r>
              <a:rPr lang="en-US"/>
              <a:t>}</a:t>
            </a:r>
            <a:endParaRPr lang="ru-RU"/>
          </a:p>
          <a:p>
            <a:pPr>
              <a:defRPr/>
            </a:pPr>
            <a:r>
              <a:rPr lang="en-US"/>
              <a:t>/* --- </a:t>
            </a:r>
            <a:r>
              <a:rPr lang="ru-RU"/>
              <a:t>Экран успеха</a:t>
            </a:r>
            <a:r>
              <a:rPr lang="en-US"/>
              <a:t> --- */</a:t>
            </a:r>
            <a:endParaRPr lang="ru-RU"/>
          </a:p>
          <a:p>
            <a:pPr>
              <a:defRPr/>
            </a:pPr>
            <a:r>
              <a:rPr lang="en-US"/>
              <a:t>.feedback-form--success {</a:t>
            </a:r>
            <a:endParaRPr lang="ru-RU"/>
          </a:p>
          <a:p>
            <a:pPr>
              <a:defRPr/>
            </a:pPr>
            <a:r>
              <a:rPr lang="en-US"/>
              <a:t>  text-align: center;</a:t>
            </a:r>
            <a:endParaRPr lang="ru-RU"/>
          </a:p>
          <a:p>
            <a:pPr>
              <a:defRPr/>
            </a:pPr>
            <a:r>
              <a:rPr lang="en-US"/>
              <a:t>}</a:t>
            </a:r>
            <a:endParaRPr lang="ru-RU"/>
          </a:p>
          <a:p>
            <a:pPr>
              <a:defRPr/>
            </a:pPr>
            <a:r>
              <a:rPr lang="en-US"/>
              <a:t>.feedback-</a:t>
            </a:r>
            <a:r>
              <a:rPr lang="en-US"/>
              <a:t>form__title</a:t>
            </a:r>
            <a:r>
              <a:rPr lang="en-US"/>
              <a:t> {</a:t>
            </a:r>
            <a:endParaRPr lang="ru-RU"/>
          </a:p>
          <a:p>
            <a:pPr>
              <a:defRPr/>
            </a:pPr>
            <a:r>
              <a:rPr lang="en-US"/>
              <a:t>  font-size: 22px;</a:t>
            </a:r>
            <a:endParaRPr lang="ru-RU"/>
          </a:p>
          <a:p>
            <a:pPr>
              <a:defRPr/>
            </a:pPr>
            <a:r>
              <a:rPr lang="en-US"/>
              <a:t>  margin-bottom: 8px;</a:t>
            </a:r>
            <a:endParaRPr lang="ru-RU"/>
          </a:p>
          <a:p>
            <a:pPr>
              <a:defRPr/>
            </a:pPr>
            <a:r>
              <a:rPr lang="en-US"/>
              <a:t>}</a:t>
            </a:r>
            <a:endParaRPr lang="ru-RU"/>
          </a:p>
          <a:p>
            <a:pPr>
              <a:defRPr/>
            </a:pPr>
            <a:r>
              <a:rPr lang="en-US"/>
              <a:t>.feedback-</a:t>
            </a:r>
            <a:r>
              <a:rPr lang="en-US"/>
              <a:t>form__text</a:t>
            </a:r>
            <a:r>
              <a:rPr lang="en-US"/>
              <a:t> {</a:t>
            </a:r>
            <a:endParaRPr lang="ru-RU"/>
          </a:p>
          <a:p>
            <a:pPr>
              <a:defRPr/>
            </a:pPr>
            <a:r>
              <a:rPr lang="en-US"/>
              <a:t>  font-size: 15px;</a:t>
            </a:r>
            <a:endParaRPr lang="ru-RU"/>
          </a:p>
          <a:p>
            <a:pPr>
              <a:defRPr/>
            </a:pPr>
            <a:r>
              <a:rPr lang="en-US"/>
              <a:t>  color: #667085;</a:t>
            </a:r>
            <a:endParaRPr lang="ru-RU"/>
          </a:p>
          <a:p>
            <a:pPr>
              <a:defRPr/>
            </a:pPr>
            <a:r>
              <a:rPr lang="en-US"/>
              <a:t>  margin-bottom: 24px;</a:t>
            </a:r>
            <a:endParaRPr lang="ru-RU"/>
          </a:p>
          <a:p>
            <a:pPr>
              <a:defRPr/>
            </a:pPr>
            <a:r>
              <a:rPr lang="en-US"/>
              <a:t>}</a:t>
            </a:r>
            <a:endParaRPr lang="ru-RU"/>
          </a:p>
        </p:txBody>
      </p:sp>
      <p:cxnSp>
        <p:nvCxnSpPr>
          <p:cNvPr id="6" name="Соединительная линия уступом 5"/>
          <p:cNvCxnSpPr>
            <a:cxnSpLocks/>
          </p:cNvCxnSpPr>
          <p:nvPr/>
        </p:nvCxnSpPr>
        <p:spPr bwMode="auto">
          <a:xfrm rot="5400000" flipH="1" flipV="1">
            <a:off x="2922373" y="1081216"/>
            <a:ext cx="4868562" cy="3595816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Шаг</a:t>
            </a:r>
            <a:r>
              <a:rPr lang="en-US"/>
              <a:t> 8. </a:t>
            </a:r>
            <a:r>
              <a:rPr lang="ru-RU"/>
              <a:t>Динамические классы в JSX</a:t>
            </a:r>
            <a:br>
              <a:rPr lang="ru-RU"/>
            </a:b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838200" y="1490597"/>
            <a:ext cx="10515600" cy="468636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  <a:defRPr/>
            </a:pPr>
            <a:r>
              <a:rPr lang="ru-RU"/>
              <a:t>Чтобы </a:t>
            </a:r>
            <a:r>
              <a:rPr lang="ru-RU"/>
              <a:t>поля получали нужный CSS-класс в зависимости от состояния, добавим вспомогательную функцию внутри компонента (перед </a:t>
            </a:r>
            <a:r>
              <a:rPr lang="ru-RU"/>
              <a:t>return</a:t>
            </a:r>
            <a:r>
              <a:rPr lang="ru-RU"/>
              <a:t>):</a:t>
            </a:r>
            <a:endParaRPr lang="ru-RU"/>
          </a:p>
          <a:p>
            <a:pPr marL="0" indent="0">
              <a:buNone/>
              <a:defRPr/>
            </a:pPr>
            <a:r>
              <a:rPr lang="ru-RU"/>
              <a:t>jsx</a:t>
            </a:r>
            <a:endParaRPr lang="ru-RU"/>
          </a:p>
          <a:p>
            <a:pPr marL="0" indent="0">
              <a:buNone/>
              <a:defRPr/>
            </a:pPr>
            <a:r>
              <a:rPr lang="ru-RU"/>
              <a:t>  // Возвращает строку классов для </a:t>
            </a:r>
            <a:r>
              <a:rPr lang="ru-RU"/>
              <a:t>инпута</a:t>
            </a:r>
            <a:r>
              <a:rPr lang="ru-RU"/>
              <a:t> в зависимости от состояния.</a:t>
            </a:r>
            <a:endParaRPr/>
          </a:p>
          <a:p>
            <a:pPr marL="0" indent="0">
              <a:buNone/>
              <a:defRPr/>
            </a:pPr>
            <a:r>
              <a:rPr lang="ru-RU"/>
              <a:t>  </a:t>
            </a:r>
            <a:r>
              <a:rPr lang="en-US"/>
              <a:t>const</a:t>
            </a:r>
            <a:r>
              <a:rPr lang="en-US"/>
              <a:t> </a:t>
            </a:r>
            <a:r>
              <a:rPr lang="en-US"/>
              <a:t>getInputClass</a:t>
            </a:r>
            <a:r>
              <a:rPr lang="en-US"/>
              <a:t> = (field) =&gt; {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  // </a:t>
            </a:r>
            <a:r>
              <a:rPr lang="ru-RU"/>
              <a:t>Базовый класс</a:t>
            </a:r>
            <a:endParaRPr/>
          </a:p>
          <a:p>
            <a:pPr marL="0" indent="0">
              <a:buNone/>
              <a:defRPr/>
            </a:pPr>
            <a:r>
              <a:rPr lang="en-US"/>
              <a:t>    </a:t>
            </a:r>
            <a:r>
              <a:rPr lang="en-US"/>
              <a:t>const</a:t>
            </a:r>
            <a:r>
              <a:rPr lang="en-US"/>
              <a:t> classes = ["</a:t>
            </a:r>
            <a:r>
              <a:rPr lang="en-US"/>
              <a:t>field__input</a:t>
            </a:r>
            <a:r>
              <a:rPr lang="en-US"/>
              <a:t>"];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  </a:t>
            </a:r>
            <a:r>
              <a:rPr lang="ru-RU"/>
              <a:t>// Если поле тронуто и есть ошибка — добавляем класс ошибки.</a:t>
            </a:r>
            <a:endParaRPr/>
          </a:p>
          <a:p>
            <a:pPr marL="0" indent="0">
              <a:buNone/>
              <a:defRPr/>
            </a:pPr>
            <a:r>
              <a:rPr lang="ru-RU"/>
              <a:t>    </a:t>
            </a:r>
            <a:r>
              <a:rPr lang="en-US"/>
              <a:t>if (touched[field] &amp;&amp; errors[field]) {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    </a:t>
            </a:r>
            <a:r>
              <a:rPr lang="en-US"/>
              <a:t>classes.push</a:t>
            </a:r>
            <a:r>
              <a:rPr lang="en-US"/>
              <a:t>("</a:t>
            </a:r>
            <a:r>
              <a:rPr lang="en-US"/>
              <a:t>field__input</a:t>
            </a:r>
            <a:r>
              <a:rPr lang="en-US"/>
              <a:t>--error");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  </a:t>
            </a:r>
            <a:r>
              <a:rPr lang="ru-RU"/>
              <a:t>}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562627" y="152182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Динамические классы в JSX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838200" y="1825625"/>
            <a:ext cx="5888277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  <a:defRPr/>
            </a:pPr>
            <a:r>
              <a:rPr lang="ru-RU"/>
              <a:t> // Если поле тронуто и ошибки нет — добавляем класс успеха.</a:t>
            </a:r>
            <a:endParaRPr/>
          </a:p>
          <a:p>
            <a:pPr marL="0" indent="0">
              <a:buNone/>
              <a:defRPr/>
            </a:pPr>
            <a:r>
              <a:rPr lang="ru-RU"/>
              <a:t>    </a:t>
            </a:r>
            <a:r>
              <a:rPr lang="en-US"/>
              <a:t>else if (touched[field] &amp;&amp; !errors[field]) {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    </a:t>
            </a:r>
            <a:r>
              <a:rPr lang="en-US"/>
              <a:t>classes.push</a:t>
            </a:r>
            <a:r>
              <a:rPr lang="en-US"/>
              <a:t>("</a:t>
            </a:r>
            <a:r>
              <a:rPr lang="en-US"/>
              <a:t>field__input</a:t>
            </a:r>
            <a:r>
              <a:rPr lang="en-US"/>
              <a:t>--valid");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  </a:t>
            </a:r>
            <a:r>
              <a:rPr lang="ru-RU"/>
              <a:t>}</a:t>
            </a:r>
            <a:endParaRPr/>
          </a:p>
          <a:p>
            <a:pPr marL="0" indent="0">
              <a:buNone/>
              <a:defRPr/>
            </a:pPr>
            <a:r>
              <a:rPr lang="ru-RU"/>
              <a:t>    // Для </a:t>
            </a:r>
            <a:r>
              <a:rPr lang="ru-RU"/>
              <a:t>textarea</a:t>
            </a:r>
            <a:r>
              <a:rPr lang="ru-RU"/>
              <a:t> добавляем отдельный класс.</a:t>
            </a:r>
            <a:endParaRPr/>
          </a:p>
          <a:p>
            <a:pPr marL="0" indent="0">
              <a:buNone/>
              <a:defRPr/>
            </a:pPr>
            <a:r>
              <a:rPr lang="ru-RU"/>
              <a:t>    </a:t>
            </a:r>
            <a:r>
              <a:rPr lang="en-US"/>
              <a:t>if (field === "message") {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    </a:t>
            </a:r>
            <a:r>
              <a:rPr lang="en-US"/>
              <a:t>classes.push</a:t>
            </a:r>
            <a:r>
              <a:rPr lang="en-US"/>
              <a:t>("</a:t>
            </a:r>
            <a:r>
              <a:rPr lang="en-US"/>
              <a:t>field__input</a:t>
            </a:r>
            <a:r>
              <a:rPr lang="en-US"/>
              <a:t>--</a:t>
            </a:r>
            <a:r>
              <a:rPr lang="en-US"/>
              <a:t>textarea</a:t>
            </a:r>
            <a:r>
              <a:rPr lang="en-US"/>
              <a:t>");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  }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  return </a:t>
            </a:r>
            <a:r>
              <a:rPr lang="en-US"/>
              <a:t>classes.join</a:t>
            </a:r>
            <a:r>
              <a:rPr lang="en-US"/>
              <a:t>(" ");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};</a:t>
            </a:r>
            <a:endParaRPr lang="ru-RU"/>
          </a:p>
          <a:p>
            <a:pPr marL="0" indent="0">
              <a:buNone/>
              <a:defRPr/>
            </a:pPr>
            <a:endParaRPr lang="ru-RU"/>
          </a:p>
        </p:txBody>
      </p:sp>
      <p:sp>
        <p:nvSpPr>
          <p:cNvPr id="4" name="TextBox 3"/>
          <p:cNvSpPr txBox="1"/>
          <p:nvPr/>
        </p:nvSpPr>
        <p:spPr bwMode="auto">
          <a:xfrm>
            <a:off x="6726478" y="1825625"/>
            <a:ext cx="480999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400"/>
              <a:t>Теперь обновим</a:t>
            </a:r>
            <a:r>
              <a:rPr lang="en-US" sz="2400"/>
              <a:t> </a:t>
            </a:r>
            <a:r>
              <a:rPr lang="en-US" sz="2400"/>
              <a:t>className</a:t>
            </a:r>
            <a:r>
              <a:rPr lang="en-US" sz="2400"/>
              <a:t> </a:t>
            </a:r>
            <a:r>
              <a:rPr lang="ru-RU" sz="2400"/>
              <a:t>у </a:t>
            </a:r>
            <a:r>
              <a:rPr lang="ru-RU" sz="2400"/>
              <a:t>инпутов</a:t>
            </a:r>
            <a:r>
              <a:rPr lang="en-US" sz="2400"/>
              <a:t>:</a:t>
            </a:r>
            <a:endParaRPr lang="ru-RU" sz="2400"/>
          </a:p>
          <a:p>
            <a:pPr>
              <a:defRPr/>
            </a:pPr>
            <a:r>
              <a:rPr lang="en-US" sz="2400"/>
              <a:t> </a:t>
            </a:r>
            <a:endParaRPr lang="ru-RU" sz="2400"/>
          </a:p>
          <a:p>
            <a:pPr>
              <a:defRPr/>
            </a:pPr>
            <a:r>
              <a:rPr lang="en-US" sz="2400"/>
              <a:t>jsx</a:t>
            </a:r>
            <a:endParaRPr lang="ru-RU" sz="2400"/>
          </a:p>
          <a:p>
            <a:pPr>
              <a:defRPr/>
            </a:pPr>
            <a:r>
              <a:rPr lang="en-US" sz="2400">
                <a:solidFill>
                  <a:schemeClr val="accent6">
                    <a:lumMod val="75000"/>
                  </a:schemeClr>
                </a:solidFill>
              </a:rPr>
              <a:t>// </a:t>
            </a:r>
            <a:r>
              <a:rPr lang="ru-RU" sz="2400">
                <a:solidFill>
                  <a:schemeClr val="accent6">
                    <a:lumMod val="75000"/>
                  </a:schemeClr>
                </a:solidFill>
              </a:rPr>
              <a:t>Было</a:t>
            </a:r>
            <a:r>
              <a:rPr lang="en-US" sz="2400">
                <a:solidFill>
                  <a:schemeClr val="accent6">
                    <a:lumMod val="75000"/>
                  </a:schemeClr>
                </a:solidFill>
              </a:rPr>
              <a:t>:</a:t>
            </a:r>
            <a:endParaRPr lang="ru-RU" sz="2400">
              <a:solidFill>
                <a:schemeClr val="accent6">
                  <a:lumMod val="75000"/>
                </a:schemeClr>
              </a:solidFill>
            </a:endParaRPr>
          </a:p>
          <a:p>
            <a:pPr>
              <a:defRPr/>
            </a:pPr>
            <a:r>
              <a:rPr lang="en-US" sz="2400">
                <a:solidFill>
                  <a:schemeClr val="accent6">
                    <a:lumMod val="75000"/>
                  </a:schemeClr>
                </a:solidFill>
              </a:rPr>
              <a:t>className</a:t>
            </a:r>
            <a:r>
              <a:rPr lang="en-US" sz="2400">
                <a:solidFill>
                  <a:schemeClr val="accent6">
                    <a:lumMod val="75000"/>
                  </a:schemeClr>
                </a:solidFill>
              </a:rPr>
              <a:t>="</a:t>
            </a:r>
            <a:r>
              <a:rPr lang="en-US" sz="2400">
                <a:solidFill>
                  <a:schemeClr val="accent6">
                    <a:lumMod val="75000"/>
                  </a:schemeClr>
                </a:solidFill>
              </a:rPr>
              <a:t>field__input</a:t>
            </a:r>
            <a:r>
              <a:rPr lang="en-US" sz="2400">
                <a:solidFill>
                  <a:schemeClr val="accent6">
                    <a:lumMod val="75000"/>
                  </a:schemeClr>
                </a:solidFill>
              </a:rPr>
              <a:t>"</a:t>
            </a:r>
            <a:endParaRPr lang="ru-RU" sz="2400">
              <a:solidFill>
                <a:schemeClr val="accent6">
                  <a:lumMod val="75000"/>
                </a:schemeClr>
              </a:solidFill>
            </a:endParaRPr>
          </a:p>
          <a:p>
            <a:pPr>
              <a:defRPr/>
            </a:pPr>
            <a:r>
              <a:rPr lang="en-US" sz="2400"/>
              <a:t> </a:t>
            </a:r>
            <a:endParaRPr lang="ru-RU" sz="2400"/>
          </a:p>
          <a:p>
            <a:pPr>
              <a:defRPr/>
            </a:pPr>
            <a:r>
              <a:rPr lang="en-US" sz="2400">
                <a:solidFill>
                  <a:srgbClr val="FF0000"/>
                </a:solidFill>
              </a:rPr>
              <a:t>// </a:t>
            </a:r>
            <a:r>
              <a:rPr lang="ru-RU" sz="2400">
                <a:solidFill>
                  <a:srgbClr val="FF0000"/>
                </a:solidFill>
              </a:rPr>
              <a:t>Стало</a:t>
            </a:r>
            <a:r>
              <a:rPr lang="en-US" sz="2400">
                <a:solidFill>
                  <a:srgbClr val="FF0000"/>
                </a:solidFill>
              </a:rPr>
              <a:t>:</a:t>
            </a:r>
            <a:endParaRPr lang="ru-RU" sz="240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sz="2400">
                <a:solidFill>
                  <a:srgbClr val="FF0000"/>
                </a:solidFill>
              </a:rPr>
              <a:t>className</a:t>
            </a:r>
            <a:r>
              <a:rPr lang="en-US" sz="2400">
                <a:solidFill>
                  <a:srgbClr val="FF0000"/>
                </a:solidFill>
              </a:rPr>
              <a:t>={</a:t>
            </a:r>
            <a:r>
              <a:rPr lang="en-US" sz="2400">
                <a:solidFill>
                  <a:srgbClr val="FF0000"/>
                </a:solidFill>
              </a:rPr>
              <a:t>getInputClass</a:t>
            </a:r>
            <a:r>
              <a:rPr lang="en-US" sz="2400">
                <a:solidFill>
                  <a:srgbClr val="FF0000"/>
                </a:solidFill>
              </a:rPr>
              <a:t>("name")}</a:t>
            </a:r>
            <a:endParaRPr lang="ru-RU" sz="2400">
              <a:solidFill>
                <a:srgbClr val="FF0000"/>
              </a:solidFill>
            </a:endParaRPr>
          </a:p>
          <a:p>
            <a:pPr>
              <a:defRPr/>
            </a:pPr>
            <a:r>
              <a:rPr lang="ru-RU" sz="2400">
                <a:solidFill>
                  <a:srgbClr val="FF0000"/>
                </a:solidFill>
              </a:rPr>
              <a:t>Аналогично для</a:t>
            </a:r>
            <a:r>
              <a:rPr lang="en-US" sz="2400">
                <a:solidFill>
                  <a:srgbClr val="FF0000"/>
                </a:solidFill>
              </a:rPr>
              <a:t> email </a:t>
            </a:r>
            <a:r>
              <a:rPr lang="ru-RU" sz="2400">
                <a:solidFill>
                  <a:srgbClr val="FF0000"/>
                </a:solidFill>
              </a:rPr>
              <a:t>и</a:t>
            </a:r>
            <a:r>
              <a:rPr lang="en-US" sz="2400">
                <a:solidFill>
                  <a:srgbClr val="FF0000"/>
                </a:solidFill>
              </a:rPr>
              <a:t> message.</a:t>
            </a:r>
            <a:endParaRPr lang="ru-RU" sz="240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Шаг 9. Подключение формы в </a:t>
            </a:r>
            <a:r>
              <a:rPr lang="ru-RU"/>
              <a:t>App</a:t>
            </a:r>
            <a:br>
              <a:rPr lang="ru-RU"/>
            </a:b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838200" y="1453020"/>
            <a:ext cx="10515600" cy="508556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  <a:defRPr/>
            </a:pPr>
            <a:r>
              <a:rPr lang="ru-RU"/>
              <a:t>Обновите </a:t>
            </a:r>
            <a:r>
              <a:rPr lang="ru-RU"/>
              <a:t>src</a:t>
            </a:r>
            <a:r>
              <a:rPr lang="ru-RU"/>
              <a:t>/</a:t>
            </a:r>
            <a:r>
              <a:rPr lang="ru-RU"/>
              <a:t>App.jsx</a:t>
            </a:r>
            <a:r>
              <a:rPr lang="ru-RU"/>
              <a:t>: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jsx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import </a:t>
            </a:r>
            <a:r>
              <a:rPr lang="en-US"/>
              <a:t>FeedbackForm</a:t>
            </a:r>
            <a:r>
              <a:rPr lang="en-US"/>
              <a:t> from "./components/</a:t>
            </a:r>
            <a:r>
              <a:rPr lang="en-US"/>
              <a:t>FeedbackForm</a:t>
            </a:r>
            <a:r>
              <a:rPr lang="en-US"/>
              <a:t>";</a:t>
            </a:r>
            <a:r>
              <a:rPr lang="en-US"/>
              <a:t> 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function App() {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return (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  &lt;div </a:t>
            </a:r>
            <a:r>
              <a:rPr lang="en-US"/>
              <a:t>className</a:t>
            </a:r>
            <a:r>
              <a:rPr lang="en-US"/>
              <a:t>="app"&gt;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    &lt;h1 style={{ </a:t>
            </a:r>
            <a:r>
              <a:rPr lang="en-US"/>
              <a:t>textAlign</a:t>
            </a:r>
            <a:r>
              <a:rPr lang="en-US"/>
              <a:t>: "center", </a:t>
            </a:r>
            <a:r>
              <a:rPr lang="en-US"/>
              <a:t>fontFamily</a:t>
            </a:r>
            <a:r>
              <a:rPr lang="en-US"/>
              <a:t>: "system-</a:t>
            </a:r>
            <a:r>
              <a:rPr lang="en-US"/>
              <a:t>ui</a:t>
            </a:r>
            <a:r>
              <a:rPr lang="en-US"/>
              <a:t>" }}&gt;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      </a:t>
            </a:r>
            <a:r>
              <a:rPr lang="ru-RU"/>
              <a:t>Форма обратной связи</a:t>
            </a:r>
            <a:endParaRPr/>
          </a:p>
          <a:p>
            <a:pPr marL="0" indent="0">
              <a:buNone/>
              <a:defRPr/>
            </a:pPr>
            <a:r>
              <a:rPr lang="ru-RU"/>
              <a:t>      &lt;/h1&gt;</a:t>
            </a:r>
            <a:endParaRPr/>
          </a:p>
          <a:p>
            <a:pPr marL="0" indent="0">
              <a:buNone/>
              <a:defRPr/>
            </a:pPr>
            <a:r>
              <a:rPr lang="ru-RU"/>
              <a:t>      &lt;</a:t>
            </a:r>
            <a:r>
              <a:rPr lang="ru-RU"/>
              <a:t>FeedbackForm</a:t>
            </a:r>
            <a:r>
              <a:rPr lang="ru-RU"/>
              <a:t> /&gt;</a:t>
            </a:r>
            <a:endParaRPr/>
          </a:p>
          <a:p>
            <a:pPr marL="0" indent="0">
              <a:buNone/>
              <a:defRPr/>
            </a:pPr>
            <a:r>
              <a:rPr lang="ru-RU"/>
              <a:t>    </a:t>
            </a:r>
            <a:r>
              <a:rPr lang="en-US"/>
              <a:t>&lt;/div&gt;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  );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}</a:t>
            </a:r>
            <a:r>
              <a:rPr lang="en-US"/>
              <a:t> 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export default App;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Задания для самостоятельной работы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70000" lnSpcReduction="20000"/>
          </a:bodyPr>
          <a:lstStyle/>
          <a:p>
            <a:pPr marL="0" indent="0">
              <a:buNone/>
              <a:defRPr/>
            </a:pPr>
            <a:r>
              <a:rPr lang="ru-RU"/>
              <a:t>Задание </a:t>
            </a:r>
            <a:r>
              <a:rPr lang="ru-RU"/>
              <a:t>1. Счётчик символов (базовое)</a:t>
            </a:r>
            <a:endParaRPr/>
          </a:p>
          <a:p>
            <a:pPr marL="0" indent="0">
              <a:buNone/>
              <a:defRPr/>
            </a:pPr>
            <a:r>
              <a:rPr lang="ru-RU"/>
              <a:t>Добавьте под полем «Сообщение» счётчик вида </a:t>
            </a:r>
            <a:r>
              <a:rPr lang="ru-RU"/>
              <a:t>«число символов» </a:t>
            </a:r>
            <a:r>
              <a:rPr lang="ru-RU"/>
              <a:t>/ 500. Ограничьте максимальную длину сообщения 500 символами. </a:t>
            </a:r>
            <a:r>
              <a:rPr lang="ru-RU"/>
              <a:t>Валидация</a:t>
            </a:r>
            <a:r>
              <a:rPr lang="ru-RU"/>
              <a:t> должна учитывать верхний лимит</a:t>
            </a:r>
            <a:r>
              <a:rPr lang="ru-RU"/>
              <a:t>.</a:t>
            </a:r>
            <a:endParaRPr lang="ru-RU"/>
          </a:p>
          <a:p>
            <a:pPr marL="0" indent="0">
              <a:buNone/>
              <a:defRPr/>
            </a:pPr>
            <a:r>
              <a:rPr lang="ru-RU"/>
              <a:t>Подсказка: используйте </a:t>
            </a:r>
            <a:r>
              <a:rPr lang="ru-RU"/>
              <a:t>maxLength</a:t>
            </a:r>
            <a:r>
              <a:rPr lang="ru-RU"/>
              <a:t> на &lt;</a:t>
            </a:r>
            <a:r>
              <a:rPr lang="ru-RU"/>
              <a:t>textarea</a:t>
            </a:r>
            <a:r>
              <a:rPr lang="ru-RU"/>
              <a:t>&gt; и отдельное состояние для отображения счётчика либо вычисляйте длину из </a:t>
            </a:r>
            <a:r>
              <a:rPr lang="ru-RU"/>
              <a:t>message.length</a:t>
            </a:r>
            <a:r>
              <a:rPr lang="ru-RU"/>
              <a:t>.</a:t>
            </a:r>
            <a:endParaRPr lang="ru-RU"/>
          </a:p>
          <a:p>
            <a:pPr marL="0" indent="0">
              <a:buNone/>
              <a:defRPr/>
            </a:pPr>
            <a:r>
              <a:rPr lang="ru-RU"/>
              <a:t>Задание 2. Поле «Телефон» (среднее)</a:t>
            </a:r>
            <a:endParaRPr/>
          </a:p>
          <a:p>
            <a:pPr marL="0" indent="0">
              <a:buNone/>
              <a:defRPr/>
            </a:pPr>
            <a:r>
              <a:rPr lang="ru-RU"/>
              <a:t>Добавьте поле для номера телефона. </a:t>
            </a:r>
            <a:r>
              <a:rPr lang="ru-RU"/>
              <a:t>Валидация</a:t>
            </a:r>
            <a:r>
              <a:rPr lang="ru-RU"/>
              <a:t>: формат +7 (XXX) XXX-XX-XX. Реализуйте маску ввода — при наборе цифр автоматически подставляйте скобки, пробелы и дефисы</a:t>
            </a:r>
            <a:r>
              <a:rPr lang="ru-RU"/>
              <a:t>.</a:t>
            </a:r>
            <a:endParaRPr lang="ru-RU"/>
          </a:p>
          <a:p>
            <a:pPr marL="0" indent="0">
              <a:buNone/>
              <a:defRPr/>
            </a:pPr>
            <a:r>
              <a:rPr lang="ru-RU"/>
              <a:t>Подсказка: в </a:t>
            </a:r>
            <a:r>
              <a:rPr lang="ru-RU"/>
              <a:t>handleChange</a:t>
            </a:r>
            <a:r>
              <a:rPr lang="ru-RU"/>
              <a:t> форматируйте значение, удаляя все не-цифры, а затем вставляя разделители в нужные позиции</a:t>
            </a:r>
            <a:r>
              <a:rPr lang="ru-RU"/>
              <a:t>.</a:t>
            </a:r>
            <a:endParaRPr lang="ru-RU"/>
          </a:p>
          <a:p>
            <a:pPr marL="0" indent="0">
              <a:buNone/>
              <a:defRPr/>
            </a:pPr>
            <a:r>
              <a:rPr lang="ru-RU"/>
              <a:t>Задание 3. Зависимая </a:t>
            </a:r>
            <a:r>
              <a:rPr lang="ru-RU"/>
              <a:t>валидация</a:t>
            </a:r>
            <a:r>
              <a:rPr lang="ru-RU"/>
              <a:t> (продвинутое)</a:t>
            </a:r>
            <a:endParaRPr/>
          </a:p>
          <a:p>
            <a:pPr marL="0" indent="0">
              <a:buNone/>
              <a:defRPr/>
            </a:pPr>
            <a:r>
              <a:rPr lang="ru-RU"/>
              <a:t>Добавьте переключатель «Хочу получить ответ» (</a:t>
            </a:r>
            <a:r>
              <a:rPr lang="ru-RU"/>
              <a:t>checkbox</a:t>
            </a:r>
            <a:r>
              <a:rPr lang="ru-RU"/>
              <a:t>). Если он включён — поле </a:t>
            </a:r>
            <a:r>
              <a:rPr lang="ru-RU"/>
              <a:t>Email</a:t>
            </a:r>
            <a:r>
              <a:rPr lang="ru-RU"/>
              <a:t> становится обязательным; если выключено — </a:t>
            </a:r>
            <a:r>
              <a:rPr lang="ru-RU"/>
              <a:t>Email</a:t>
            </a:r>
            <a:r>
              <a:rPr lang="ru-RU"/>
              <a:t> можно оставить пустым. Реализуйте динамическое обновление правил </a:t>
            </a:r>
            <a:r>
              <a:rPr lang="ru-RU"/>
              <a:t>валидации</a:t>
            </a:r>
            <a:r>
              <a:rPr lang="ru-RU"/>
              <a:t>.</a:t>
            </a:r>
            <a:endParaRPr/>
          </a:p>
          <a:p>
            <a:pPr marL="0" indent="0">
              <a:buNone/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Контрольные вопросы</a:t>
            </a:r>
            <a:br>
              <a:rPr lang="ru-RU"/>
            </a:b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92500" lnSpcReduction="10000"/>
          </a:bodyPr>
          <a:lstStyle/>
          <a:p>
            <a:pPr marL="0" indent="0">
              <a:buNone/>
              <a:defRPr/>
            </a:pPr>
            <a:r>
              <a:rPr lang="ru-RU"/>
              <a:t>Чем управляемый компонент отличается от неуправляемого? В каких случаях </a:t>
            </a:r>
            <a:r>
              <a:rPr lang="ru-RU"/>
              <a:t>useRef</a:t>
            </a:r>
            <a:r>
              <a:rPr lang="ru-RU"/>
              <a:t> предпочтительнее </a:t>
            </a:r>
            <a:r>
              <a:rPr lang="ru-RU"/>
              <a:t>useState</a:t>
            </a:r>
            <a:r>
              <a:rPr lang="ru-RU"/>
              <a:t> для поля формы?</a:t>
            </a:r>
            <a:endParaRPr/>
          </a:p>
          <a:p>
            <a:pPr marL="0" indent="0">
              <a:buNone/>
              <a:defRPr/>
            </a:pPr>
            <a:r>
              <a:rPr lang="ru-RU"/>
              <a:t>Зачем нужно состояние </a:t>
            </a:r>
            <a:r>
              <a:rPr lang="ru-RU"/>
              <a:t>touched</a:t>
            </a:r>
            <a:r>
              <a:rPr lang="ru-RU"/>
              <a:t>? Что изменится, если убрать его и показывать ошибки сразу при вводе?</a:t>
            </a:r>
            <a:endParaRPr/>
          </a:p>
          <a:p>
            <a:pPr marL="0" indent="0">
              <a:buNone/>
              <a:defRPr/>
            </a:pPr>
            <a:r>
              <a:rPr lang="ru-RU"/>
              <a:t>Почему в </a:t>
            </a:r>
            <a:r>
              <a:rPr lang="ru-RU"/>
              <a:t>setErrors</a:t>
            </a:r>
            <a:r>
              <a:rPr lang="ru-RU"/>
              <a:t> и </a:t>
            </a:r>
            <a:r>
              <a:rPr lang="ru-RU"/>
              <a:t>setTouched</a:t>
            </a:r>
            <a:r>
              <a:rPr lang="ru-RU"/>
              <a:t> используется функциональная форма </a:t>
            </a:r>
            <a:r>
              <a:rPr lang="ru-RU"/>
              <a:t>prev</a:t>
            </a:r>
            <a:r>
              <a:rPr lang="ru-RU"/>
              <a:t> =&gt; ...? В каких случаях можно обойтись прямым значением?</a:t>
            </a:r>
            <a:endParaRPr/>
          </a:p>
          <a:p>
            <a:pPr marL="0" indent="0">
              <a:buNone/>
              <a:defRPr/>
            </a:pPr>
            <a:r>
              <a:rPr lang="ru-RU"/>
              <a:t>Как работает </a:t>
            </a:r>
            <a:r>
              <a:rPr lang="ru-RU"/>
              <a:t>e.preventDefault</a:t>
            </a:r>
            <a:r>
              <a:rPr lang="ru-RU"/>
              <a:t>() в обработчике </a:t>
            </a:r>
            <a:r>
              <a:rPr lang="ru-RU"/>
              <a:t>onSubmit</a:t>
            </a:r>
            <a:r>
              <a:rPr lang="ru-RU"/>
              <a:t>? Что произойдёт без него?</a:t>
            </a:r>
            <a:endParaRPr/>
          </a:p>
          <a:p>
            <a:pPr marL="0" indent="0">
              <a:buNone/>
              <a:defRPr/>
            </a:pPr>
            <a:r>
              <a:rPr lang="ru-RU"/>
              <a:t>Какие состояния полей реализованы в CSS и как они визуально различаются? Предложите альтернативные визуальные подсказки (иконки, анимации).</a:t>
            </a:r>
            <a:endParaRPr/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R7-Office/2024.1.1.375</Application>
  <DocSecurity>0</DocSecurity>
  <PresentationFormat>Произвольный</PresentationFormat>
  <Paragraphs>0</Paragraphs>
  <Slides>27</Slides>
  <Notes>27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3</dc:title>
  <dc:subject/>
  <dc:creator>Alexander Agafonov</dc:creator>
  <cp:keywords/>
  <dc:description/>
  <dc:identifier/>
  <dc:language/>
  <cp:lastModifiedBy>наталья сергеева</cp:lastModifiedBy>
  <cp:revision>28</cp:revision>
  <dcterms:created xsi:type="dcterms:W3CDTF">2026-09-10T11:31:33Z</dcterms:created>
  <dcterms:modified xsi:type="dcterms:W3CDTF">2026-09-21T05:54:38Z</dcterms:modified>
  <cp:category/>
  <cp:contentStatus/>
  <cp:version/>
</cp:coreProperties>
</file>